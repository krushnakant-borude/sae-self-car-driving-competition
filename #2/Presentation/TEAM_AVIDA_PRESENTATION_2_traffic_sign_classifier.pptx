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66" r:id="rId2"/>
    <p:sldId id="354" r:id="rId3"/>
    <p:sldId id="348" r:id="rId4"/>
    <p:sldId id="355" r:id="rId5"/>
    <p:sldId id="357" r:id="rId6"/>
    <p:sldId id="358" r:id="rId7"/>
    <p:sldId id="356" r:id="rId8"/>
    <p:sldId id="368" r:id="rId9"/>
    <p:sldId id="361" r:id="rId10"/>
    <p:sldId id="362" r:id="rId11"/>
    <p:sldId id="363" r:id="rId12"/>
    <p:sldId id="364" r:id="rId13"/>
    <p:sldId id="366" r:id="rId14"/>
    <p:sldId id="367" r:id="rId15"/>
    <p:sldId id="365" r:id="rId16"/>
    <p:sldId id="359" r:id="rId17"/>
    <p:sldId id="35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41" autoAdjust="0"/>
    <p:restoredTop sz="94343" autoAdjust="0"/>
  </p:normalViewPr>
  <p:slideViewPr>
    <p:cSldViewPr snapToGrid="0">
      <p:cViewPr varScale="1">
        <p:scale>
          <a:sx n="86" d="100"/>
          <a:sy n="86" d="100"/>
        </p:scale>
        <p:origin x="427"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77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4ED863-641B-4452-A52B-7020E88FF518}" type="datetimeFigureOut">
              <a:rPr lang="en-IN" smtClean="0"/>
              <a:t>11-06-2022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D7440F-7229-4778-9546-06C2A7F1A9FA}" type="slidenum">
              <a:rPr lang="en-IN" smtClean="0"/>
              <a:t>‹#›</a:t>
            </a:fld>
            <a:endParaRPr lang="en-IN"/>
          </a:p>
        </p:txBody>
      </p:sp>
    </p:spTree>
    <p:extLst>
      <p:ext uri="{BB962C8B-B14F-4D97-AF65-F5344CB8AC3E}">
        <p14:creationId xmlns:p14="http://schemas.microsoft.com/office/powerpoint/2010/main" val="2890036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lvl1pPr>
              <a:defRPr>
                <a:latin typeface="Calibri" panose="020F050202020403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atin typeface="Calibri" panose="020F050202020403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Tree>
    <p:extLst>
      <p:ext uri="{BB962C8B-B14F-4D97-AF65-F5344CB8AC3E}">
        <p14:creationId xmlns:p14="http://schemas.microsoft.com/office/powerpoint/2010/main" val="660009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49796"/>
            <a:ext cx="10972800" cy="1143000"/>
          </a:xfrm>
          <a:prstGeom prst="rect">
            <a:avLst/>
          </a:prstGeom>
        </p:spPr>
        <p:txBody>
          <a:bodyPr/>
          <a:lstStyle>
            <a:lvl1pPr>
              <a:defRPr sz="4000">
                <a:latin typeface="Calibri" panose="020F050202020403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09600" y="1711350"/>
            <a:ext cx="10972800" cy="4525963"/>
          </a:xfrm>
          <a:prstGeom prst="rect">
            <a:avLst/>
          </a:prstGeo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3680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Calibri" panose="020F050202020403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07559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795"/>
            <a:ext cx="10972800" cy="1143000"/>
          </a:xfrm>
          <a:prstGeom prst="rect">
            <a:avLst/>
          </a:prstGeom>
        </p:spPr>
        <p:txBody>
          <a:bodyPr/>
          <a:lstStyle>
            <a:lvl1pPr>
              <a:defRPr sz="4000">
                <a:latin typeface="Calibri" panose="020F050202020403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609600" y="1783357"/>
            <a:ext cx="5384800" cy="4525963"/>
          </a:xfrm>
          <a:prstGeom prst="rect">
            <a:avLst/>
          </a:prstGeom>
        </p:spPr>
        <p:txBody>
          <a:bodyPr/>
          <a:lstStyle>
            <a:lvl1pPr>
              <a:defRPr sz="2800">
                <a:latin typeface="Calibri" panose="020F0502020204030204" pitchFamily="34" charset="0"/>
              </a:defRPr>
            </a:lvl1pPr>
            <a:lvl2pPr>
              <a:defRPr sz="2400">
                <a:latin typeface="Calibri" panose="020F0502020204030204" pitchFamily="34" charset="0"/>
              </a:defRPr>
            </a:lvl2pPr>
            <a:lvl3pPr>
              <a:defRPr sz="2000">
                <a:latin typeface="Calibri" panose="020F0502020204030204" pitchFamily="34" charset="0"/>
              </a:defRPr>
            </a:lvl3pPr>
            <a:lvl4pPr>
              <a:defRPr sz="1800">
                <a:latin typeface="Calibri" panose="020F0502020204030204" pitchFamily="34" charset="0"/>
              </a:defRPr>
            </a:lvl4pPr>
            <a:lvl5pPr>
              <a:defRPr sz="1800">
                <a:latin typeface="Calibri" panose="020F050202020403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783357"/>
            <a:ext cx="5384800" cy="4525963"/>
          </a:xfrm>
          <a:prstGeom prst="rect">
            <a:avLst/>
          </a:prstGeom>
        </p:spPr>
        <p:txBody>
          <a:bodyPr/>
          <a:lstStyle>
            <a:lvl1pPr>
              <a:defRPr sz="2800">
                <a:latin typeface="Calibri" panose="020F0502020204030204" pitchFamily="34" charset="0"/>
              </a:defRPr>
            </a:lvl1pPr>
            <a:lvl2pPr>
              <a:defRPr sz="2400">
                <a:latin typeface="Calibri" panose="020F0502020204030204" pitchFamily="34" charset="0"/>
              </a:defRPr>
            </a:lvl2pPr>
            <a:lvl3pPr>
              <a:defRPr sz="2000">
                <a:latin typeface="Calibri" panose="020F0502020204030204" pitchFamily="34" charset="0"/>
              </a:defRPr>
            </a:lvl3pPr>
            <a:lvl4pPr>
              <a:defRPr sz="1800">
                <a:latin typeface="Calibri" panose="020F0502020204030204" pitchFamily="34" charset="0"/>
              </a:defRPr>
            </a:lvl4pPr>
            <a:lvl5pPr>
              <a:defRPr sz="1800">
                <a:latin typeface="Calibri" panose="020F050202020403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9539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3799"/>
            <a:ext cx="10972800" cy="1143000"/>
          </a:xfrm>
          <a:prstGeom prst="rect">
            <a:avLst/>
          </a:prstGeom>
        </p:spPr>
        <p:txBody>
          <a:bodyPr/>
          <a:lstStyle>
            <a:lvl1pPr>
              <a:defRPr sz="4000">
                <a:latin typeface="Calibri" panose="020F050202020403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609600" y="1709118"/>
            <a:ext cx="5386917" cy="639762"/>
          </a:xfrm>
          <a:prstGeom prst="rect">
            <a:avLst/>
          </a:prstGeom>
        </p:spPr>
        <p:txBody>
          <a:bodyPr anchor="b"/>
          <a:lstStyle>
            <a:lvl1pPr marL="0" indent="0">
              <a:buNone/>
              <a:defRPr sz="2400" b="1">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94036"/>
            <a:ext cx="5386917" cy="3951288"/>
          </a:xfrm>
          <a:prstGeom prst="rect">
            <a:avLst/>
          </a:prstGeo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709118"/>
            <a:ext cx="5389033" cy="639762"/>
          </a:xfrm>
          <a:prstGeom prst="rect">
            <a:avLst/>
          </a:prstGeom>
        </p:spPr>
        <p:txBody>
          <a:bodyPr anchor="b"/>
          <a:lstStyle>
            <a:lvl1pPr marL="0" indent="0">
              <a:buNone/>
              <a:defRPr sz="2400" b="1">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94036"/>
            <a:ext cx="5389033" cy="3951288"/>
          </a:xfrm>
          <a:prstGeom prst="rect">
            <a:avLst/>
          </a:prstGeo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3957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85800"/>
            <a:ext cx="10972800" cy="1143000"/>
          </a:xfrm>
          <a:prstGeom prst="rect">
            <a:avLst/>
          </a:prstGeom>
        </p:spPr>
        <p:txBody>
          <a:bodyPr/>
          <a:lstStyle>
            <a:lvl1pPr>
              <a:defRPr sz="4000">
                <a:latin typeface="Calibri" panose="020F050202020403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95067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597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492211"/>
            <a:ext cx="4011084" cy="1162050"/>
          </a:xfrm>
          <a:prstGeom prst="rect">
            <a:avLst/>
          </a:prstGeom>
        </p:spPr>
        <p:txBody>
          <a:bodyPr anchor="b"/>
          <a:lstStyle>
            <a:lvl1pPr algn="l">
              <a:defRPr sz="2000" b="1">
                <a:latin typeface="Calibri" panose="020F050202020403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4766733" y="492212"/>
            <a:ext cx="6815667" cy="5853113"/>
          </a:xfrm>
          <a:prstGeom prst="rect">
            <a:avLst/>
          </a:prstGeom>
        </p:spPr>
        <p:txBody>
          <a:bodyPr/>
          <a:lstStyle>
            <a:lvl1pPr>
              <a:defRPr sz="3200">
                <a:latin typeface="Calibri" panose="020F0502020204030204" pitchFamily="34" charset="0"/>
              </a:defRPr>
            </a:lvl1pPr>
            <a:lvl2pPr>
              <a:defRPr sz="2800">
                <a:latin typeface="Calibri" panose="020F0502020204030204" pitchFamily="34" charset="0"/>
              </a:defRPr>
            </a:lvl2pPr>
            <a:lvl3pPr>
              <a:defRPr sz="2400">
                <a:latin typeface="Calibri" panose="020F0502020204030204" pitchFamily="34" charset="0"/>
              </a:defRPr>
            </a:lvl3pPr>
            <a:lvl4pPr>
              <a:defRPr sz="2000">
                <a:latin typeface="Calibri" panose="020F0502020204030204" pitchFamily="34" charset="0"/>
              </a:defRPr>
            </a:lvl4pPr>
            <a:lvl5pPr>
              <a:defRPr sz="2000">
                <a:latin typeface="Calibri" panose="020F050202020403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1654262"/>
            <a:ext cx="4011084" cy="4691063"/>
          </a:xfrm>
          <a:prstGeom prst="rect">
            <a:avLst/>
          </a:prstGeom>
        </p:spPr>
        <p:txBody>
          <a:bodyPr/>
          <a:lstStyle>
            <a:lvl1pPr marL="0" indent="0">
              <a:buNone/>
              <a:defRPr sz="1400">
                <a:latin typeface="Calibri" panose="020F0502020204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85062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atin typeface="Calibri" panose="020F0502020204030204" pitchFamily="34" charset="0"/>
              </a:defRPr>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atin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atin typeface="Calibri" panose="020F0502020204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34340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493799"/>
            <a:ext cx="10972800" cy="1143000"/>
          </a:xfrm>
          <a:prstGeom prst="rect">
            <a:avLst/>
          </a:prstGeom>
        </p:spPr>
        <p:txBody>
          <a:bodyPr/>
          <a:lstStyle>
            <a:lvl1pPr>
              <a:defRPr sz="4000">
                <a:latin typeface="Calibri" panose="020F0502020204030204" pitchFamily="34" charset="0"/>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819362"/>
            <a:ext cx="10972800" cy="4525963"/>
          </a:xfrm>
          <a:prstGeom prst="rect">
            <a:avLst/>
          </a:prstGeom>
        </p:spPr>
        <p:txBody>
          <a:bodyPr vert="eaVert"/>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401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529804"/>
            <a:ext cx="2743200" cy="5851525"/>
          </a:xfrm>
          <a:prstGeom prst="rect">
            <a:avLst/>
          </a:prstGeom>
        </p:spPr>
        <p:txBody>
          <a:bodyPr vert="eaVert"/>
          <a:lstStyle>
            <a:lvl1pPr>
              <a:defRPr sz="4000">
                <a:latin typeface="Calibri" panose="020F0502020204030204" pitchFamily="34" charset="0"/>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529804"/>
            <a:ext cx="8026400" cy="5851525"/>
          </a:xfrm>
          <a:prstGeom prst="rect">
            <a:avLst/>
          </a:prstGeom>
        </p:spPr>
        <p:txBody>
          <a:bodyPr vert="eaVert"/>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78597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8"/>
          <p:cNvSpPr>
            <a:spLocks noChangeArrowheads="1"/>
          </p:cNvSpPr>
          <p:nvPr/>
        </p:nvSpPr>
        <p:spPr bwMode="auto">
          <a:xfrm>
            <a:off x="0" y="6477000"/>
            <a:ext cx="12192000" cy="76200"/>
          </a:xfrm>
          <a:prstGeom prst="rect">
            <a:avLst/>
          </a:prstGeom>
          <a:gradFill rotWithShape="1">
            <a:gsLst>
              <a:gs pos="0">
                <a:srgbClr val="00002F"/>
              </a:gs>
              <a:gs pos="100000">
                <a:srgbClr val="000066">
                  <a:alpha val="4999"/>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fontAlgn="base" hangingPunct="1">
              <a:spcBef>
                <a:spcPct val="0"/>
              </a:spcBef>
              <a:spcAft>
                <a:spcPct val="0"/>
              </a:spcAft>
            </a:pPr>
            <a:endParaRPr lang="en-US" altLang="en-US" sz="2400">
              <a:solidFill>
                <a:srgbClr val="000000"/>
              </a:solidFill>
            </a:endParaRPr>
          </a:p>
        </p:txBody>
      </p:sp>
      <p:pic>
        <p:nvPicPr>
          <p:cNvPr id="1028" name="Picture 9"/>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261600" y="15876"/>
            <a:ext cx="19304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Text Box 10"/>
          <p:cNvSpPr txBox="1">
            <a:spLocks noChangeArrowheads="1"/>
          </p:cNvSpPr>
          <p:nvPr/>
        </p:nvSpPr>
        <p:spPr bwMode="auto">
          <a:xfrm>
            <a:off x="0" y="6583364"/>
            <a:ext cx="135659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fontAlgn="base" hangingPunct="1">
              <a:spcBef>
                <a:spcPct val="0"/>
              </a:spcBef>
              <a:spcAft>
                <a:spcPct val="0"/>
              </a:spcAft>
            </a:pPr>
            <a:r>
              <a:rPr lang="en-US" altLang="en-US" sz="1200" dirty="0">
                <a:solidFill>
                  <a:srgbClr val="333399"/>
                </a:solidFill>
                <a:latin typeface="Calibri" panose="020F0502020204030204" pitchFamily="34" charset="0"/>
              </a:rPr>
              <a:t>DATE: 11-Jun-2022</a:t>
            </a:r>
          </a:p>
        </p:txBody>
      </p:sp>
      <p:sp>
        <p:nvSpPr>
          <p:cNvPr id="1030" name="Text Box 11"/>
          <p:cNvSpPr txBox="1">
            <a:spLocks noChangeArrowheads="1"/>
          </p:cNvSpPr>
          <p:nvPr/>
        </p:nvSpPr>
        <p:spPr bwMode="auto">
          <a:xfrm>
            <a:off x="11252320" y="6583364"/>
            <a:ext cx="939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r" eaLnBrk="1" fontAlgn="base" hangingPunct="1">
              <a:spcBef>
                <a:spcPct val="0"/>
              </a:spcBef>
              <a:spcAft>
                <a:spcPct val="0"/>
              </a:spcAft>
            </a:pPr>
            <a:r>
              <a:rPr lang="en-US" altLang="en-US" sz="1200" dirty="0">
                <a:solidFill>
                  <a:srgbClr val="333399"/>
                </a:solidFill>
                <a:latin typeface="Calibri" panose="020F0502020204030204" pitchFamily="34" charset="0"/>
              </a:rPr>
              <a:t>Slide no: </a:t>
            </a:r>
            <a:fld id="{95BAC9E6-720A-4FB9-A5D7-6DEF575B2FA1}" type="slidenum">
              <a:rPr lang="en-US" altLang="en-US" sz="1200">
                <a:solidFill>
                  <a:srgbClr val="333399"/>
                </a:solidFill>
                <a:latin typeface="Calibri" panose="020F0502020204030204" pitchFamily="34" charset="0"/>
              </a:rPr>
              <a:pPr algn="r" eaLnBrk="1" fontAlgn="base" hangingPunct="1">
                <a:spcBef>
                  <a:spcPct val="0"/>
                </a:spcBef>
                <a:spcAft>
                  <a:spcPct val="0"/>
                </a:spcAft>
              </a:pPr>
              <a:t>‹#›</a:t>
            </a:fld>
            <a:endParaRPr lang="en-US" altLang="en-US" sz="1200" dirty="0">
              <a:solidFill>
                <a:srgbClr val="333399"/>
              </a:solidFill>
              <a:latin typeface="Calibri" panose="020F0502020204030204" pitchFamily="34" charset="0"/>
            </a:endParaRPr>
          </a:p>
        </p:txBody>
      </p:sp>
      <p:sp>
        <p:nvSpPr>
          <p:cNvPr id="1031" name="Line 12"/>
          <p:cNvSpPr>
            <a:spLocks noChangeShapeType="1"/>
          </p:cNvSpPr>
          <p:nvPr/>
        </p:nvSpPr>
        <p:spPr bwMode="auto">
          <a:xfrm flipH="1">
            <a:off x="203200" y="304800"/>
            <a:ext cx="1320800"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endParaRPr>
          </a:p>
        </p:txBody>
      </p:sp>
      <p:pic>
        <p:nvPicPr>
          <p:cNvPr id="1032" name="Picture 13" descr="SAEIndia"/>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1"/>
            <a:ext cx="23368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14"/>
          <p:cNvSpPr>
            <a:spLocks noChangeArrowheads="1"/>
          </p:cNvSpPr>
          <p:nvPr/>
        </p:nvSpPr>
        <p:spPr bwMode="auto">
          <a:xfrm>
            <a:off x="0" y="396875"/>
            <a:ext cx="914400" cy="76200"/>
          </a:xfrm>
          <a:prstGeom prst="rect">
            <a:avLst/>
          </a:prstGeom>
          <a:gradFill rotWithShape="1">
            <a:gsLst>
              <a:gs pos="0">
                <a:srgbClr val="000066">
                  <a:alpha val="4999"/>
                </a:srgbClr>
              </a:gs>
              <a:gs pos="100000">
                <a:srgbClr val="00002F">
                  <a:alpha val="20000"/>
                </a:srgbClr>
              </a:gs>
            </a:gsLst>
            <a:lin ang="0" scaled="1"/>
          </a:gradFill>
          <a:ln>
            <a:noFill/>
          </a:ln>
          <a:effectLst/>
          <a:extLs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fontAlgn="base" hangingPunct="1">
              <a:spcBef>
                <a:spcPct val="0"/>
              </a:spcBef>
              <a:spcAft>
                <a:spcPct val="0"/>
              </a:spcAft>
            </a:pPr>
            <a:endParaRPr lang="en-US" altLang="en-US" sz="2400">
              <a:solidFill>
                <a:srgbClr val="000000"/>
              </a:solidFill>
            </a:endParaRPr>
          </a:p>
        </p:txBody>
      </p:sp>
      <p:sp>
        <p:nvSpPr>
          <p:cNvPr id="1034" name="Rectangle 15"/>
          <p:cNvSpPr>
            <a:spLocks noChangeArrowheads="1"/>
          </p:cNvSpPr>
          <p:nvPr/>
        </p:nvSpPr>
        <p:spPr bwMode="auto">
          <a:xfrm>
            <a:off x="2235200" y="396875"/>
            <a:ext cx="9956800" cy="76200"/>
          </a:xfrm>
          <a:prstGeom prst="rect">
            <a:avLst/>
          </a:prstGeom>
          <a:gradFill rotWithShape="1">
            <a:gsLst>
              <a:gs pos="0">
                <a:srgbClr val="000066">
                  <a:alpha val="25000"/>
                </a:srgbClr>
              </a:gs>
              <a:gs pos="100000">
                <a:srgbClr val="00002F"/>
              </a:gs>
            </a:gsLst>
            <a:lin ang="0" scaled="1"/>
          </a:gradFill>
          <a:ln>
            <a:noFill/>
          </a:ln>
          <a:effectLst/>
          <a:extLs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fontAlgn="base" hangingPunct="1">
              <a:spcBef>
                <a:spcPct val="0"/>
              </a:spcBef>
              <a:spcAft>
                <a:spcPct val="0"/>
              </a:spcAft>
            </a:pPr>
            <a:endParaRPr lang="en-US" altLang="en-US" sz="2400">
              <a:solidFill>
                <a:srgbClr val="000000"/>
              </a:solidFill>
            </a:endParaRPr>
          </a:p>
        </p:txBody>
      </p:sp>
      <p:sp>
        <p:nvSpPr>
          <p:cNvPr id="1035" name="Text Box 16"/>
          <p:cNvSpPr txBox="1">
            <a:spLocks noChangeArrowheads="1"/>
          </p:cNvSpPr>
          <p:nvPr/>
        </p:nvSpPr>
        <p:spPr bwMode="auto">
          <a:xfrm>
            <a:off x="1174303" y="317500"/>
            <a:ext cx="116249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r" eaLnBrk="1" fontAlgn="base" hangingPunct="1">
              <a:spcBef>
                <a:spcPct val="0"/>
              </a:spcBef>
              <a:spcAft>
                <a:spcPct val="0"/>
              </a:spcAft>
            </a:pPr>
            <a:r>
              <a:rPr lang="en-US" altLang="en-US" sz="900" b="1">
                <a:solidFill>
                  <a:srgbClr val="000066"/>
                </a:solidFill>
                <a:latin typeface="Arial Narrow" pitchFamily="34" charset="0"/>
              </a:rPr>
              <a:t>SOUTHERN SECTION</a:t>
            </a:r>
          </a:p>
        </p:txBody>
      </p:sp>
    </p:spTree>
    <p:extLst>
      <p:ext uri="{BB962C8B-B14F-4D97-AF65-F5344CB8AC3E}">
        <p14:creationId xmlns:p14="http://schemas.microsoft.com/office/powerpoint/2010/main" val="16348441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youtu.be/tPYj3fFJGjk" TargetMode="External"/><Relationship Id="rId3" Type="http://schemas.openxmlformats.org/officeDocument/2006/relationships/hyperlink" Target="https://towardsdatascience.com/building-a-road-sign-classifier-in-keras-764df99fdd6a" TargetMode="External"/><Relationship Id="rId7" Type="http://schemas.openxmlformats.org/officeDocument/2006/relationships/hyperlink" Target="https://youtu.be/Vtc64rPHZ6I" TargetMode="External"/><Relationship Id="rId2" Type="http://schemas.openxmlformats.org/officeDocument/2006/relationships/hyperlink" Target="https://pyimagesearch.com/2019/11/04/traffic-sign-classification-with-keras-and-deep-learning/" TargetMode="External"/><Relationship Id="rId1" Type="http://schemas.openxmlformats.org/officeDocument/2006/relationships/slideLayout" Target="../slideLayouts/slideLayout2.xml"/><Relationship Id="rId6" Type="http://schemas.openxmlformats.org/officeDocument/2006/relationships/hyperlink" Target="https://github.com/DeepranjanG/Traffic_sign_classification" TargetMode="External"/><Relationship Id="rId11" Type="http://schemas.openxmlformats.org/officeDocument/2006/relationships/image" Target="../media/image18.png"/><Relationship Id="rId5" Type="http://schemas.openxmlformats.org/officeDocument/2006/relationships/hyperlink" Target="https://www.kaggle.com/datasets/meowmeowmeowmeowmeow/gtsrb-german-traffic-sign" TargetMode="External"/><Relationship Id="rId10" Type="http://schemas.openxmlformats.org/officeDocument/2006/relationships/image" Target="../media/image17.png"/><Relationship Id="rId4" Type="http://schemas.openxmlformats.org/officeDocument/2006/relationships/hyperlink" Target="https://github.com/liferlisiqi/Traffic-Sign-Classifier" TargetMode="External"/><Relationship Id="rId9" Type="http://schemas.openxmlformats.org/officeDocument/2006/relationships/hyperlink" Target="https://youtu.be/SWaYRyi0TT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71;p14">
            <a:extLst>
              <a:ext uri="{FF2B5EF4-FFF2-40B4-BE49-F238E27FC236}">
                <a16:creationId xmlns:a16="http://schemas.microsoft.com/office/drawing/2014/main" id="{47ECCEE8-D6AB-4D44-AE9C-CC720B1A088D}"/>
              </a:ext>
            </a:extLst>
          </p:cNvPr>
          <p:cNvSpPr txBox="1"/>
          <p:nvPr/>
        </p:nvSpPr>
        <p:spPr>
          <a:xfrm>
            <a:off x="738326" y="1700443"/>
            <a:ext cx="10715347" cy="2507573"/>
          </a:xfrm>
          <a:prstGeom prst="rect">
            <a:avLst/>
          </a:prstGeom>
          <a:noFill/>
          <a:ln>
            <a:noFill/>
          </a:ln>
        </p:spPr>
        <p:txBody>
          <a:bodyPr spcFirstLastPara="1" wrap="square" lIns="91425" tIns="91425" rIns="91425" bIns="91425" anchor="t" anchorCtr="0">
            <a:noAutofit/>
          </a:bodyPr>
          <a:lstStyle/>
          <a:p>
            <a:pPr marL="0" lvl="0" indent="0" algn="ctr" rtl="0">
              <a:spcBef>
                <a:spcPts val="600"/>
              </a:spcBef>
              <a:spcAft>
                <a:spcPts val="0"/>
              </a:spcAft>
              <a:buNone/>
            </a:pPr>
            <a:r>
              <a:rPr lang="en" sz="2400" b="1" dirty="0">
                <a:solidFill>
                  <a:srgbClr val="00CEF6"/>
                </a:solidFill>
                <a:latin typeface="Source Sans Pro"/>
                <a:ea typeface="Source Sans Pro"/>
                <a:cs typeface="Source Sans Pro"/>
                <a:sym typeface="Source Sans Pro"/>
              </a:rPr>
              <a:t>Presentation Topic : </a:t>
            </a:r>
          </a:p>
          <a:p>
            <a:pPr marL="0" lvl="0" indent="0" algn="ctr" rtl="0">
              <a:spcBef>
                <a:spcPts val="600"/>
              </a:spcBef>
              <a:spcAft>
                <a:spcPts val="0"/>
              </a:spcAft>
              <a:buNone/>
            </a:pPr>
            <a:endParaRPr lang="en-US" sz="2000" b="1" dirty="0">
              <a:solidFill>
                <a:schemeClr val="accent1">
                  <a:lumMod val="50000"/>
                </a:schemeClr>
              </a:solidFill>
              <a:latin typeface="Source Sans Pro"/>
              <a:ea typeface="Source Sans Pro"/>
              <a:cs typeface="Source Sans Pro"/>
              <a:sym typeface="Source Sans Pro"/>
            </a:endParaRPr>
          </a:p>
          <a:p>
            <a:pPr algn="ctr">
              <a:spcBef>
                <a:spcPts val="600"/>
              </a:spcBef>
            </a:pPr>
            <a:r>
              <a:rPr lang="en-IN" sz="3200" b="1" i="0" dirty="0">
                <a:solidFill>
                  <a:schemeClr val="accent6">
                    <a:lumMod val="75000"/>
                  </a:schemeClr>
                </a:solidFill>
                <a:effectLst/>
                <a:latin typeface="YouTube Sans"/>
              </a:rPr>
              <a:t>Traffic Signs Classification Using Convolution Neural Networks CNN</a:t>
            </a:r>
          </a:p>
          <a:p>
            <a:pPr lvl="0" algn="ctr">
              <a:spcBef>
                <a:spcPts val="600"/>
              </a:spcBef>
            </a:pPr>
            <a:r>
              <a:rPr lang="en-US" sz="2400" b="1" dirty="0">
                <a:solidFill>
                  <a:schemeClr val="accent6">
                    <a:lumMod val="60000"/>
                    <a:lumOff val="40000"/>
                  </a:schemeClr>
                </a:solidFill>
                <a:latin typeface="Source Sans Pro"/>
                <a:ea typeface="Source Sans Pro"/>
                <a:cs typeface="Source Sans Pro"/>
                <a:sym typeface="Source Sans Pro"/>
              </a:rPr>
              <a:t>   </a:t>
            </a:r>
          </a:p>
        </p:txBody>
      </p:sp>
      <p:pic>
        <p:nvPicPr>
          <p:cNvPr id="6" name="Picture 5" descr="Logo&#10;&#10;Description automatically generated">
            <a:extLst>
              <a:ext uri="{FF2B5EF4-FFF2-40B4-BE49-F238E27FC236}">
                <a16:creationId xmlns:a16="http://schemas.microsoft.com/office/drawing/2014/main" id="{9F74E7AD-D9C9-494E-83D0-73757186B3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7176" y="621289"/>
            <a:ext cx="1605731" cy="1147957"/>
          </a:xfrm>
          <a:prstGeom prst="rect">
            <a:avLst/>
          </a:prstGeom>
          <a:gradFill flip="none" rotWithShape="1">
            <a:gsLst>
              <a:gs pos="0">
                <a:schemeClr val="accent4">
                  <a:lumMod val="0"/>
                  <a:lumOff val="100000"/>
                </a:schemeClr>
              </a:gs>
              <a:gs pos="30000">
                <a:srgbClr val="FF0000"/>
              </a:gs>
              <a:gs pos="82000">
                <a:schemeClr val="accent4">
                  <a:lumMod val="100000"/>
                </a:schemeClr>
              </a:gs>
            </a:gsLst>
            <a:path path="circle">
              <a:fillToRect l="50000" t="-80000" r="50000" b="180000"/>
            </a:path>
            <a:tileRect/>
          </a:gradFill>
          <a:effectLst>
            <a:reflection stA="0" endPos="65000" dist="50800" dir="5400000" sy="-100000" algn="bl" rotWithShape="0"/>
          </a:effectLst>
        </p:spPr>
      </p:pic>
      <p:pic>
        <p:nvPicPr>
          <p:cNvPr id="8" name="Picture 7">
            <a:extLst>
              <a:ext uri="{FF2B5EF4-FFF2-40B4-BE49-F238E27FC236}">
                <a16:creationId xmlns:a16="http://schemas.microsoft.com/office/drawing/2014/main" id="{F18642EF-944F-47D8-96B6-F9E89BE39F21}"/>
              </a:ext>
            </a:extLst>
          </p:cNvPr>
          <p:cNvPicPr>
            <a:picLocks noChangeAspect="1"/>
          </p:cNvPicPr>
          <p:nvPr/>
        </p:nvPicPr>
        <p:blipFill>
          <a:blip r:embed="rId3"/>
          <a:srcRect/>
          <a:stretch>
            <a:fillRect/>
          </a:stretch>
        </p:blipFill>
        <p:spPr>
          <a:xfrm>
            <a:off x="10801146" y="536636"/>
            <a:ext cx="1148382" cy="1317261"/>
          </a:xfrm>
          <a:prstGeom prst="rect">
            <a:avLst/>
          </a:prstGeom>
        </p:spPr>
      </p:pic>
      <p:sp>
        <p:nvSpPr>
          <p:cNvPr id="9" name="Title 1">
            <a:extLst>
              <a:ext uri="{FF2B5EF4-FFF2-40B4-BE49-F238E27FC236}">
                <a16:creationId xmlns:a16="http://schemas.microsoft.com/office/drawing/2014/main" id="{AD20CF1F-9673-48D2-AA9E-E902D6B9E412}"/>
              </a:ext>
            </a:extLst>
          </p:cNvPr>
          <p:cNvSpPr txBox="1">
            <a:spLocks noEditPoints="1"/>
          </p:cNvSpPr>
          <p:nvPr/>
        </p:nvSpPr>
        <p:spPr>
          <a:xfrm>
            <a:off x="2695852" y="491876"/>
            <a:ext cx="6800296" cy="914682"/>
          </a:xfrm>
          <a:prstGeom prst="rect">
            <a:avLst/>
          </a:prstGeom>
        </p:spPr>
        <p:txBody>
          <a:bodyPr>
            <a:normAutofit/>
          </a:bodyPr>
          <a:lstStyle>
            <a:lvl1pPr algn="ctr" rtl="0" eaLnBrk="1" fontAlgn="base" hangingPunct="1">
              <a:spcBef>
                <a:spcPct val="0"/>
              </a:spcBef>
              <a:spcAft>
                <a:spcPct val="0"/>
              </a:spcAft>
              <a:defRPr sz="40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sz="5400" b="1" u="sng" kern="0" dirty="0">
                <a:ln w="22225">
                  <a:solidFill>
                    <a:schemeClr val="accent2"/>
                  </a:solidFill>
                  <a:prstDash val="solid"/>
                </a:ln>
                <a:solidFill>
                  <a:schemeClr val="accent2">
                    <a:lumMod val="40000"/>
                    <a:lumOff val="60000"/>
                  </a:schemeClr>
                </a:solidFill>
              </a:rPr>
              <a:t>TEAM</a:t>
            </a:r>
            <a:r>
              <a:rPr lang="en-US" sz="5400" b="1" kern="0" dirty="0">
                <a:ln w="22225">
                  <a:solidFill>
                    <a:schemeClr val="accent2"/>
                  </a:solidFill>
                  <a:prstDash val="solid"/>
                </a:ln>
                <a:solidFill>
                  <a:schemeClr val="accent2">
                    <a:lumMod val="40000"/>
                    <a:lumOff val="60000"/>
                  </a:schemeClr>
                </a:solidFill>
              </a:rPr>
              <a:t> </a:t>
            </a:r>
            <a:r>
              <a:rPr lang="en-US" sz="5400" b="1" u="sng" kern="0" dirty="0">
                <a:ln w="22225">
                  <a:solidFill>
                    <a:schemeClr val="accent2"/>
                  </a:solidFill>
                  <a:prstDash val="solid"/>
                </a:ln>
                <a:solidFill>
                  <a:schemeClr val="accent2">
                    <a:lumMod val="40000"/>
                    <a:lumOff val="60000"/>
                  </a:schemeClr>
                </a:solidFill>
              </a:rPr>
              <a:t>AVIDA</a:t>
            </a:r>
          </a:p>
        </p:txBody>
      </p:sp>
      <p:sp>
        <p:nvSpPr>
          <p:cNvPr id="10" name="TextBox 9">
            <a:extLst>
              <a:ext uri="{FF2B5EF4-FFF2-40B4-BE49-F238E27FC236}">
                <a16:creationId xmlns:a16="http://schemas.microsoft.com/office/drawing/2014/main" id="{1FC023E7-DBCC-447B-BE46-F7F6EED0131E}"/>
              </a:ext>
            </a:extLst>
          </p:cNvPr>
          <p:cNvSpPr txBox="1"/>
          <p:nvPr/>
        </p:nvSpPr>
        <p:spPr>
          <a:xfrm>
            <a:off x="3044300" y="4418893"/>
            <a:ext cx="6103398" cy="1631216"/>
          </a:xfrm>
          <a:prstGeom prst="rect">
            <a:avLst/>
          </a:prstGeom>
          <a:noFill/>
        </p:spPr>
        <p:txBody>
          <a:bodyPr wrap="square">
            <a:spAutoFit/>
          </a:bodyPr>
          <a:lstStyle/>
          <a:p>
            <a:pPr algn="ctr"/>
            <a:r>
              <a:rPr lang="en-IN" sz="2000" b="1" dirty="0">
                <a:solidFill>
                  <a:schemeClr val="accent2">
                    <a:lumMod val="75000"/>
                  </a:schemeClr>
                </a:solidFill>
                <a:latin typeface="Source Sans Pro" panose="020B0503030403020204" pitchFamily="34" charset="0"/>
                <a:ea typeface="Source Sans Pro" panose="020B0503030403020204" pitchFamily="34" charset="0"/>
              </a:rPr>
              <a:t>Presentation No.- 2</a:t>
            </a:r>
          </a:p>
          <a:p>
            <a:pPr algn="ctr"/>
            <a:endParaRPr lang="en-IN" sz="2000" b="1" dirty="0">
              <a:solidFill>
                <a:schemeClr val="accent2">
                  <a:lumMod val="75000"/>
                </a:schemeClr>
              </a:solidFill>
              <a:latin typeface="Source Sans Pro" panose="020B0503030403020204" pitchFamily="34" charset="0"/>
              <a:ea typeface="Source Sans Pro" panose="020B0503030403020204" pitchFamily="34" charset="0"/>
            </a:endParaRPr>
          </a:p>
          <a:p>
            <a:pPr algn="ctr"/>
            <a:r>
              <a:rPr lang="en-IN" sz="2000" b="1" dirty="0">
                <a:solidFill>
                  <a:schemeClr val="accent2">
                    <a:lumMod val="75000"/>
                  </a:schemeClr>
                </a:solidFill>
                <a:latin typeface="Source Sans Pro" panose="020B0503030403020204" pitchFamily="34" charset="0"/>
                <a:ea typeface="Source Sans Pro" panose="020B0503030403020204" pitchFamily="34" charset="0"/>
              </a:rPr>
              <a:t> Team ID - </a:t>
            </a:r>
            <a:r>
              <a:rPr lang="en-IN" sz="2000" b="1" dirty="0">
                <a:solidFill>
                  <a:schemeClr val="accent2">
                    <a:lumMod val="75000"/>
                  </a:schemeClr>
                </a:solidFill>
                <a:latin typeface="Source Sans Pro" panose="020B0503030403020204" pitchFamily="34" charset="0"/>
                <a:ea typeface="Source Sans Pro" panose="020B0503030403020204" pitchFamily="34" charset="0"/>
                <a:cs typeface="Source Sans Pro"/>
                <a:sym typeface="Source Sans Pro"/>
              </a:rPr>
              <a:t>SDCC2021001</a:t>
            </a:r>
          </a:p>
          <a:p>
            <a:pPr algn="ctr"/>
            <a:endParaRPr lang="en-IN" sz="2000" b="1" dirty="0">
              <a:solidFill>
                <a:schemeClr val="accent2">
                  <a:lumMod val="75000"/>
                </a:schemeClr>
              </a:solidFill>
              <a:latin typeface="Source Sans Pro" panose="020B0503030403020204" pitchFamily="34" charset="0"/>
              <a:ea typeface="Source Sans Pro" panose="020B0503030403020204" pitchFamily="34" charset="0"/>
            </a:endParaRPr>
          </a:p>
          <a:p>
            <a:pPr algn="ctr"/>
            <a:r>
              <a:rPr lang="en-IN" sz="2000" b="1" dirty="0">
                <a:solidFill>
                  <a:schemeClr val="accent2">
                    <a:lumMod val="75000"/>
                  </a:schemeClr>
                </a:solidFill>
                <a:latin typeface="Source Sans Pro" panose="020B0503030403020204" pitchFamily="34" charset="0"/>
                <a:ea typeface="Source Sans Pro" panose="020B0503030403020204" pitchFamily="34" charset="0"/>
              </a:rPr>
              <a:t>National Institute Of Technology, Agartala.</a:t>
            </a:r>
          </a:p>
        </p:txBody>
      </p:sp>
    </p:spTree>
    <p:extLst>
      <p:ext uri="{BB962C8B-B14F-4D97-AF65-F5344CB8AC3E}">
        <p14:creationId xmlns:p14="http://schemas.microsoft.com/office/powerpoint/2010/main" val="2214669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0CD7E92-AB04-42A1-9978-3341B6E03771}"/>
              </a:ext>
            </a:extLst>
          </p:cNvPr>
          <p:cNvSpPr txBox="1">
            <a:spLocks/>
          </p:cNvSpPr>
          <p:nvPr/>
        </p:nvSpPr>
        <p:spPr>
          <a:xfrm>
            <a:off x="279425" y="653108"/>
            <a:ext cx="3101086"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Content </a:t>
            </a:r>
          </a:p>
        </p:txBody>
      </p:sp>
      <p:sp>
        <p:nvSpPr>
          <p:cNvPr id="7" name="Text Placeholder 2">
            <a:extLst>
              <a:ext uri="{FF2B5EF4-FFF2-40B4-BE49-F238E27FC236}">
                <a16:creationId xmlns:a16="http://schemas.microsoft.com/office/drawing/2014/main" id="{17CDFF55-ADE7-4A57-B877-A1C72772DDCA}"/>
              </a:ext>
            </a:extLst>
          </p:cNvPr>
          <p:cNvSpPr txBox="1">
            <a:spLocks/>
          </p:cNvSpPr>
          <p:nvPr/>
        </p:nvSpPr>
        <p:spPr>
          <a:xfrm>
            <a:off x="1076774" y="1445490"/>
            <a:ext cx="3973665" cy="4393390"/>
          </a:xfrm>
          <a:prstGeom prst="rect">
            <a:avLst/>
          </a:prstGeom>
        </p:spPr>
        <p:txBody>
          <a:bodyPr/>
          <a:lstStyle>
            <a:lvl1pPr marL="0" indent="0" algn="ctr" rtl="0" eaLnBrk="1" fontAlgn="base" hangingPunct="1">
              <a:spcBef>
                <a:spcPct val="20000"/>
              </a:spcBef>
              <a:spcAft>
                <a:spcPct val="0"/>
              </a:spcAft>
              <a:buNone/>
              <a:defRPr sz="3200">
                <a:solidFill>
                  <a:schemeClr val="tx1"/>
                </a:solidFill>
                <a:latin typeface="Calibri" panose="020F0502020204030204" pitchFamily="34" charset="0"/>
                <a:ea typeface="+mn-ea"/>
                <a:cs typeface="+mn-cs"/>
              </a:defRPr>
            </a:lvl1pPr>
            <a:lvl2pPr marL="457200" indent="0" algn="ctr" rtl="0" eaLnBrk="1" fontAlgn="base" hangingPunct="1">
              <a:spcBef>
                <a:spcPct val="20000"/>
              </a:spcBef>
              <a:spcAft>
                <a:spcPct val="0"/>
              </a:spcAft>
              <a:buNone/>
              <a:defRPr sz="2800">
                <a:solidFill>
                  <a:schemeClr val="tx1"/>
                </a:solidFill>
                <a:latin typeface="+mn-lt"/>
              </a:defRPr>
            </a:lvl2pPr>
            <a:lvl3pPr marL="914400" indent="0" algn="ctr" rtl="0" eaLnBrk="1" fontAlgn="base" hangingPunct="1">
              <a:spcBef>
                <a:spcPct val="20000"/>
              </a:spcBef>
              <a:spcAft>
                <a:spcPct val="0"/>
              </a:spcAft>
              <a:buNone/>
              <a:defRPr sz="2400">
                <a:solidFill>
                  <a:schemeClr val="tx1"/>
                </a:solidFill>
                <a:latin typeface="+mn-lt"/>
              </a:defRPr>
            </a:lvl3pPr>
            <a:lvl4pPr marL="1371600" indent="0" algn="ctr" rtl="0" eaLnBrk="1" fontAlgn="base" hangingPunct="1">
              <a:spcBef>
                <a:spcPct val="20000"/>
              </a:spcBef>
              <a:spcAft>
                <a:spcPct val="0"/>
              </a:spcAft>
              <a:buNone/>
              <a:defRPr sz="2000">
                <a:solidFill>
                  <a:schemeClr val="tx1"/>
                </a:solidFill>
                <a:latin typeface="+mn-lt"/>
              </a:defRPr>
            </a:lvl4pPr>
            <a:lvl5pPr marL="1828800" indent="0" algn="ctr" rtl="0" eaLnBrk="1" fontAlgn="base" hangingPunct="1">
              <a:spcBef>
                <a:spcPct val="20000"/>
              </a:spcBef>
              <a:spcAft>
                <a:spcPct val="0"/>
              </a:spcAft>
              <a:buNone/>
              <a:defRPr sz="2000">
                <a:solidFill>
                  <a:schemeClr val="tx1"/>
                </a:solidFill>
                <a:latin typeface="+mn-lt"/>
              </a:defRPr>
            </a:lvl5pPr>
            <a:lvl6pPr marL="2286000" indent="0" algn="ctr" rtl="0" eaLnBrk="1" fontAlgn="base" hangingPunct="1">
              <a:spcBef>
                <a:spcPct val="20000"/>
              </a:spcBef>
              <a:spcAft>
                <a:spcPct val="0"/>
              </a:spcAft>
              <a:buNone/>
              <a:defRPr sz="2000">
                <a:solidFill>
                  <a:schemeClr val="tx1"/>
                </a:solidFill>
                <a:latin typeface="+mn-lt"/>
              </a:defRPr>
            </a:lvl6pPr>
            <a:lvl7pPr marL="2743200" indent="0" algn="ctr" rtl="0" eaLnBrk="1" fontAlgn="base" hangingPunct="1">
              <a:spcBef>
                <a:spcPct val="20000"/>
              </a:spcBef>
              <a:spcAft>
                <a:spcPct val="0"/>
              </a:spcAft>
              <a:buNone/>
              <a:defRPr sz="2000">
                <a:solidFill>
                  <a:schemeClr val="tx1"/>
                </a:solidFill>
                <a:latin typeface="+mn-lt"/>
              </a:defRPr>
            </a:lvl7pPr>
            <a:lvl8pPr marL="3200400" indent="0" algn="ctr" rtl="0" eaLnBrk="1" fontAlgn="base" hangingPunct="1">
              <a:spcBef>
                <a:spcPct val="20000"/>
              </a:spcBef>
              <a:spcAft>
                <a:spcPct val="0"/>
              </a:spcAft>
              <a:buNone/>
              <a:defRPr sz="2000">
                <a:solidFill>
                  <a:schemeClr val="tx1"/>
                </a:solidFill>
                <a:latin typeface="+mn-lt"/>
              </a:defRPr>
            </a:lvl8pPr>
            <a:lvl9pPr marL="3657600" indent="0" algn="ctr" rtl="0" eaLnBrk="1" fontAlgn="base" hangingPunct="1">
              <a:spcBef>
                <a:spcPct val="20000"/>
              </a:spcBef>
              <a:spcAft>
                <a:spcPct val="0"/>
              </a:spcAft>
              <a:buNone/>
              <a:defRPr sz="2000">
                <a:solidFill>
                  <a:schemeClr val="tx1"/>
                </a:solidFill>
                <a:latin typeface="+mn-lt"/>
              </a:defRPr>
            </a:lvl9pPr>
          </a:lstStyle>
          <a:p>
            <a:pPr algn="l">
              <a:buFont typeface="Wingdings" panose="05000000000000000000" pitchFamily="2" charset="2"/>
              <a:buChar char="q"/>
            </a:pPr>
            <a:r>
              <a:rPr lang="en-IN" sz="2400" kern="0" dirty="0">
                <a:solidFill>
                  <a:schemeClr val="accent6">
                    <a:lumMod val="75000"/>
                  </a:schemeClr>
                </a:solidFill>
              </a:rPr>
              <a:t> Introduction</a:t>
            </a:r>
          </a:p>
          <a:p>
            <a:pPr algn="l">
              <a:buFont typeface="Wingdings" panose="05000000000000000000" pitchFamily="2" charset="2"/>
              <a:buChar char="q"/>
            </a:pPr>
            <a:r>
              <a:rPr lang="en-IN" sz="2400" kern="0" dirty="0">
                <a:solidFill>
                  <a:schemeClr val="accent6">
                    <a:lumMod val="75000"/>
                  </a:schemeClr>
                </a:solidFill>
              </a:rPr>
              <a:t> Objective</a:t>
            </a:r>
          </a:p>
          <a:p>
            <a:pPr algn="l">
              <a:buFont typeface="Wingdings" panose="05000000000000000000" pitchFamily="2" charset="2"/>
              <a:buChar char="q"/>
            </a:pPr>
            <a:r>
              <a:rPr lang="en-IN" sz="2400" kern="0" dirty="0">
                <a:solidFill>
                  <a:schemeClr val="accent6">
                    <a:lumMod val="75000"/>
                  </a:schemeClr>
                </a:solidFill>
              </a:rPr>
              <a:t>Project Workflow Diagram</a:t>
            </a:r>
          </a:p>
          <a:p>
            <a:pPr algn="l">
              <a:buFont typeface="Wingdings" panose="05000000000000000000" pitchFamily="2" charset="2"/>
              <a:buChar char="q"/>
            </a:pPr>
            <a:r>
              <a:rPr lang="en-IN" sz="2400" kern="0" dirty="0">
                <a:solidFill>
                  <a:schemeClr val="accent6">
                    <a:lumMod val="75000"/>
                  </a:schemeClr>
                </a:solidFill>
              </a:rPr>
              <a:t> Methodology</a:t>
            </a:r>
          </a:p>
          <a:p>
            <a:pPr algn="l">
              <a:buFont typeface="Wingdings" panose="05000000000000000000" pitchFamily="2" charset="2"/>
              <a:buChar char="q"/>
            </a:pPr>
            <a:r>
              <a:rPr lang="en-IN" sz="2400" kern="0" dirty="0">
                <a:solidFill>
                  <a:schemeClr val="accent6">
                    <a:lumMod val="75000"/>
                  </a:schemeClr>
                </a:solidFill>
              </a:rPr>
              <a:t>CNN</a:t>
            </a:r>
          </a:p>
          <a:p>
            <a:pPr algn="l">
              <a:buFont typeface="Wingdings" panose="05000000000000000000" pitchFamily="2" charset="2"/>
              <a:buChar char="q"/>
            </a:pPr>
            <a:r>
              <a:rPr lang="en-IN" sz="2400" kern="0" dirty="0">
                <a:solidFill>
                  <a:schemeClr val="accent6">
                    <a:lumMod val="75000"/>
                  </a:schemeClr>
                </a:solidFill>
              </a:rPr>
              <a:t> Code</a:t>
            </a:r>
          </a:p>
          <a:p>
            <a:pPr algn="l">
              <a:buFont typeface="Wingdings" panose="05000000000000000000" pitchFamily="2" charset="2"/>
              <a:buChar char="q"/>
            </a:pPr>
            <a:r>
              <a:rPr lang="en-IN" sz="2400" kern="0" dirty="0">
                <a:solidFill>
                  <a:schemeClr val="accent6">
                    <a:lumMod val="75000"/>
                  </a:schemeClr>
                </a:solidFill>
              </a:rPr>
              <a:t>Conclusion</a:t>
            </a:r>
          </a:p>
          <a:p>
            <a:pPr algn="l">
              <a:buFont typeface="Wingdings" panose="05000000000000000000" pitchFamily="2" charset="2"/>
              <a:buChar char="q"/>
            </a:pPr>
            <a:r>
              <a:rPr lang="en-IN" sz="2400" kern="0" dirty="0">
                <a:solidFill>
                  <a:schemeClr val="accent6">
                    <a:lumMod val="75000"/>
                  </a:schemeClr>
                </a:solidFill>
              </a:rPr>
              <a:t> Reference</a:t>
            </a: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a:p>
            <a:pPr algn="l">
              <a:buFont typeface="Wingdings" panose="05000000000000000000" pitchFamily="2" charset="2"/>
              <a:buChar char="q"/>
            </a:pPr>
            <a:endParaRPr lang="en-IN" sz="2400" kern="0" dirty="0">
              <a:solidFill>
                <a:schemeClr val="accent6">
                  <a:lumMod val="75000"/>
                </a:schemeClr>
              </a:solidFill>
            </a:endParaRPr>
          </a:p>
        </p:txBody>
      </p:sp>
    </p:spTree>
    <p:extLst>
      <p:ext uri="{BB962C8B-B14F-4D97-AF65-F5344CB8AC3E}">
        <p14:creationId xmlns:p14="http://schemas.microsoft.com/office/powerpoint/2010/main" val="2842164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6706C09-2DCC-4B55-8716-E5831F9E948A}"/>
              </a:ext>
            </a:extLst>
          </p:cNvPr>
          <p:cNvSpPr txBox="1">
            <a:spLocks/>
          </p:cNvSpPr>
          <p:nvPr/>
        </p:nvSpPr>
        <p:spPr>
          <a:xfrm>
            <a:off x="279424" y="653108"/>
            <a:ext cx="3891359"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INTRODUCTION</a:t>
            </a:r>
          </a:p>
        </p:txBody>
      </p:sp>
      <p:sp>
        <p:nvSpPr>
          <p:cNvPr id="6" name="TextBox 5">
            <a:extLst>
              <a:ext uri="{FF2B5EF4-FFF2-40B4-BE49-F238E27FC236}">
                <a16:creationId xmlns:a16="http://schemas.microsoft.com/office/drawing/2014/main" id="{C46FBDF1-DFBE-47FE-8D85-6A46592DD53B}"/>
              </a:ext>
            </a:extLst>
          </p:cNvPr>
          <p:cNvSpPr txBox="1"/>
          <p:nvPr/>
        </p:nvSpPr>
        <p:spPr>
          <a:xfrm>
            <a:off x="707315" y="1637628"/>
            <a:ext cx="8836090" cy="4247317"/>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6">
                    <a:lumMod val="75000"/>
                  </a:schemeClr>
                </a:solidFill>
              </a:rPr>
              <a:t>Recently the number of road vehicles has increased enormously thanks to the technological achievements in the motor industry and very precisely the availability of low rates. With this remarkable growth, the number of accidents is as well in an infinite raise year after year, due to different causes, these lasts. in which the ignorance of traffic signs is considered as a major cause of</a:t>
            </a:r>
          </a:p>
          <a:p>
            <a:pPr marL="285750" indent="-285750">
              <a:buFont typeface="Arial" panose="020B0604020202020204" pitchFamily="34" charset="0"/>
              <a:buChar char="•"/>
            </a:pPr>
            <a:r>
              <a:rPr lang="en-IN" dirty="0">
                <a:solidFill>
                  <a:schemeClr val="accent6">
                    <a:lumMod val="75000"/>
                  </a:schemeClr>
                </a:solidFill>
              </a:rPr>
              <a:t>Developing automated traffic sign recognition systems helps assisting the driver in different ways in order to guarantee his/her safety, which preserves as well the safety of other drivers and pedestrians.</a:t>
            </a:r>
          </a:p>
          <a:p>
            <a:pPr marL="285750" indent="-285750">
              <a:buFont typeface="Arial" panose="020B0604020202020204" pitchFamily="34" charset="0"/>
              <a:buChar char="•"/>
            </a:pPr>
            <a:r>
              <a:rPr lang="en-IN" dirty="0">
                <a:solidFill>
                  <a:schemeClr val="accent6">
                    <a:lumMod val="75000"/>
                  </a:schemeClr>
                </a:solidFill>
              </a:rPr>
              <a:t>These systems have one main goal: detecting and recognizing traffic signs during the driving process. With these functionalities the system can guide and alert the drivers to prevent danger.</a:t>
            </a:r>
          </a:p>
          <a:p>
            <a:pPr marL="285750" indent="-285750">
              <a:buFont typeface="Arial" panose="020B0604020202020204" pitchFamily="34" charset="0"/>
              <a:buChar char="•"/>
            </a:pPr>
            <a:r>
              <a:rPr lang="en-IN" dirty="0">
                <a:solidFill>
                  <a:schemeClr val="accent6">
                    <a:lumMod val="75000"/>
                  </a:schemeClr>
                </a:solidFill>
              </a:rPr>
              <a:t>In this Python project example, we will build a deep neural network model that can classify traffic signs present in the image into different categories. With this model, we are al read and understand traffic signs which are a very important task for all autonomous vehicles.</a:t>
            </a:r>
          </a:p>
        </p:txBody>
      </p:sp>
    </p:spTree>
    <p:extLst>
      <p:ext uri="{BB962C8B-B14F-4D97-AF65-F5344CB8AC3E}">
        <p14:creationId xmlns:p14="http://schemas.microsoft.com/office/powerpoint/2010/main" val="1249251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3772D56-91F7-4CEC-88FB-39006C3DC802}"/>
              </a:ext>
            </a:extLst>
          </p:cNvPr>
          <p:cNvSpPr txBox="1">
            <a:spLocks/>
          </p:cNvSpPr>
          <p:nvPr/>
        </p:nvSpPr>
        <p:spPr>
          <a:xfrm>
            <a:off x="279425" y="653108"/>
            <a:ext cx="3101086"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OBJECTIVE </a:t>
            </a:r>
          </a:p>
        </p:txBody>
      </p:sp>
      <p:sp>
        <p:nvSpPr>
          <p:cNvPr id="2" name="TextBox 1">
            <a:extLst>
              <a:ext uri="{FF2B5EF4-FFF2-40B4-BE49-F238E27FC236}">
                <a16:creationId xmlns:a16="http://schemas.microsoft.com/office/drawing/2014/main" id="{E2CBCDC7-0CAC-425D-9F74-C860D9EF6527}"/>
              </a:ext>
            </a:extLst>
          </p:cNvPr>
          <p:cNvSpPr txBox="1"/>
          <p:nvPr/>
        </p:nvSpPr>
        <p:spPr>
          <a:xfrm>
            <a:off x="737118" y="1720840"/>
            <a:ext cx="10207690" cy="695960"/>
          </a:xfrm>
          <a:prstGeom prst="rect">
            <a:avLst/>
          </a:prstGeom>
          <a:noFill/>
        </p:spPr>
        <p:txBody>
          <a:bodyPr wrap="square" rtlCol="0">
            <a:spAutoFit/>
          </a:bodyPr>
          <a:lstStyle/>
          <a:p>
            <a:pPr marL="457200" lvl="0" indent="-355600" algn="just" rtl="0">
              <a:lnSpc>
                <a:spcPct val="115000"/>
              </a:lnSpc>
              <a:spcBef>
                <a:spcPts val="0"/>
              </a:spcBef>
              <a:spcAft>
                <a:spcPts val="0"/>
              </a:spcAft>
              <a:buSzPts val="2000"/>
              <a:buChar char="▸"/>
            </a:pPr>
            <a:r>
              <a:rPr lang="en-IN" dirty="0">
                <a:solidFill>
                  <a:schemeClr val="accent6">
                    <a:lumMod val="75000"/>
                  </a:schemeClr>
                </a:solidFill>
              </a:rPr>
              <a:t>To build (from scratch) an application that can detect traffic signs from our dataset </a:t>
            </a:r>
            <a:r>
              <a:rPr lang="en-IN" dirty="0">
                <a:solidFill>
                  <a:schemeClr val="accent6">
                    <a:lumMod val="75000"/>
                  </a:schemeClr>
                </a:solidFill>
                <a:highlight>
                  <a:srgbClr val="FFFFFF"/>
                </a:highlight>
                <a:latin typeface="Barlow"/>
                <a:ea typeface="Barlow"/>
                <a:cs typeface="Barlow"/>
                <a:sym typeface="Barlow"/>
              </a:rPr>
              <a:t>German Traffic Sign Recognition Benchmark (GTSRB) using </a:t>
            </a:r>
            <a:r>
              <a:rPr lang="en-IN" dirty="0" err="1">
                <a:solidFill>
                  <a:schemeClr val="accent6">
                    <a:lumMod val="75000"/>
                  </a:schemeClr>
                </a:solidFill>
                <a:highlight>
                  <a:srgbClr val="FFFFFF"/>
                </a:highlight>
                <a:latin typeface="Barlow"/>
                <a:ea typeface="Barlow"/>
                <a:cs typeface="Barlow"/>
                <a:sym typeface="Barlow"/>
              </a:rPr>
              <a:t>keras</a:t>
            </a:r>
            <a:r>
              <a:rPr lang="en-IN" dirty="0">
                <a:solidFill>
                  <a:schemeClr val="accent6">
                    <a:lumMod val="75000"/>
                  </a:schemeClr>
                </a:solidFill>
                <a:highlight>
                  <a:srgbClr val="FFFFFF"/>
                </a:highlight>
                <a:latin typeface="Barlow"/>
                <a:ea typeface="Barlow"/>
                <a:cs typeface="Barlow"/>
                <a:sym typeface="Barlow"/>
              </a:rPr>
              <a:t> and Deep neural networks</a:t>
            </a:r>
          </a:p>
        </p:txBody>
      </p:sp>
      <p:pic>
        <p:nvPicPr>
          <p:cNvPr id="4" name="Google Shape;57;p7">
            <a:extLst>
              <a:ext uri="{FF2B5EF4-FFF2-40B4-BE49-F238E27FC236}">
                <a16:creationId xmlns:a16="http://schemas.microsoft.com/office/drawing/2014/main" id="{A74C2184-942A-45D8-9E53-4CE68AD90276}"/>
              </a:ext>
            </a:extLst>
          </p:cNvPr>
          <p:cNvPicPr preferRelativeResize="0"/>
          <p:nvPr/>
        </p:nvPicPr>
        <p:blipFill>
          <a:blip r:embed="rId2">
            <a:alphaModFix/>
          </a:blip>
          <a:stretch>
            <a:fillRect/>
          </a:stretch>
        </p:blipFill>
        <p:spPr>
          <a:xfrm>
            <a:off x="7219954" y="3429007"/>
            <a:ext cx="1838126" cy="1666775"/>
          </a:xfrm>
          <a:prstGeom prst="rect">
            <a:avLst/>
          </a:prstGeom>
          <a:noFill/>
          <a:ln>
            <a:noFill/>
          </a:ln>
        </p:spPr>
      </p:pic>
      <p:pic>
        <p:nvPicPr>
          <p:cNvPr id="5" name="Google Shape;55;p7">
            <a:extLst>
              <a:ext uri="{FF2B5EF4-FFF2-40B4-BE49-F238E27FC236}">
                <a16:creationId xmlns:a16="http://schemas.microsoft.com/office/drawing/2014/main" id="{B375D1CA-BEC6-4693-9115-CC52739C264A}"/>
              </a:ext>
            </a:extLst>
          </p:cNvPr>
          <p:cNvPicPr preferRelativeResize="0"/>
          <p:nvPr/>
        </p:nvPicPr>
        <p:blipFill>
          <a:blip r:embed="rId3">
            <a:alphaModFix/>
          </a:blip>
          <a:stretch>
            <a:fillRect/>
          </a:stretch>
        </p:blipFill>
        <p:spPr>
          <a:xfrm>
            <a:off x="4711454" y="3429000"/>
            <a:ext cx="1905000" cy="1685925"/>
          </a:xfrm>
          <a:prstGeom prst="rect">
            <a:avLst/>
          </a:prstGeom>
          <a:noFill/>
          <a:ln>
            <a:noFill/>
          </a:ln>
        </p:spPr>
      </p:pic>
      <p:pic>
        <p:nvPicPr>
          <p:cNvPr id="7" name="Google Shape;56;p7">
            <a:extLst>
              <a:ext uri="{FF2B5EF4-FFF2-40B4-BE49-F238E27FC236}">
                <a16:creationId xmlns:a16="http://schemas.microsoft.com/office/drawing/2014/main" id="{67952009-AC5D-4C99-ABE4-FF22A1897817}"/>
              </a:ext>
            </a:extLst>
          </p:cNvPr>
          <p:cNvPicPr preferRelativeResize="0"/>
          <p:nvPr/>
        </p:nvPicPr>
        <p:blipFill>
          <a:blip r:embed="rId4">
            <a:alphaModFix/>
          </a:blip>
          <a:stretch>
            <a:fillRect/>
          </a:stretch>
        </p:blipFill>
        <p:spPr>
          <a:xfrm>
            <a:off x="2238890" y="3429007"/>
            <a:ext cx="1806575" cy="1742600"/>
          </a:xfrm>
          <a:prstGeom prst="rect">
            <a:avLst/>
          </a:prstGeom>
          <a:noFill/>
          <a:ln>
            <a:noFill/>
          </a:ln>
        </p:spPr>
      </p:pic>
    </p:spTree>
    <p:extLst>
      <p:ext uri="{BB962C8B-B14F-4D97-AF65-F5344CB8AC3E}">
        <p14:creationId xmlns:p14="http://schemas.microsoft.com/office/powerpoint/2010/main" val="1824571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179F9EE-8DD4-41B7-ABFC-22F4E4781EEA}"/>
              </a:ext>
            </a:extLst>
          </p:cNvPr>
          <p:cNvSpPr txBox="1">
            <a:spLocks/>
          </p:cNvSpPr>
          <p:nvPr/>
        </p:nvSpPr>
        <p:spPr>
          <a:xfrm>
            <a:off x="279424" y="653108"/>
            <a:ext cx="7257717"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PROJECT WORKFLOW DIAGRAM </a:t>
            </a:r>
          </a:p>
        </p:txBody>
      </p:sp>
      <p:sp>
        <p:nvSpPr>
          <p:cNvPr id="7" name="Oval 6">
            <a:extLst>
              <a:ext uri="{FF2B5EF4-FFF2-40B4-BE49-F238E27FC236}">
                <a16:creationId xmlns:a16="http://schemas.microsoft.com/office/drawing/2014/main" id="{DFF7D716-CFBD-4897-BD9A-9236DA7A9325}"/>
              </a:ext>
            </a:extLst>
          </p:cNvPr>
          <p:cNvSpPr/>
          <p:nvPr/>
        </p:nvSpPr>
        <p:spPr>
          <a:xfrm>
            <a:off x="0" y="2868596"/>
            <a:ext cx="2556769" cy="701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Start</a:t>
            </a:r>
          </a:p>
        </p:txBody>
      </p:sp>
      <p:sp>
        <p:nvSpPr>
          <p:cNvPr id="10" name="Rectangle: Rounded Corners 9">
            <a:extLst>
              <a:ext uri="{FF2B5EF4-FFF2-40B4-BE49-F238E27FC236}">
                <a16:creationId xmlns:a16="http://schemas.microsoft.com/office/drawing/2014/main" id="{AFF5D3EB-9572-4A77-BF4B-DBF3E59BC776}"/>
              </a:ext>
            </a:extLst>
          </p:cNvPr>
          <p:cNvSpPr/>
          <p:nvPr/>
        </p:nvSpPr>
        <p:spPr>
          <a:xfrm>
            <a:off x="2854173" y="2494068"/>
            <a:ext cx="1700072" cy="14503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Input images either from camera or dictionary</a:t>
            </a:r>
          </a:p>
        </p:txBody>
      </p:sp>
      <p:sp>
        <p:nvSpPr>
          <p:cNvPr id="11" name="Rectangle 10">
            <a:extLst>
              <a:ext uri="{FF2B5EF4-FFF2-40B4-BE49-F238E27FC236}">
                <a16:creationId xmlns:a16="http://schemas.microsoft.com/office/drawing/2014/main" id="{7D66E768-0CDA-462D-9B76-B305417775E2}"/>
              </a:ext>
            </a:extLst>
          </p:cNvPr>
          <p:cNvSpPr/>
          <p:nvPr/>
        </p:nvSpPr>
        <p:spPr>
          <a:xfrm>
            <a:off x="4851649" y="2887460"/>
            <a:ext cx="1429305" cy="6813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Trained model</a:t>
            </a:r>
          </a:p>
        </p:txBody>
      </p:sp>
      <p:sp>
        <p:nvSpPr>
          <p:cNvPr id="12" name="Diamond 11">
            <a:extLst>
              <a:ext uri="{FF2B5EF4-FFF2-40B4-BE49-F238E27FC236}">
                <a16:creationId xmlns:a16="http://schemas.microsoft.com/office/drawing/2014/main" id="{46C3BC57-4AE7-4F14-A2C0-12D79B757BF4}"/>
              </a:ext>
            </a:extLst>
          </p:cNvPr>
          <p:cNvSpPr/>
          <p:nvPr/>
        </p:nvSpPr>
        <p:spPr>
          <a:xfrm>
            <a:off x="6578358" y="2529577"/>
            <a:ext cx="2645546" cy="1379369"/>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The image is Traffic sign</a:t>
            </a:r>
          </a:p>
        </p:txBody>
      </p:sp>
      <p:sp>
        <p:nvSpPr>
          <p:cNvPr id="13" name="Rectangle: Rounded Corners 12">
            <a:extLst>
              <a:ext uri="{FF2B5EF4-FFF2-40B4-BE49-F238E27FC236}">
                <a16:creationId xmlns:a16="http://schemas.microsoft.com/office/drawing/2014/main" id="{6B97D333-1214-44C0-9D57-8B94EB8E2A79}"/>
              </a:ext>
            </a:extLst>
          </p:cNvPr>
          <p:cNvSpPr/>
          <p:nvPr/>
        </p:nvSpPr>
        <p:spPr>
          <a:xfrm>
            <a:off x="10076156" y="1201315"/>
            <a:ext cx="1262108" cy="5948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No sign detected</a:t>
            </a:r>
          </a:p>
        </p:txBody>
      </p:sp>
      <p:sp>
        <p:nvSpPr>
          <p:cNvPr id="14" name="Rectangle: Rounded Corners 13">
            <a:extLst>
              <a:ext uri="{FF2B5EF4-FFF2-40B4-BE49-F238E27FC236}">
                <a16:creationId xmlns:a16="http://schemas.microsoft.com/office/drawing/2014/main" id="{55AD2E28-2112-4DE4-92DE-E971B65225A6}"/>
              </a:ext>
            </a:extLst>
          </p:cNvPr>
          <p:cNvSpPr/>
          <p:nvPr/>
        </p:nvSpPr>
        <p:spPr>
          <a:xfrm>
            <a:off x="10076155" y="3877871"/>
            <a:ext cx="1262108" cy="5948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Identify the ROI</a:t>
            </a:r>
          </a:p>
        </p:txBody>
      </p:sp>
      <p:sp>
        <p:nvSpPr>
          <p:cNvPr id="15" name="Rectangle: Rounded Corners 14">
            <a:extLst>
              <a:ext uri="{FF2B5EF4-FFF2-40B4-BE49-F238E27FC236}">
                <a16:creationId xmlns:a16="http://schemas.microsoft.com/office/drawing/2014/main" id="{258F4D53-49DF-4378-BA53-471392A86BC7}"/>
              </a:ext>
            </a:extLst>
          </p:cNvPr>
          <p:cNvSpPr/>
          <p:nvPr/>
        </p:nvSpPr>
        <p:spPr>
          <a:xfrm>
            <a:off x="10076155" y="4764480"/>
            <a:ext cx="1262108" cy="5948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Classify Sign</a:t>
            </a:r>
          </a:p>
        </p:txBody>
      </p:sp>
      <p:sp>
        <p:nvSpPr>
          <p:cNvPr id="16" name="Rectangle: Rounded Corners 15">
            <a:extLst>
              <a:ext uri="{FF2B5EF4-FFF2-40B4-BE49-F238E27FC236}">
                <a16:creationId xmlns:a16="http://schemas.microsoft.com/office/drawing/2014/main" id="{F840679B-9380-474D-9B66-6C3FD92F363E}"/>
              </a:ext>
            </a:extLst>
          </p:cNvPr>
          <p:cNvSpPr/>
          <p:nvPr/>
        </p:nvSpPr>
        <p:spPr>
          <a:xfrm>
            <a:off x="10076155" y="5554553"/>
            <a:ext cx="1262108" cy="5948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6">
                    <a:lumMod val="75000"/>
                  </a:schemeClr>
                </a:solidFill>
              </a:rPr>
              <a:t>Output of Sign</a:t>
            </a:r>
          </a:p>
        </p:txBody>
      </p:sp>
      <p:cxnSp>
        <p:nvCxnSpPr>
          <p:cNvPr id="18" name="Straight Arrow Connector 17">
            <a:extLst>
              <a:ext uri="{FF2B5EF4-FFF2-40B4-BE49-F238E27FC236}">
                <a16:creationId xmlns:a16="http://schemas.microsoft.com/office/drawing/2014/main" id="{FA976D4B-026E-46A2-9C37-C5F784C4A8ED}"/>
              </a:ext>
            </a:extLst>
          </p:cNvPr>
          <p:cNvCxnSpPr>
            <a:stCxn id="7" idx="6"/>
            <a:endCxn id="10" idx="1"/>
          </p:cNvCxnSpPr>
          <p:nvPr/>
        </p:nvCxnSpPr>
        <p:spPr>
          <a:xfrm>
            <a:off x="2556769" y="3219264"/>
            <a:ext cx="29740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EF535B52-ACB0-4138-AC8C-9E4887F8DC67}"/>
              </a:ext>
            </a:extLst>
          </p:cNvPr>
          <p:cNvCxnSpPr>
            <a:stCxn id="10" idx="3"/>
            <a:endCxn id="11" idx="1"/>
          </p:cNvCxnSpPr>
          <p:nvPr/>
        </p:nvCxnSpPr>
        <p:spPr>
          <a:xfrm>
            <a:off x="4554245" y="3219264"/>
            <a:ext cx="297404" cy="88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B296D37C-047C-4277-9B0A-9C78403E7383}"/>
              </a:ext>
            </a:extLst>
          </p:cNvPr>
          <p:cNvCxnSpPr>
            <a:stCxn id="11" idx="3"/>
            <a:endCxn id="12" idx="1"/>
          </p:cNvCxnSpPr>
          <p:nvPr/>
        </p:nvCxnSpPr>
        <p:spPr>
          <a:xfrm flipV="1">
            <a:off x="6280954" y="3219262"/>
            <a:ext cx="297404" cy="88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Connector: Elbow 23">
            <a:extLst>
              <a:ext uri="{FF2B5EF4-FFF2-40B4-BE49-F238E27FC236}">
                <a16:creationId xmlns:a16="http://schemas.microsoft.com/office/drawing/2014/main" id="{91DC7705-492A-4A5A-A76D-3216E1109E5E}"/>
              </a:ext>
            </a:extLst>
          </p:cNvPr>
          <p:cNvCxnSpPr>
            <a:stCxn id="12" idx="0"/>
            <a:endCxn id="13" idx="1"/>
          </p:cNvCxnSpPr>
          <p:nvPr/>
        </p:nvCxnSpPr>
        <p:spPr>
          <a:xfrm rot="5400000" flipH="1" flipV="1">
            <a:off x="8473213" y="926635"/>
            <a:ext cx="1030860" cy="2175025"/>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Connector: Elbow 27">
            <a:extLst>
              <a:ext uri="{FF2B5EF4-FFF2-40B4-BE49-F238E27FC236}">
                <a16:creationId xmlns:a16="http://schemas.microsoft.com/office/drawing/2014/main" id="{815FCF24-8B31-486D-8780-678CB2825CEF}"/>
              </a:ext>
            </a:extLst>
          </p:cNvPr>
          <p:cNvCxnSpPr>
            <a:stCxn id="12" idx="2"/>
            <a:endCxn id="14" idx="0"/>
          </p:cNvCxnSpPr>
          <p:nvPr/>
        </p:nvCxnSpPr>
        <p:spPr>
          <a:xfrm rot="5400000" flipH="1" flipV="1">
            <a:off x="9288632" y="2490370"/>
            <a:ext cx="31075" cy="2806078"/>
          </a:xfrm>
          <a:prstGeom prst="bentConnector5">
            <a:avLst>
              <a:gd name="adj1" fmla="val -735640"/>
              <a:gd name="adj2" fmla="val 62325"/>
              <a:gd name="adj3" fmla="val 83564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2A115B23-D4D2-4CFA-AE57-932A53B32475}"/>
              </a:ext>
            </a:extLst>
          </p:cNvPr>
          <p:cNvCxnSpPr>
            <a:stCxn id="14" idx="2"/>
            <a:endCxn id="15" idx="0"/>
          </p:cNvCxnSpPr>
          <p:nvPr/>
        </p:nvCxnSpPr>
        <p:spPr>
          <a:xfrm>
            <a:off x="10707209" y="4472674"/>
            <a:ext cx="0" cy="2918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DF95A6ED-9C98-4A27-BF4E-1AFD59E57D86}"/>
              </a:ext>
            </a:extLst>
          </p:cNvPr>
          <p:cNvCxnSpPr>
            <a:stCxn id="15" idx="2"/>
            <a:endCxn id="16" idx="0"/>
          </p:cNvCxnSpPr>
          <p:nvPr/>
        </p:nvCxnSpPr>
        <p:spPr>
          <a:xfrm>
            <a:off x="10707209" y="5359283"/>
            <a:ext cx="0" cy="19527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9" name="TextBox 38">
            <a:extLst>
              <a:ext uri="{FF2B5EF4-FFF2-40B4-BE49-F238E27FC236}">
                <a16:creationId xmlns:a16="http://schemas.microsoft.com/office/drawing/2014/main" id="{E1C4FB0B-2838-49EC-99BA-B26119E017B4}"/>
              </a:ext>
            </a:extLst>
          </p:cNvPr>
          <p:cNvSpPr txBox="1"/>
          <p:nvPr/>
        </p:nvSpPr>
        <p:spPr>
          <a:xfrm>
            <a:off x="8398274" y="1234468"/>
            <a:ext cx="923278" cy="307777"/>
          </a:xfrm>
          <a:prstGeom prst="rect">
            <a:avLst/>
          </a:prstGeom>
          <a:noFill/>
        </p:spPr>
        <p:txBody>
          <a:bodyPr wrap="square" rtlCol="0">
            <a:spAutoFit/>
          </a:bodyPr>
          <a:lstStyle/>
          <a:p>
            <a:r>
              <a:rPr lang="en-IN" sz="1400" dirty="0"/>
              <a:t>No</a:t>
            </a:r>
          </a:p>
        </p:txBody>
      </p:sp>
      <p:sp>
        <p:nvSpPr>
          <p:cNvPr id="40" name="TextBox 39">
            <a:extLst>
              <a:ext uri="{FF2B5EF4-FFF2-40B4-BE49-F238E27FC236}">
                <a16:creationId xmlns:a16="http://schemas.microsoft.com/office/drawing/2014/main" id="{8A82F420-76EA-4A82-B64B-87C70749BB1B}"/>
              </a:ext>
            </a:extLst>
          </p:cNvPr>
          <p:cNvSpPr txBox="1"/>
          <p:nvPr/>
        </p:nvSpPr>
        <p:spPr>
          <a:xfrm>
            <a:off x="8473735" y="4164897"/>
            <a:ext cx="754603" cy="307777"/>
          </a:xfrm>
          <a:prstGeom prst="rect">
            <a:avLst/>
          </a:prstGeom>
          <a:noFill/>
        </p:spPr>
        <p:txBody>
          <a:bodyPr wrap="square" rtlCol="0">
            <a:spAutoFit/>
          </a:bodyPr>
          <a:lstStyle/>
          <a:p>
            <a:r>
              <a:rPr lang="en-IN" sz="1400" dirty="0"/>
              <a:t>Yes</a:t>
            </a:r>
          </a:p>
        </p:txBody>
      </p:sp>
    </p:spTree>
    <p:extLst>
      <p:ext uri="{BB962C8B-B14F-4D97-AF65-F5344CB8AC3E}">
        <p14:creationId xmlns:p14="http://schemas.microsoft.com/office/powerpoint/2010/main" val="565412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F66035F-DE79-4F88-8103-AD51714996BC}"/>
              </a:ext>
            </a:extLst>
          </p:cNvPr>
          <p:cNvSpPr txBox="1">
            <a:spLocks/>
          </p:cNvSpPr>
          <p:nvPr/>
        </p:nvSpPr>
        <p:spPr>
          <a:xfrm>
            <a:off x="279424" y="653108"/>
            <a:ext cx="3644505"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METHODOLOGY </a:t>
            </a:r>
          </a:p>
        </p:txBody>
      </p:sp>
      <p:sp>
        <p:nvSpPr>
          <p:cNvPr id="8" name="TextBox 7">
            <a:extLst>
              <a:ext uri="{FF2B5EF4-FFF2-40B4-BE49-F238E27FC236}">
                <a16:creationId xmlns:a16="http://schemas.microsoft.com/office/drawing/2014/main" id="{E5C353E9-D472-43E0-AA97-164BB0B70106}"/>
              </a:ext>
            </a:extLst>
          </p:cNvPr>
          <p:cNvSpPr txBox="1"/>
          <p:nvPr/>
        </p:nvSpPr>
        <p:spPr>
          <a:xfrm>
            <a:off x="619219" y="1849137"/>
            <a:ext cx="10335826" cy="2031325"/>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accent6">
                    <a:lumMod val="75000"/>
                  </a:schemeClr>
                </a:solidFill>
              </a:rPr>
              <a:t>Algorithm that used in creating this mode is Convolutional Neural Network (CNN). Deep Neural Networks have greater capabilities for image pattern recognition and are widely used in Computer Vision algorithms and Convolutional Neural Network (CNN) is a class of Deep Neural Networks which is most commonly applied to analysing visual imagery. </a:t>
            </a:r>
          </a:p>
          <a:p>
            <a:pPr marL="285750" indent="-285750">
              <a:buFont typeface="Arial" panose="020B0604020202020204" pitchFamily="34" charset="0"/>
              <a:buChar char="•"/>
            </a:pPr>
            <a:endParaRPr lang="en-IN" dirty="0">
              <a:solidFill>
                <a:schemeClr val="accent6">
                  <a:lumMod val="75000"/>
                </a:schemeClr>
              </a:solidFill>
            </a:endParaRPr>
          </a:p>
          <a:p>
            <a:pPr marL="285750" indent="-285750">
              <a:buFont typeface="Arial" panose="020B0604020202020204" pitchFamily="34" charset="0"/>
              <a:buChar char="•"/>
            </a:pPr>
            <a:r>
              <a:rPr lang="en-IN" dirty="0">
                <a:solidFill>
                  <a:schemeClr val="accent6">
                    <a:lumMod val="75000"/>
                  </a:schemeClr>
                </a:solidFill>
              </a:rPr>
              <a:t>Traffic sign classification and detection are one of the major tasks in self-driving as it gives the input of what sign is in the image to decision making.</a:t>
            </a:r>
          </a:p>
        </p:txBody>
      </p:sp>
    </p:spTree>
    <p:extLst>
      <p:ext uri="{BB962C8B-B14F-4D97-AF65-F5344CB8AC3E}">
        <p14:creationId xmlns:p14="http://schemas.microsoft.com/office/powerpoint/2010/main" val="3095490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7CF53C-0B45-486B-8C62-D973D7596D5B}"/>
              </a:ext>
            </a:extLst>
          </p:cNvPr>
          <p:cNvSpPr txBox="1">
            <a:spLocks/>
          </p:cNvSpPr>
          <p:nvPr/>
        </p:nvSpPr>
        <p:spPr>
          <a:xfrm>
            <a:off x="128504" y="573209"/>
            <a:ext cx="3101086"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CNN </a:t>
            </a:r>
          </a:p>
        </p:txBody>
      </p:sp>
      <p:pic>
        <p:nvPicPr>
          <p:cNvPr id="8" name="Picture 7" descr="Diagram&#10;&#10;Description automatically generated">
            <a:extLst>
              <a:ext uri="{FF2B5EF4-FFF2-40B4-BE49-F238E27FC236}">
                <a16:creationId xmlns:a16="http://schemas.microsoft.com/office/drawing/2014/main" id="{7E16C573-E75A-4204-9711-0ECE25BB84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482290"/>
            <a:ext cx="7732450" cy="4101166"/>
          </a:xfrm>
          <a:prstGeom prst="rect">
            <a:avLst/>
          </a:prstGeom>
        </p:spPr>
      </p:pic>
      <p:sp>
        <p:nvSpPr>
          <p:cNvPr id="10" name="TextBox 9">
            <a:extLst>
              <a:ext uri="{FF2B5EF4-FFF2-40B4-BE49-F238E27FC236}">
                <a16:creationId xmlns:a16="http://schemas.microsoft.com/office/drawing/2014/main" id="{2B9EF144-993F-4D29-AF90-0FF35485F100}"/>
              </a:ext>
            </a:extLst>
          </p:cNvPr>
          <p:cNvSpPr txBox="1"/>
          <p:nvPr/>
        </p:nvSpPr>
        <p:spPr>
          <a:xfrm>
            <a:off x="7732450" y="1674674"/>
            <a:ext cx="3770791" cy="2862322"/>
          </a:xfrm>
          <a:prstGeom prst="rect">
            <a:avLst/>
          </a:prstGeom>
          <a:noFill/>
        </p:spPr>
        <p:txBody>
          <a:bodyPr wrap="square">
            <a:spAutoFit/>
          </a:bodyPr>
          <a:lstStyle/>
          <a:p>
            <a:r>
              <a:rPr lang="en-IN" dirty="0"/>
              <a:t>Disadvantages of using ANN for image classification</a:t>
            </a:r>
          </a:p>
          <a:p>
            <a:endParaRPr lang="en-IN" dirty="0"/>
          </a:p>
          <a:p>
            <a:pPr marL="342900" indent="-342900">
              <a:buAutoNum type="arabicPeriod"/>
            </a:pPr>
            <a:r>
              <a:rPr lang="en-IN" dirty="0"/>
              <a:t>Too much computation</a:t>
            </a:r>
          </a:p>
          <a:p>
            <a:pPr marL="342900" indent="-342900">
              <a:buAutoNum type="arabicPeriod"/>
            </a:pPr>
            <a:endParaRPr lang="en-IN" dirty="0"/>
          </a:p>
          <a:p>
            <a:r>
              <a:rPr lang="en-IN" dirty="0"/>
              <a:t>2. Treats local pixels same as pixels far apart</a:t>
            </a:r>
          </a:p>
          <a:p>
            <a:endParaRPr lang="en-IN" dirty="0"/>
          </a:p>
          <a:p>
            <a:r>
              <a:rPr lang="en-IN" dirty="0"/>
              <a:t>3. Sensitive to location of an object in an image</a:t>
            </a:r>
          </a:p>
        </p:txBody>
      </p:sp>
    </p:spTree>
    <p:extLst>
      <p:ext uri="{BB962C8B-B14F-4D97-AF65-F5344CB8AC3E}">
        <p14:creationId xmlns:p14="http://schemas.microsoft.com/office/powerpoint/2010/main" val="1675169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 mammal&#10;&#10;Description automatically generated">
            <a:extLst>
              <a:ext uri="{FF2B5EF4-FFF2-40B4-BE49-F238E27FC236}">
                <a16:creationId xmlns:a16="http://schemas.microsoft.com/office/drawing/2014/main" id="{F5365A97-058A-46E8-B894-08356CB89B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1941"/>
            <a:ext cx="8733827" cy="5054118"/>
          </a:xfrm>
          <a:prstGeom prst="rect">
            <a:avLst/>
          </a:prstGeom>
        </p:spPr>
      </p:pic>
      <p:sp>
        <p:nvSpPr>
          <p:cNvPr id="4" name="TextBox 3">
            <a:extLst>
              <a:ext uri="{FF2B5EF4-FFF2-40B4-BE49-F238E27FC236}">
                <a16:creationId xmlns:a16="http://schemas.microsoft.com/office/drawing/2014/main" id="{93A0797D-A1C8-42C8-B578-5AB33CC7F325}"/>
              </a:ext>
            </a:extLst>
          </p:cNvPr>
          <p:cNvSpPr txBox="1"/>
          <p:nvPr/>
        </p:nvSpPr>
        <p:spPr>
          <a:xfrm>
            <a:off x="8733827" y="1491449"/>
            <a:ext cx="3178206" cy="4524315"/>
          </a:xfrm>
          <a:prstGeom prst="rect">
            <a:avLst/>
          </a:prstGeom>
          <a:noFill/>
        </p:spPr>
        <p:txBody>
          <a:bodyPr wrap="square" rtlCol="0">
            <a:spAutoFit/>
          </a:bodyPr>
          <a:lstStyle/>
          <a:p>
            <a:pPr marL="285750" indent="-285750">
              <a:buFont typeface="Arial" panose="020B0604020202020204" pitchFamily="34" charset="0"/>
              <a:buChar char="•"/>
            </a:pPr>
            <a:r>
              <a:rPr lang="en-IN" dirty="0"/>
              <a:t>We’ll look for feature likes eye, nose, ears , hands, etc to predict the images label.</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CNN network works on local patterns and neural network works on a pattern to a particular position in the image grid.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Its like CNN will scan through entire image pick of the feature in the image.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38283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7CF53C-0B45-486B-8C62-D973D7596D5B}"/>
              </a:ext>
            </a:extLst>
          </p:cNvPr>
          <p:cNvSpPr txBox="1">
            <a:spLocks/>
          </p:cNvSpPr>
          <p:nvPr/>
        </p:nvSpPr>
        <p:spPr>
          <a:xfrm>
            <a:off x="279425" y="653108"/>
            <a:ext cx="3101086"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CODE </a:t>
            </a:r>
          </a:p>
        </p:txBody>
      </p:sp>
      <p:pic>
        <p:nvPicPr>
          <p:cNvPr id="5" name="Picture 4">
            <a:extLst>
              <a:ext uri="{FF2B5EF4-FFF2-40B4-BE49-F238E27FC236}">
                <a16:creationId xmlns:a16="http://schemas.microsoft.com/office/drawing/2014/main" id="{753273A7-0B6E-4B16-A163-8F30971B7A4E}"/>
              </a:ext>
            </a:extLst>
          </p:cNvPr>
          <p:cNvPicPr>
            <a:picLocks noChangeAspect="1"/>
          </p:cNvPicPr>
          <p:nvPr/>
        </p:nvPicPr>
        <p:blipFill>
          <a:blip r:embed="rId2"/>
          <a:stretch>
            <a:fillRect/>
          </a:stretch>
        </p:blipFill>
        <p:spPr>
          <a:xfrm>
            <a:off x="279425" y="1669216"/>
            <a:ext cx="5532599" cy="4442845"/>
          </a:xfrm>
          <a:prstGeom prst="rect">
            <a:avLst/>
          </a:prstGeom>
        </p:spPr>
      </p:pic>
      <p:sp>
        <p:nvSpPr>
          <p:cNvPr id="7" name="TextBox 6">
            <a:extLst>
              <a:ext uri="{FF2B5EF4-FFF2-40B4-BE49-F238E27FC236}">
                <a16:creationId xmlns:a16="http://schemas.microsoft.com/office/drawing/2014/main" id="{DCADCCE3-89B6-4B82-98B3-8789C4F69BF5}"/>
              </a:ext>
            </a:extLst>
          </p:cNvPr>
          <p:cNvSpPr txBox="1"/>
          <p:nvPr/>
        </p:nvSpPr>
        <p:spPr>
          <a:xfrm>
            <a:off x="6024979" y="2112885"/>
            <a:ext cx="5231907" cy="3416320"/>
          </a:xfrm>
          <a:prstGeom prst="rect">
            <a:avLst/>
          </a:prstGeom>
          <a:noFill/>
        </p:spPr>
        <p:txBody>
          <a:bodyPr wrap="square" rtlCol="0">
            <a:spAutoFit/>
          </a:bodyPr>
          <a:lstStyle/>
          <a:p>
            <a:pPr marL="285750" indent="-285750">
              <a:buFont typeface="Arial" panose="020B0604020202020204" pitchFamily="34" charset="0"/>
              <a:buChar char="•"/>
            </a:pPr>
            <a:r>
              <a:rPr lang="en-IN" dirty="0"/>
              <a:t>Dataset loaded, all the images are converted into same size of pixel so that CNN model is created on it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Image first converted into array so that the resizing of image is done properly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err="1"/>
              <a:t>Image_data</a:t>
            </a:r>
            <a:r>
              <a:rPr lang="en-IN" dirty="0"/>
              <a:t> is a array of all image data and </a:t>
            </a:r>
            <a:r>
              <a:rPr lang="en-IN" dirty="0" err="1"/>
              <a:t>image_labels</a:t>
            </a:r>
            <a:r>
              <a:rPr lang="en-IN" dirty="0"/>
              <a:t> are basically the array representing each of the image from dataset</a:t>
            </a:r>
          </a:p>
          <a:p>
            <a:endParaRPr lang="en-IN" dirty="0"/>
          </a:p>
        </p:txBody>
      </p:sp>
    </p:spTree>
    <p:extLst>
      <p:ext uri="{BB962C8B-B14F-4D97-AF65-F5344CB8AC3E}">
        <p14:creationId xmlns:p14="http://schemas.microsoft.com/office/powerpoint/2010/main" val="3530251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D94B15-299C-4219-8D87-54D498E9D116}"/>
              </a:ext>
            </a:extLst>
          </p:cNvPr>
          <p:cNvPicPr>
            <a:picLocks noChangeAspect="1"/>
          </p:cNvPicPr>
          <p:nvPr/>
        </p:nvPicPr>
        <p:blipFill>
          <a:blip r:embed="rId2"/>
          <a:stretch>
            <a:fillRect/>
          </a:stretch>
        </p:blipFill>
        <p:spPr>
          <a:xfrm>
            <a:off x="206016" y="1045658"/>
            <a:ext cx="8992379" cy="3878916"/>
          </a:xfrm>
          <a:prstGeom prst="rect">
            <a:avLst/>
          </a:prstGeom>
        </p:spPr>
      </p:pic>
      <p:sp>
        <p:nvSpPr>
          <p:cNvPr id="4" name="TextBox 3">
            <a:extLst>
              <a:ext uri="{FF2B5EF4-FFF2-40B4-BE49-F238E27FC236}">
                <a16:creationId xmlns:a16="http://schemas.microsoft.com/office/drawing/2014/main" id="{65B8ADD1-1784-443E-8011-12CCDBDE6426}"/>
              </a:ext>
            </a:extLst>
          </p:cNvPr>
          <p:cNvSpPr txBox="1"/>
          <p:nvPr/>
        </p:nvSpPr>
        <p:spPr>
          <a:xfrm>
            <a:off x="4296793" y="4163627"/>
            <a:ext cx="7004481" cy="1754326"/>
          </a:xfrm>
          <a:prstGeom prst="rect">
            <a:avLst/>
          </a:prstGeom>
          <a:noFill/>
        </p:spPr>
        <p:txBody>
          <a:bodyPr wrap="square" rtlCol="0">
            <a:spAutoFit/>
          </a:bodyPr>
          <a:lstStyle/>
          <a:p>
            <a:pPr marL="285750" indent="-285750">
              <a:buFont typeface="Arial" panose="020B0604020202020204" pitchFamily="34" charset="0"/>
              <a:buChar char="•"/>
            </a:pPr>
            <a:r>
              <a:rPr lang="en-IN" dirty="0"/>
              <a:t>Conversion of data into training and testing dataset using train and test command in </a:t>
            </a:r>
            <a:r>
              <a:rPr lang="en-IN" dirty="0" err="1"/>
              <a:t>sklearn</a:t>
            </a:r>
            <a:r>
              <a:rPr lang="en-IN" dirty="0"/>
              <a:t> library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last  3 in the dataset dimension shows the number of colour properties pixel channel which is “RGB” </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844727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76B327-45E0-4721-ACAA-B2C41141C54C}"/>
              </a:ext>
            </a:extLst>
          </p:cNvPr>
          <p:cNvPicPr>
            <a:picLocks noChangeAspect="1"/>
          </p:cNvPicPr>
          <p:nvPr/>
        </p:nvPicPr>
        <p:blipFill>
          <a:blip r:embed="rId2"/>
          <a:stretch>
            <a:fillRect/>
          </a:stretch>
        </p:blipFill>
        <p:spPr>
          <a:xfrm>
            <a:off x="214481" y="1579811"/>
            <a:ext cx="8809483" cy="3574090"/>
          </a:xfrm>
          <a:prstGeom prst="rect">
            <a:avLst/>
          </a:prstGeom>
        </p:spPr>
      </p:pic>
      <p:sp>
        <p:nvSpPr>
          <p:cNvPr id="4" name="TextBox 3">
            <a:extLst>
              <a:ext uri="{FF2B5EF4-FFF2-40B4-BE49-F238E27FC236}">
                <a16:creationId xmlns:a16="http://schemas.microsoft.com/office/drawing/2014/main" id="{98A64942-F98F-4492-A27C-2E3984258AD4}"/>
              </a:ext>
            </a:extLst>
          </p:cNvPr>
          <p:cNvSpPr txBox="1"/>
          <p:nvPr/>
        </p:nvSpPr>
        <p:spPr>
          <a:xfrm>
            <a:off x="284085" y="923278"/>
            <a:ext cx="4190260" cy="369332"/>
          </a:xfrm>
          <a:prstGeom prst="rect">
            <a:avLst/>
          </a:prstGeom>
          <a:noFill/>
        </p:spPr>
        <p:txBody>
          <a:bodyPr wrap="square" rtlCol="0">
            <a:spAutoFit/>
          </a:bodyPr>
          <a:lstStyle/>
          <a:p>
            <a:pPr marL="285750" indent="-285750">
              <a:buFont typeface="Arial" panose="020B0604020202020204" pitchFamily="34" charset="0"/>
              <a:buChar char="•"/>
            </a:pPr>
            <a:r>
              <a:rPr lang="en-IN" dirty="0"/>
              <a:t>Building a neural network </a:t>
            </a:r>
          </a:p>
        </p:txBody>
      </p:sp>
    </p:spTree>
    <p:extLst>
      <p:ext uri="{BB962C8B-B14F-4D97-AF65-F5344CB8AC3E}">
        <p14:creationId xmlns:p14="http://schemas.microsoft.com/office/powerpoint/2010/main" val="2727692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A2C571-6D9E-472A-B7FE-58A4BCCF3570}"/>
              </a:ext>
            </a:extLst>
          </p:cNvPr>
          <p:cNvPicPr>
            <a:picLocks noChangeAspect="1"/>
          </p:cNvPicPr>
          <p:nvPr/>
        </p:nvPicPr>
        <p:blipFill>
          <a:blip r:embed="rId2"/>
          <a:stretch>
            <a:fillRect/>
          </a:stretch>
        </p:blipFill>
        <p:spPr>
          <a:xfrm>
            <a:off x="0" y="537592"/>
            <a:ext cx="8898333" cy="5782815"/>
          </a:xfrm>
          <a:prstGeom prst="rect">
            <a:avLst/>
          </a:prstGeom>
        </p:spPr>
      </p:pic>
      <p:sp>
        <p:nvSpPr>
          <p:cNvPr id="4" name="TextBox 3">
            <a:extLst>
              <a:ext uri="{FF2B5EF4-FFF2-40B4-BE49-F238E27FC236}">
                <a16:creationId xmlns:a16="http://schemas.microsoft.com/office/drawing/2014/main" id="{5E86EB8D-2DE3-4F52-B954-A89EF1DC0AE7}"/>
              </a:ext>
            </a:extLst>
          </p:cNvPr>
          <p:cNvSpPr txBox="1"/>
          <p:nvPr/>
        </p:nvSpPr>
        <p:spPr>
          <a:xfrm>
            <a:off x="9241654" y="1438183"/>
            <a:ext cx="2601158" cy="369332"/>
          </a:xfrm>
          <a:prstGeom prst="rect">
            <a:avLst/>
          </a:prstGeom>
          <a:noFill/>
        </p:spPr>
        <p:txBody>
          <a:bodyPr wrap="square" rtlCol="0">
            <a:spAutoFit/>
          </a:bodyPr>
          <a:lstStyle/>
          <a:p>
            <a:r>
              <a:rPr lang="en-IN" dirty="0"/>
              <a:t>Training a CNN model</a:t>
            </a:r>
          </a:p>
        </p:txBody>
      </p:sp>
    </p:spTree>
    <p:extLst>
      <p:ext uri="{BB962C8B-B14F-4D97-AF65-F5344CB8AC3E}">
        <p14:creationId xmlns:p14="http://schemas.microsoft.com/office/powerpoint/2010/main" val="58136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855854-DA7B-49E9-9CCB-58B0343D0C34}"/>
              </a:ext>
            </a:extLst>
          </p:cNvPr>
          <p:cNvPicPr>
            <a:picLocks noChangeAspect="1"/>
          </p:cNvPicPr>
          <p:nvPr/>
        </p:nvPicPr>
        <p:blipFill>
          <a:blip r:embed="rId2"/>
          <a:stretch>
            <a:fillRect/>
          </a:stretch>
        </p:blipFill>
        <p:spPr>
          <a:xfrm>
            <a:off x="525297" y="821909"/>
            <a:ext cx="5570703" cy="4610500"/>
          </a:xfrm>
          <a:prstGeom prst="rect">
            <a:avLst/>
          </a:prstGeom>
        </p:spPr>
      </p:pic>
      <p:sp>
        <p:nvSpPr>
          <p:cNvPr id="4" name="TextBox 3">
            <a:extLst>
              <a:ext uri="{FF2B5EF4-FFF2-40B4-BE49-F238E27FC236}">
                <a16:creationId xmlns:a16="http://schemas.microsoft.com/office/drawing/2014/main" id="{061E9BD2-2378-41B9-95A1-12F3FDC39FE6}"/>
              </a:ext>
            </a:extLst>
          </p:cNvPr>
          <p:cNvSpPr txBox="1"/>
          <p:nvPr/>
        </p:nvSpPr>
        <p:spPr>
          <a:xfrm>
            <a:off x="7031114" y="2031571"/>
            <a:ext cx="4243527" cy="1477328"/>
          </a:xfrm>
          <a:prstGeom prst="rect">
            <a:avLst/>
          </a:prstGeom>
          <a:noFill/>
        </p:spPr>
        <p:txBody>
          <a:bodyPr wrap="square" rtlCol="0">
            <a:spAutoFit/>
          </a:bodyPr>
          <a:lstStyle/>
          <a:p>
            <a:pPr marL="285750" indent="-285750">
              <a:buFont typeface="Arial" panose="020B0604020202020204" pitchFamily="34" charset="0"/>
              <a:buChar char="•"/>
            </a:pPr>
            <a:r>
              <a:rPr lang="en-IN" dirty="0"/>
              <a:t>Running the predictions on the some of the test images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Got test data accuracy of 97.87  percent</a:t>
            </a:r>
          </a:p>
        </p:txBody>
      </p:sp>
    </p:spTree>
    <p:extLst>
      <p:ext uri="{BB962C8B-B14F-4D97-AF65-F5344CB8AC3E}">
        <p14:creationId xmlns:p14="http://schemas.microsoft.com/office/powerpoint/2010/main" val="1841237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711FBFC-3F06-422E-AF2E-4822AC7981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69197"/>
            <a:ext cx="6260290" cy="59912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7BDAC8F-66B6-42A7-8BF3-39FCB6F6EC1E}"/>
              </a:ext>
            </a:extLst>
          </p:cNvPr>
          <p:cNvPicPr>
            <a:picLocks noChangeAspect="1"/>
          </p:cNvPicPr>
          <p:nvPr/>
        </p:nvPicPr>
        <p:blipFill>
          <a:blip r:embed="rId3"/>
          <a:stretch>
            <a:fillRect/>
          </a:stretch>
        </p:blipFill>
        <p:spPr>
          <a:xfrm>
            <a:off x="6370104" y="650524"/>
            <a:ext cx="5821896" cy="3124471"/>
          </a:xfrm>
          <a:prstGeom prst="rect">
            <a:avLst/>
          </a:prstGeom>
        </p:spPr>
      </p:pic>
    </p:spTree>
    <p:extLst>
      <p:ext uri="{BB962C8B-B14F-4D97-AF65-F5344CB8AC3E}">
        <p14:creationId xmlns:p14="http://schemas.microsoft.com/office/powerpoint/2010/main" val="2545426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7CF53C-0B45-486B-8C62-D973D7596D5B}"/>
              </a:ext>
            </a:extLst>
          </p:cNvPr>
          <p:cNvSpPr txBox="1">
            <a:spLocks/>
          </p:cNvSpPr>
          <p:nvPr/>
        </p:nvSpPr>
        <p:spPr>
          <a:xfrm>
            <a:off x="279425" y="653108"/>
            <a:ext cx="3101086"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CONCLUSION</a:t>
            </a:r>
          </a:p>
          <a:p>
            <a:pPr algn="l"/>
            <a:endParaRPr lang="en-IN" sz="3600" kern="0" dirty="0">
              <a:solidFill>
                <a:schemeClr val="accent6">
                  <a:lumMod val="75000"/>
                </a:schemeClr>
              </a:solidFill>
              <a:latin typeface="Algerian" panose="04020705040A02060702" pitchFamily="82" charset="0"/>
            </a:endParaRPr>
          </a:p>
          <a:p>
            <a:pPr algn="l"/>
            <a:endParaRPr lang="en-IN" sz="3600" kern="0" dirty="0">
              <a:solidFill>
                <a:schemeClr val="accent6">
                  <a:lumMod val="75000"/>
                </a:schemeClr>
              </a:solidFill>
              <a:latin typeface="Algerian" panose="04020705040A02060702" pitchFamily="82" charset="0"/>
            </a:endParaRPr>
          </a:p>
        </p:txBody>
      </p:sp>
      <p:sp>
        <p:nvSpPr>
          <p:cNvPr id="4" name="TextBox 3">
            <a:extLst>
              <a:ext uri="{FF2B5EF4-FFF2-40B4-BE49-F238E27FC236}">
                <a16:creationId xmlns:a16="http://schemas.microsoft.com/office/drawing/2014/main" id="{0B70E4AF-FE82-4827-8CEC-23F0BA7B4BF0}"/>
              </a:ext>
            </a:extLst>
          </p:cNvPr>
          <p:cNvSpPr txBox="1"/>
          <p:nvPr/>
        </p:nvSpPr>
        <p:spPr>
          <a:xfrm>
            <a:off x="834501" y="1763905"/>
            <a:ext cx="8877670" cy="3416320"/>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accent6">
                    <a:lumMod val="75000"/>
                  </a:schemeClr>
                </a:solidFill>
              </a:rPr>
              <a:t>This project considers an implementation of the classification algorithm for the traffic signs recognition task. Combined with pre-processing and localization steps from previous works, the proposed method for traffic signs classification shows very good results: 97.87% of correctly classified images. The proposed classification solution is implemented using the TensorFlow framework. </a:t>
            </a:r>
          </a:p>
          <a:p>
            <a:pPr marL="285750" indent="-285750">
              <a:buFont typeface="Arial" panose="020B0604020202020204" pitchFamily="34" charset="0"/>
              <a:buChar char="•"/>
            </a:pPr>
            <a:endParaRPr lang="en-IN" dirty="0">
              <a:solidFill>
                <a:schemeClr val="accent6">
                  <a:lumMod val="75000"/>
                </a:schemeClr>
              </a:solidFill>
            </a:endParaRPr>
          </a:p>
          <a:p>
            <a:pPr marL="285750" indent="-285750">
              <a:buFont typeface="Arial" panose="020B0604020202020204" pitchFamily="34" charset="0"/>
              <a:buChar char="•"/>
            </a:pPr>
            <a:r>
              <a:rPr lang="en-IN" b="0" i="0" dirty="0">
                <a:solidFill>
                  <a:schemeClr val="accent6">
                    <a:lumMod val="75000"/>
                  </a:schemeClr>
                </a:solidFill>
                <a:effectLst/>
              </a:rPr>
              <a:t>The benefits of “Traffic Sign classification and detection system” are generally focused on driver convenience. Despite the advantages of traffic sign classification, there are drawbacks. There can be times when the traffic signs are covered or not visible clearly. This can be dangerous as the driver won’t be able to keep a check on his vehicle speed and can lead to accidents, endangering other motorists or pedestrians, demanding further research.</a:t>
            </a:r>
            <a:endParaRPr lang="en-IN" dirty="0">
              <a:solidFill>
                <a:schemeClr val="accent6">
                  <a:lumMod val="75000"/>
                </a:schemeClr>
              </a:solidFill>
            </a:endParaRPr>
          </a:p>
        </p:txBody>
      </p:sp>
    </p:spTree>
    <p:extLst>
      <p:ext uri="{BB962C8B-B14F-4D97-AF65-F5344CB8AC3E}">
        <p14:creationId xmlns:p14="http://schemas.microsoft.com/office/powerpoint/2010/main" val="158598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F6CC9-48FA-4982-AF1A-0128583CE0D9}"/>
              </a:ext>
            </a:extLst>
          </p:cNvPr>
          <p:cNvSpPr txBox="1">
            <a:spLocks/>
          </p:cNvSpPr>
          <p:nvPr/>
        </p:nvSpPr>
        <p:spPr>
          <a:xfrm>
            <a:off x="279425" y="653108"/>
            <a:ext cx="3101086" cy="792382"/>
          </a:xfrm>
          <a:prstGeom prst="rect">
            <a:avLst/>
          </a:prstGeom>
        </p:spPr>
        <p:txBody>
          <a:bodyPr/>
          <a:lstStyle>
            <a:lvl1pPr algn="ctr" rtl="0" eaLnBrk="1" fontAlgn="base" hangingPunct="1">
              <a:spcBef>
                <a:spcPct val="0"/>
              </a:spcBef>
              <a:spcAft>
                <a:spcPct val="0"/>
              </a:spcAft>
              <a:defRPr sz="4400">
                <a:solidFill>
                  <a:schemeClr val="tx2"/>
                </a:solidFill>
                <a:latin typeface="Calibri" panose="020F0502020204030204"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algn="l"/>
            <a:r>
              <a:rPr lang="en-IN" sz="3600" kern="0" dirty="0">
                <a:solidFill>
                  <a:schemeClr val="accent6">
                    <a:lumMod val="75000"/>
                  </a:schemeClr>
                </a:solidFill>
                <a:latin typeface="Algerian" panose="04020705040A02060702" pitchFamily="82" charset="0"/>
              </a:rPr>
              <a:t>REFERENCE</a:t>
            </a:r>
          </a:p>
        </p:txBody>
      </p:sp>
      <p:sp>
        <p:nvSpPr>
          <p:cNvPr id="8" name="TextBox 7">
            <a:extLst>
              <a:ext uri="{FF2B5EF4-FFF2-40B4-BE49-F238E27FC236}">
                <a16:creationId xmlns:a16="http://schemas.microsoft.com/office/drawing/2014/main" id="{D721B96E-1A78-4952-8640-521FF60869CB}"/>
              </a:ext>
            </a:extLst>
          </p:cNvPr>
          <p:cNvSpPr txBox="1"/>
          <p:nvPr/>
        </p:nvSpPr>
        <p:spPr>
          <a:xfrm>
            <a:off x="1384915" y="1677880"/>
            <a:ext cx="7892249" cy="3693319"/>
          </a:xfrm>
          <a:prstGeom prst="rect">
            <a:avLst/>
          </a:prstGeom>
          <a:noFill/>
        </p:spPr>
        <p:txBody>
          <a:bodyPr wrap="square" rtlCol="0">
            <a:spAutoFit/>
          </a:bodyPr>
          <a:lstStyle/>
          <a:p>
            <a:pPr marL="285750" indent="-285750">
              <a:buFont typeface="Arial" panose="020B0604020202020204" pitchFamily="34" charset="0"/>
              <a:buChar char="•"/>
            </a:pPr>
            <a:r>
              <a:rPr lang="en-US" sz="1800"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https://pyimagesearch.com/2019/11/04/traffic-sign-classification-with-keras-and-deep-learning/</a:t>
            </a:r>
            <a:endParaRPr lang="en-IN" sz="1800"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https://towardsdatascience.com/building-a-road-sign-classifier-in-keras-764df99fdd6a</a:t>
            </a:r>
            <a:endParaRPr lang="en-IN" sz="1800"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800"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https://github.com/liferlisiqi/Traffic-Sign-Classifier</a:t>
            </a:r>
            <a:endParaRPr lang="en-IN" sz="1800" u="sng" dirty="0">
              <a:solidFill>
                <a:schemeClr val="accent6">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u="sng" dirty="0">
                <a:solidFill>
                  <a:schemeClr val="accent6">
                    <a:lumMod val="75000"/>
                  </a:schemeClr>
                </a:solidFill>
                <a:latin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https://www.kaggle.com/datasets/meowmeowmeowmeowmeow/gtsrb-german-traffic-sign</a:t>
            </a:r>
            <a:endParaRPr lang="en-IN" u="sng" dirty="0">
              <a:solidFill>
                <a:schemeClr val="accent6">
                  <a:lumMod val="7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u="sng" dirty="0">
                <a:solidFill>
                  <a:schemeClr val="accent6">
                    <a:lumMod val="75000"/>
                  </a:schemeClr>
                </a:solidFill>
                <a:latin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https://github.com/DeepranjanG/Traffic_sign_classification</a:t>
            </a:r>
            <a:endParaRPr lang="en-IN" u="sng" dirty="0">
              <a:solidFill>
                <a:schemeClr val="accent6">
                  <a:lumMod val="7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u="sng" dirty="0">
                <a:solidFill>
                  <a:schemeClr val="accent6">
                    <a:lumMod val="75000"/>
                  </a:schemeClr>
                </a:solidFill>
                <a:latin typeface="Calibri" panose="020F0502020204030204" pitchFamily="34" charset="0"/>
                <a:cs typeface="Calibri" panose="020F0502020204030204" pitchFamily="34" charset="0"/>
                <a:hlinkClick r:id="rId7">
                  <a:extLst>
                    <a:ext uri="{A12FA001-AC4F-418D-AE19-62706E023703}">
                      <ahyp:hlinkClr xmlns:ahyp="http://schemas.microsoft.com/office/drawing/2018/hyperlinkcolor" val="tx"/>
                    </a:ext>
                  </a:extLst>
                </a:hlinkClick>
              </a:rPr>
              <a:t>https://youtu.be/Vtc64rPHZ6I</a:t>
            </a:r>
            <a:endParaRPr lang="en-IN" u="sng" dirty="0">
              <a:solidFill>
                <a:schemeClr val="accent6">
                  <a:lumMod val="7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u="sng" dirty="0">
                <a:solidFill>
                  <a:schemeClr val="accent6">
                    <a:lumMod val="75000"/>
                  </a:schemeClr>
                </a:solidFill>
                <a:latin typeface="Calibri" panose="020F0502020204030204" pitchFamily="34" charset="0"/>
                <a:cs typeface="Calibri" panose="020F0502020204030204" pitchFamily="34" charset="0"/>
                <a:hlinkClick r:id="rId8">
                  <a:extLst>
                    <a:ext uri="{A12FA001-AC4F-418D-AE19-62706E023703}">
                      <ahyp:hlinkClr xmlns:ahyp="http://schemas.microsoft.com/office/drawing/2018/hyperlinkcolor" val="tx"/>
                    </a:ext>
                  </a:extLst>
                </a:hlinkClick>
              </a:rPr>
              <a:t>https://youtu.be/tPYj3fFJGjk</a:t>
            </a:r>
            <a:endParaRPr lang="en-IN" u="sng" dirty="0">
              <a:solidFill>
                <a:schemeClr val="accent6">
                  <a:lumMod val="7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u="sng" dirty="0">
                <a:solidFill>
                  <a:schemeClr val="accent6">
                    <a:lumMod val="75000"/>
                  </a:schemeClr>
                </a:solidFill>
                <a:latin typeface="Calibri" panose="020F0502020204030204" pitchFamily="34" charset="0"/>
                <a:cs typeface="Calibri" panose="020F0502020204030204" pitchFamily="34" charset="0"/>
                <a:hlinkClick r:id="rId9">
                  <a:extLst>
                    <a:ext uri="{A12FA001-AC4F-418D-AE19-62706E023703}">
                      <ahyp:hlinkClr xmlns:ahyp="http://schemas.microsoft.com/office/drawing/2018/hyperlinkcolor" val="tx"/>
                    </a:ext>
                  </a:extLst>
                </a:hlinkClick>
              </a:rPr>
              <a:t>https://youtu.be/SWaYRyi0TTs</a:t>
            </a:r>
            <a:endParaRPr lang="en-IN" u="sng" dirty="0">
              <a:solidFill>
                <a:schemeClr val="accent6">
                  <a:lumMod val="7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u="sng" dirty="0">
              <a:solidFill>
                <a:schemeClr val="accent6">
                  <a:lumMod val="7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u="sng" dirty="0">
              <a:solidFill>
                <a:schemeClr val="accent6">
                  <a:lumMod val="75000"/>
                </a:schemeClr>
              </a:solidFill>
              <a:latin typeface="Calibri" panose="020F0502020204030204" pitchFamily="34" charset="0"/>
              <a:cs typeface="Calibri" panose="020F0502020204030204" pitchFamily="34" charset="0"/>
            </a:endParaRPr>
          </a:p>
        </p:txBody>
      </p:sp>
      <p:pic>
        <p:nvPicPr>
          <p:cNvPr id="3" name="Picture 2" descr="Logo&#10;&#10;Description automatically generated">
            <a:extLst>
              <a:ext uri="{FF2B5EF4-FFF2-40B4-BE49-F238E27FC236}">
                <a16:creationId xmlns:a16="http://schemas.microsoft.com/office/drawing/2014/main" id="{B3D2F175-084D-40DB-B289-55186305441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085218" y="3933177"/>
            <a:ext cx="952500" cy="838200"/>
          </a:xfrm>
          <a:prstGeom prst="rect">
            <a:avLst/>
          </a:prstGeom>
        </p:spPr>
      </p:pic>
      <p:pic>
        <p:nvPicPr>
          <p:cNvPr id="5" name="Picture 4" descr="Logo, icon&#10;&#10;Description automatically generated">
            <a:extLst>
              <a:ext uri="{FF2B5EF4-FFF2-40B4-BE49-F238E27FC236}">
                <a16:creationId xmlns:a16="http://schemas.microsoft.com/office/drawing/2014/main" id="{C77615E1-6444-43B1-ABB5-A1FFA8E9947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085218" y="1677880"/>
            <a:ext cx="952500" cy="952500"/>
          </a:xfrm>
          <a:prstGeom prst="rect">
            <a:avLst/>
          </a:prstGeom>
        </p:spPr>
      </p:pic>
    </p:spTree>
    <p:extLst>
      <p:ext uri="{BB962C8B-B14F-4D97-AF65-F5344CB8AC3E}">
        <p14:creationId xmlns:p14="http://schemas.microsoft.com/office/powerpoint/2010/main" val="1454399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1806" y="2226256"/>
            <a:ext cx="9188388" cy="1717650"/>
          </a:xfrm>
        </p:spPr>
        <p:txBody>
          <a:bodyPr/>
          <a:lstStyle/>
          <a:p>
            <a:pPr marL="0" indent="0" algn="ctr">
              <a:buNone/>
            </a:pPr>
            <a:r>
              <a:rPr lang="en-US" sz="138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712979312"/>
      </p:ext>
    </p:extLst>
  </p:cSld>
  <p:clrMapOvr>
    <a:masterClrMapping/>
  </p:clrMapOvr>
</p:sld>
</file>

<file path=ppt/theme/theme1.xml><?xml version="1.0" encoding="utf-8"?>
<a:theme xmlns:a="http://schemas.openxmlformats.org/drawingml/2006/main" name="SAEISS">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EISS" id="{8AC55EFA-995B-4A8E-94AA-CE41A1AD6D9C}" vid="{89040E12-D837-4D16-AC8D-78834BC1B5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SAEISS</Template>
  <TotalTime>1326</TotalTime>
  <Words>804</Words>
  <Application>Microsoft Office PowerPoint</Application>
  <PresentationFormat>Widescreen</PresentationFormat>
  <Paragraphs>90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Algerian</vt:lpstr>
      <vt:lpstr>Arial</vt:lpstr>
      <vt:lpstr>Arial Narrow</vt:lpstr>
      <vt:lpstr>Barlow</vt:lpstr>
      <vt:lpstr>Calibri</vt:lpstr>
      <vt:lpstr>Source Sans Pro</vt:lpstr>
      <vt:lpstr>Wingdings</vt:lpstr>
      <vt:lpstr>YouTube Sans</vt:lpstr>
      <vt:lpstr>SAEISS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SAEISS – MC 2018 -2020</dc:title>
  <dc:creator>Alaguvel Armstrong R</dc:creator>
  <cp:lastModifiedBy>krushna</cp:lastModifiedBy>
  <cp:revision>57</cp:revision>
  <dcterms:created xsi:type="dcterms:W3CDTF">2018-10-18T13:39:51Z</dcterms:created>
  <dcterms:modified xsi:type="dcterms:W3CDTF">2022-06-10T18:55:09Z</dcterms:modified>
</cp:coreProperties>
</file>