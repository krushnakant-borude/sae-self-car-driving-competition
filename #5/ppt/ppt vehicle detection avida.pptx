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55" r:id="rId2"/>
    <p:sldId id="356" r:id="rId3"/>
    <p:sldId id="357" r:id="rId4"/>
    <p:sldId id="358" r:id="rId5"/>
    <p:sldId id="375" r:id="rId6"/>
    <p:sldId id="369" r:id="rId7"/>
    <p:sldId id="370" r:id="rId8"/>
    <p:sldId id="371" r:id="rId9"/>
    <p:sldId id="372" r:id="rId10"/>
    <p:sldId id="377" r:id="rId11"/>
    <p:sldId id="378" r:id="rId12"/>
    <p:sldId id="379" r:id="rId13"/>
    <p:sldId id="380" r:id="rId14"/>
    <p:sldId id="381" r:id="rId15"/>
    <p:sldId id="3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7394"/>
    <a:srgbClr val="BCB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343" autoAdjust="0"/>
  </p:normalViewPr>
  <p:slideViewPr>
    <p:cSldViewPr snapToGrid="0">
      <p:cViewPr varScale="1">
        <p:scale>
          <a:sx n="79" d="100"/>
          <a:sy n="79" d="100"/>
        </p:scale>
        <p:origin x="710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ED863-641B-4452-A52B-7020E88FF518}" type="datetimeFigureOut">
              <a:rPr lang="en-IN" smtClean="0"/>
              <a:t>12-06-2022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7440F-7229-4778-9546-06C2A7F1A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3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428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2125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927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Calibri" panose="020F0502020204030204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0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9796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135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680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55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79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83357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83357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53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379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9118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94036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09118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94036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95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06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59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9221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221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alibri" panose="020F0502020204030204" pitchFamily="34" charset="0"/>
              </a:defRPr>
            </a:lvl1pPr>
            <a:lvl2pPr>
              <a:defRPr sz="2800">
                <a:latin typeface="Calibri" panose="020F0502020204030204" pitchFamily="34" charset="0"/>
              </a:defRPr>
            </a:lvl2pPr>
            <a:lvl3pPr>
              <a:defRPr sz="2400">
                <a:latin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5426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506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434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379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19362"/>
            <a:ext cx="109728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1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29804"/>
            <a:ext cx="2743200" cy="5851525"/>
          </a:xfrm>
          <a:prstGeom prst="rect">
            <a:avLst/>
          </a:prstGeom>
        </p:spPr>
        <p:txBody>
          <a:bodyPr vert="eaVert"/>
          <a:lstStyle>
            <a:lvl1pPr>
              <a:defRPr sz="40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29804"/>
            <a:ext cx="8026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597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50000">
              <a:schemeClr val="accent2"/>
            </a:gs>
            <a:gs pos="100000">
              <a:schemeClr val="accent3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835600" y="826967"/>
            <a:ext cx="7591200" cy="2611200"/>
          </a:xfrm>
          <a:prstGeom prst="rect">
            <a:avLst/>
          </a:prstGeom>
          <a:effectLst>
            <a:outerShdw blurRad="28575" dist="19050" dir="27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5074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/>
          <p:nvPr/>
        </p:nvSpPr>
        <p:spPr>
          <a:xfrm rot="5400000">
            <a:off x="970800" y="-970600"/>
            <a:ext cx="2503600" cy="44448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20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140367" y="2102067"/>
            <a:ext cx="46308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667"/>
            </a:lvl1pPr>
            <a:lvl2pPr marL="1219170" lvl="1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2pPr>
            <a:lvl3pPr marL="1828754" lvl="2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3pPr>
            <a:lvl4pPr marL="2438339" lvl="3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067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067"/>
              </a:spcBef>
              <a:spcAft>
                <a:spcPts val="1067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20799" y="2102067"/>
            <a:ext cx="46308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667"/>
            </a:lvl1pPr>
            <a:lvl2pPr marL="1219170" lvl="1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2pPr>
            <a:lvl3pPr marL="1828754" lvl="2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3pPr>
            <a:lvl4pPr marL="2438339" lvl="3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067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067"/>
              </a:spcBef>
              <a:spcAft>
                <a:spcPts val="1067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4598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77000"/>
            <a:ext cx="12192000" cy="76200"/>
          </a:xfrm>
          <a:prstGeom prst="rect">
            <a:avLst/>
          </a:prstGeom>
          <a:gradFill rotWithShape="1">
            <a:gsLst>
              <a:gs pos="0">
                <a:srgbClr val="00002F"/>
              </a:gs>
              <a:gs pos="100000">
                <a:srgbClr val="000066">
                  <a:alpha val="4999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</p:txBody>
      </p:sp>
      <p:pic>
        <p:nvPicPr>
          <p:cNvPr id="1028" name="Picture 9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600" y="15876"/>
            <a:ext cx="1930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10"/>
          <p:cNvSpPr txBox="1">
            <a:spLocks noChangeArrowheads="1"/>
          </p:cNvSpPr>
          <p:nvPr/>
        </p:nvSpPr>
        <p:spPr bwMode="auto">
          <a:xfrm>
            <a:off x="0" y="6583364"/>
            <a:ext cx="135659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333399"/>
                </a:solidFill>
                <a:latin typeface="Calibri" panose="020F0502020204030204" pitchFamily="34" charset="0"/>
              </a:rPr>
              <a:t>DATE: 11-Jun-2022</a:t>
            </a:r>
          </a:p>
        </p:txBody>
      </p:sp>
      <p:sp>
        <p:nvSpPr>
          <p:cNvPr id="1030" name="Text Box 11"/>
          <p:cNvSpPr txBox="1">
            <a:spLocks noChangeArrowheads="1"/>
          </p:cNvSpPr>
          <p:nvPr/>
        </p:nvSpPr>
        <p:spPr bwMode="auto">
          <a:xfrm>
            <a:off x="11252320" y="6583364"/>
            <a:ext cx="93968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333399"/>
                </a:solidFill>
                <a:latin typeface="Calibri" panose="020F0502020204030204" pitchFamily="34" charset="0"/>
              </a:rPr>
              <a:t>Slide no: </a:t>
            </a:r>
            <a:fld id="{95BAC9E6-720A-4FB9-A5D7-6DEF575B2FA1}" type="slidenum">
              <a:rPr lang="en-US" altLang="en-US" sz="1200">
                <a:solidFill>
                  <a:srgbClr val="333399"/>
                </a:solidFill>
                <a:latin typeface="Calibri" panose="020F0502020204030204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sz="1200" dirty="0">
              <a:solidFill>
                <a:srgbClr val="333399"/>
              </a:solidFill>
              <a:latin typeface="Calibri" panose="020F0502020204030204" pitchFamily="34" charset="0"/>
            </a:endParaRPr>
          </a:p>
        </p:txBody>
      </p:sp>
      <p:sp>
        <p:nvSpPr>
          <p:cNvPr id="1031" name="Line 12"/>
          <p:cNvSpPr>
            <a:spLocks noChangeShapeType="1"/>
          </p:cNvSpPr>
          <p:nvPr/>
        </p:nvSpPr>
        <p:spPr bwMode="auto">
          <a:xfrm flipH="1">
            <a:off x="203200" y="304800"/>
            <a:ext cx="13208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1032" name="Picture 13" descr="SAEIndia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3368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14"/>
          <p:cNvSpPr>
            <a:spLocks noChangeArrowheads="1"/>
          </p:cNvSpPr>
          <p:nvPr/>
        </p:nvSpPr>
        <p:spPr bwMode="auto">
          <a:xfrm>
            <a:off x="0" y="396875"/>
            <a:ext cx="914400" cy="76200"/>
          </a:xfrm>
          <a:prstGeom prst="rect">
            <a:avLst/>
          </a:prstGeom>
          <a:gradFill rotWithShape="1">
            <a:gsLst>
              <a:gs pos="0">
                <a:srgbClr val="000066">
                  <a:alpha val="4999"/>
                </a:srgbClr>
              </a:gs>
              <a:gs pos="100000">
                <a:srgbClr val="00002F">
                  <a:alpha val="20000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034" name="Rectangle 15"/>
          <p:cNvSpPr>
            <a:spLocks noChangeArrowheads="1"/>
          </p:cNvSpPr>
          <p:nvPr/>
        </p:nvSpPr>
        <p:spPr bwMode="auto">
          <a:xfrm>
            <a:off x="2235200" y="396875"/>
            <a:ext cx="9956800" cy="76200"/>
          </a:xfrm>
          <a:prstGeom prst="rect">
            <a:avLst/>
          </a:prstGeom>
          <a:gradFill rotWithShape="1">
            <a:gsLst>
              <a:gs pos="0">
                <a:srgbClr val="000066">
                  <a:alpha val="25000"/>
                </a:srgbClr>
              </a:gs>
              <a:gs pos="100000">
                <a:srgbClr val="00002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035" name="Text Box 16"/>
          <p:cNvSpPr txBox="1">
            <a:spLocks noChangeArrowheads="1"/>
          </p:cNvSpPr>
          <p:nvPr/>
        </p:nvSpPr>
        <p:spPr bwMode="auto">
          <a:xfrm>
            <a:off x="1174303" y="317500"/>
            <a:ext cx="116249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>
                <a:solidFill>
                  <a:srgbClr val="000066"/>
                </a:solidFill>
                <a:latin typeface="Arial Narrow" pitchFamily="34" charset="0"/>
              </a:rPr>
              <a:t>SOUTHERN SECTION</a:t>
            </a:r>
          </a:p>
        </p:txBody>
      </p:sp>
    </p:spTree>
    <p:extLst>
      <p:ext uri="{BB962C8B-B14F-4D97-AF65-F5344CB8AC3E}">
        <p14:creationId xmlns:p14="http://schemas.microsoft.com/office/powerpoint/2010/main" val="16348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hapter/10.1007/11553595_147" TargetMode="External"/><Relationship Id="rId2" Type="http://schemas.openxmlformats.org/officeDocument/2006/relationships/hyperlink" Target="https://www.geeksforgeeks.org/erosion-dilation-images-using-opencv-python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analyticsvidhya.com/blog/2020/04/vehicle-detection-opencv-python/" TargetMode="External"/><Relationship Id="rId4" Type="http://schemas.openxmlformats.org/officeDocument/2006/relationships/hyperlink" Target="https://www.geeksforgeeks.org/background-subtraction-opencv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ctrTitle"/>
          </p:nvPr>
        </p:nvSpPr>
        <p:spPr>
          <a:xfrm>
            <a:off x="69454" y="1154043"/>
            <a:ext cx="12192000" cy="208868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6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vehicle detection and counting </a:t>
            </a:r>
            <a:r>
              <a:rPr lang="en-IN" sz="5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/>
            </a:r>
            <a:br>
              <a:rPr lang="en-IN" sz="5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</a:br>
            <a:r>
              <a:rPr lang="en-IN" sz="5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 </a:t>
            </a:r>
            <a:endParaRPr sz="54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026" name="Picture 2" descr="National Institute of Technology Agartala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695" y="5667615"/>
            <a:ext cx="598667" cy="69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28794" y="3101333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TEAM AVIDA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99966" y="280641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2580" y="5075743"/>
            <a:ext cx="76290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National Institute Of Technology </a:t>
            </a:r>
            <a:r>
              <a:rPr lang="en-IN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Agartala</a:t>
            </a:r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5944" y="6230401"/>
            <a:ext cx="1010681" cy="62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6838" y="2787569"/>
            <a:ext cx="19030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SELF DRIVING </a:t>
            </a:r>
          </a:p>
          <a:p>
            <a:pPr algn="r"/>
            <a:r>
              <a:rPr lang="en-I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CAR CHALLENGE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2065" y="253828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FOR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794" y="3591535"/>
            <a:ext cx="1531777" cy="10939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380" y="3742364"/>
            <a:ext cx="792276" cy="79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1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00" y="940087"/>
            <a:ext cx="9920400" cy="528400"/>
          </a:xfrm>
        </p:spPr>
        <p:txBody>
          <a:bodyPr/>
          <a:lstStyle/>
          <a:p>
            <a:r>
              <a:rPr lang="en-IN" dirty="0" smtClean="0">
                <a:latin typeface="Bebas Neue" panose="020B0606020202050201" pitchFamily="34" charset="0"/>
              </a:rPr>
              <a:t>Content</a:t>
            </a:r>
            <a:endParaRPr lang="en-IN" dirty="0">
              <a:latin typeface="Bebas Neue" panose="020B0606020202050201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</a:t>
            </a:fld>
            <a:endParaRPr lang="en"/>
          </a:p>
        </p:txBody>
      </p:sp>
      <p:sp>
        <p:nvSpPr>
          <p:cNvPr id="6" name="Rectangle 5"/>
          <p:cNvSpPr/>
          <p:nvPr/>
        </p:nvSpPr>
        <p:spPr>
          <a:xfrm>
            <a:off x="563664" y="2289048"/>
            <a:ext cx="6096000" cy="30654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>
                <a:latin typeface="Barlow Light"/>
                <a:sym typeface="Barlow Light"/>
              </a:rPr>
              <a:t>Objective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>
                <a:latin typeface="Barlow Light"/>
                <a:sym typeface="Barlow Light"/>
              </a:rPr>
              <a:t>Libraries </a:t>
            </a:r>
            <a:r>
              <a:rPr lang="en-IN" sz="2400" kern="0" dirty="0" smtClean="0">
                <a:latin typeface="Barlow Light"/>
                <a:sym typeface="Barlow Light"/>
              </a:rPr>
              <a:t>Used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Methods that we can follow </a:t>
            </a:r>
            <a:endParaRPr lang="en-IN" sz="2400" kern="0" dirty="0">
              <a:latin typeface="Barlow Light"/>
              <a:sym typeface="Barlow Light"/>
            </a:endParaRP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>
                <a:latin typeface="Barlow Light"/>
                <a:sym typeface="Barlow Light"/>
              </a:rPr>
              <a:t>Work </a:t>
            </a:r>
            <a:r>
              <a:rPr lang="en-IN" sz="2400" kern="0" dirty="0" smtClean="0">
                <a:latin typeface="Barlow Light"/>
                <a:sym typeface="Barlow Light"/>
              </a:rPr>
              <a:t>flow</a:t>
            </a:r>
            <a:endParaRPr lang="en-IN" sz="2400" kern="0" dirty="0">
              <a:latin typeface="Barlow Light"/>
              <a:sym typeface="Barlow Light"/>
            </a:endParaRP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Gray scaling and blurring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Background subtraction and dilation 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endParaRPr lang="en-IN" sz="2400" kern="0" dirty="0">
              <a:latin typeface="Barlow Light"/>
              <a:sym typeface="Barlow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16473" y="2600332"/>
            <a:ext cx="6096000" cy="26407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Where are we right now ?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Next steps 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Final output 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Future scope 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r>
              <a:rPr lang="en-IN" sz="2400" kern="0" dirty="0" smtClean="0">
                <a:latin typeface="Barlow Light"/>
                <a:sym typeface="Barlow Light"/>
              </a:rPr>
              <a:t>References </a:t>
            </a:r>
          </a:p>
          <a:p>
            <a:pPr marL="457200" lvl="0" indent="-355600">
              <a:lnSpc>
                <a:spcPct val="115000"/>
              </a:lnSpc>
              <a:buClr>
                <a:srgbClr val="50DD8B"/>
              </a:buClr>
              <a:buSzPts val="2000"/>
              <a:buFont typeface="Barlow Light"/>
              <a:buChar char="▸"/>
            </a:pPr>
            <a:endParaRPr lang="en-IN" sz="2400" kern="0" dirty="0">
              <a:latin typeface="Barlow Light"/>
              <a:sym typeface="Barlow Light"/>
            </a:endParaRPr>
          </a:p>
        </p:txBody>
      </p:sp>
    </p:spTree>
    <p:extLst>
      <p:ext uri="{BB962C8B-B14F-4D97-AF65-F5344CB8AC3E}">
        <p14:creationId xmlns:p14="http://schemas.microsoft.com/office/powerpoint/2010/main" val="332115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142" y="573138"/>
            <a:ext cx="3691362" cy="528400"/>
          </a:xfrm>
        </p:spPr>
        <p:txBody>
          <a:bodyPr/>
          <a:lstStyle/>
          <a:p>
            <a:r>
              <a:rPr lang="en-I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Objective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/>
          </a:p>
        </p:txBody>
      </p:sp>
      <p:grpSp>
        <p:nvGrpSpPr>
          <p:cNvPr id="6" name="Google Shape;82;p12"/>
          <p:cNvGrpSpPr/>
          <p:nvPr/>
        </p:nvGrpSpPr>
        <p:grpSpPr>
          <a:xfrm>
            <a:off x="267142" y="460144"/>
            <a:ext cx="679039" cy="564901"/>
            <a:chOff x="1926350" y="995225"/>
            <a:chExt cx="428650" cy="356600"/>
          </a:xfrm>
        </p:grpSpPr>
        <p:sp>
          <p:nvSpPr>
            <p:cNvPr id="7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992" y="3469423"/>
            <a:ext cx="225554" cy="22555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027546" y="3448756"/>
            <a:ext cx="229061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434343"/>
                </a:solidFill>
                <a:latin typeface="Catamaran"/>
              </a:rPr>
              <a:t>Fig: </a:t>
            </a:r>
            <a:r>
              <a:rPr lang="en-IN" sz="1000" dirty="0" smtClean="0">
                <a:solidFill>
                  <a:srgbClr val="434343"/>
                </a:solidFill>
                <a:latin typeface="Catamaran"/>
              </a:rPr>
              <a:t>Open Highway on a clear day.</a:t>
            </a:r>
            <a:endParaRPr lang="en-IN" sz="10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91" y="6085662"/>
            <a:ext cx="225554" cy="22555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171735" y="6064995"/>
            <a:ext cx="229061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b="1" dirty="0" smtClean="0">
                <a:solidFill>
                  <a:srgbClr val="434343"/>
                </a:solidFill>
                <a:latin typeface="Catamaran"/>
              </a:rPr>
              <a:t>Fig: view from the dash board</a:t>
            </a:r>
            <a:r>
              <a:rPr lang="en-IN" sz="1000" dirty="0" smtClean="0">
                <a:solidFill>
                  <a:srgbClr val="434343"/>
                </a:solidFill>
                <a:latin typeface="Catamaran"/>
              </a:rPr>
              <a:t>.</a:t>
            </a:r>
            <a:endParaRPr lang="en-IN" sz="100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676400" y="1551086"/>
            <a:ext cx="5547401" cy="144116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dirty="0" smtClean="0">
                <a:solidFill>
                  <a:schemeClr val="tx1"/>
                </a:solidFill>
              </a:rPr>
              <a:t>o </a:t>
            </a:r>
            <a:r>
              <a:rPr lang="en-US" dirty="0">
                <a:solidFill>
                  <a:schemeClr val="tx1"/>
                </a:solidFill>
              </a:rPr>
              <a:t>detect </a:t>
            </a:r>
            <a:r>
              <a:rPr lang="en-US" dirty="0" smtClean="0">
                <a:solidFill>
                  <a:schemeClr val="tx1"/>
                </a:solidFill>
              </a:rPr>
              <a:t>moving vehicles </a:t>
            </a:r>
            <a:r>
              <a:rPr lang="en-US" dirty="0">
                <a:solidFill>
                  <a:schemeClr val="tx1"/>
                </a:solidFill>
              </a:rPr>
              <a:t>on a road in real time using the OpenCV computer vision library and Python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0" name="Text Placeholder 3"/>
          <p:cNvSpPr>
            <a:spLocks noGrp="1"/>
          </p:cNvSpPr>
          <p:nvPr>
            <p:ph type="body" idx="2"/>
          </p:nvPr>
        </p:nvSpPr>
        <p:spPr>
          <a:xfrm>
            <a:off x="4540186" y="4155535"/>
            <a:ext cx="7575613" cy="2338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dirty="0" smtClean="0">
                <a:solidFill>
                  <a:schemeClr val="tx1"/>
                </a:solidFill>
              </a:rPr>
              <a:t>build </a:t>
            </a:r>
            <a:r>
              <a:rPr lang="en-US" dirty="0">
                <a:solidFill>
                  <a:schemeClr val="tx1"/>
                </a:solidFill>
              </a:rPr>
              <a:t>an application that can automatically detect </a:t>
            </a:r>
            <a:r>
              <a:rPr lang="en-US" dirty="0" smtClean="0">
                <a:solidFill>
                  <a:schemeClr val="tx1"/>
                </a:solidFill>
              </a:rPr>
              <a:t>traffic </a:t>
            </a:r>
            <a:r>
              <a:rPr lang="en-US" dirty="0">
                <a:solidFill>
                  <a:schemeClr val="tx1"/>
                </a:solidFill>
              </a:rPr>
              <a:t>in a video stream from a front-facing camera mounted on a car.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353" y="1025045"/>
            <a:ext cx="4016825" cy="229532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60" y="3672172"/>
            <a:ext cx="3921783" cy="220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8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1131200" y="568559"/>
            <a:ext cx="30616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l"/>
            <a:r>
              <a:rPr lang="en-I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Libraries used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704291" y="1480339"/>
            <a:ext cx="11211069" cy="261426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80990" indent="-380990">
              <a:buSzPts val="1100"/>
              <a:buFont typeface="Wingdings" panose="05000000000000000000" pitchFamily="2" charset="2"/>
              <a:buChar char="Ø"/>
            </a:pPr>
            <a:r>
              <a:rPr lang="en-US" sz="2300" b="1" dirty="0"/>
              <a:t>Computer vision</a:t>
            </a:r>
            <a:r>
              <a:rPr lang="en-US" sz="2300" dirty="0"/>
              <a:t> is a process by which we can understand the images and videos how they are stored and how we can manipulate and retrieve data from them</a:t>
            </a:r>
            <a:r>
              <a:rPr lang="en-US" sz="2300" dirty="0" smtClean="0"/>
              <a:t>.</a:t>
            </a:r>
          </a:p>
          <a:p>
            <a:pPr marL="380990" indent="-380990">
              <a:buSzPts val="1100"/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380990" indent="-380990">
              <a:buSzPts val="1100"/>
              <a:buFont typeface="Wingdings" panose="05000000000000000000" pitchFamily="2" charset="2"/>
              <a:buChar char="Ø"/>
            </a:pPr>
            <a:r>
              <a:rPr lang="en-US" sz="2300" b="1" dirty="0"/>
              <a:t>OpenCV</a:t>
            </a:r>
            <a:r>
              <a:rPr lang="en-US" sz="2300" dirty="0"/>
              <a:t> is the huge open-source library for the computer vision, machine learning, and image processing </a:t>
            </a:r>
            <a:endParaRPr sz="2300" dirty="0"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4</a:t>
            </a:fld>
            <a:endParaRPr dirty="0"/>
          </a:p>
        </p:txBody>
      </p:sp>
      <p:grpSp>
        <p:nvGrpSpPr>
          <p:cNvPr id="82" name="Google Shape;82;p12"/>
          <p:cNvGrpSpPr/>
          <p:nvPr/>
        </p:nvGrpSpPr>
        <p:grpSpPr>
          <a:xfrm>
            <a:off x="257842" y="435684"/>
            <a:ext cx="679039" cy="564901"/>
            <a:chOff x="1926350" y="995225"/>
            <a:chExt cx="428650" cy="356600"/>
          </a:xfrm>
        </p:grpSpPr>
        <p:sp>
          <p:nvSpPr>
            <p:cNvPr id="83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pic>
        <p:nvPicPr>
          <p:cNvPr id="3078" name="Picture 6" descr="OpenCV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381" y="3507239"/>
            <a:ext cx="1922814" cy="236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98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82;p12"/>
          <p:cNvGrpSpPr/>
          <p:nvPr/>
        </p:nvGrpSpPr>
        <p:grpSpPr>
          <a:xfrm>
            <a:off x="267570" y="534157"/>
            <a:ext cx="679039" cy="564901"/>
            <a:chOff x="1926350" y="995225"/>
            <a:chExt cx="428650" cy="356600"/>
          </a:xfrm>
        </p:grpSpPr>
        <p:sp>
          <p:nvSpPr>
            <p:cNvPr id="6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7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10" name="Google Shape;77;p12"/>
          <p:cNvSpPr txBox="1">
            <a:spLocks noGrp="1"/>
          </p:cNvSpPr>
          <p:nvPr>
            <p:ph type="title"/>
          </p:nvPr>
        </p:nvSpPr>
        <p:spPr>
          <a:xfrm>
            <a:off x="1140367" y="651238"/>
            <a:ext cx="672931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l"/>
            <a:r>
              <a:rPr lang="en-I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Methods that we can follow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2050" name="Picture 2" descr="retail-apparel-detection-model-gallery-mi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26" y="1659392"/>
            <a:ext cx="3576753" cy="352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668" y="1883854"/>
            <a:ext cx="6868484" cy="30770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59" y="5632878"/>
            <a:ext cx="225554" cy="22555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140367" y="5507348"/>
            <a:ext cx="28082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434343"/>
                </a:solidFill>
                <a:latin typeface="Catamaran"/>
              </a:rPr>
              <a:t>Fig: Object detection </a:t>
            </a:r>
            <a:r>
              <a:rPr lang="en-IN" sz="1000" dirty="0" smtClean="0">
                <a:solidFill>
                  <a:srgbClr val="434343"/>
                </a:solidFill>
                <a:latin typeface="Catamaran"/>
              </a:rPr>
              <a:t>.</a:t>
            </a:r>
            <a:endParaRPr lang="en-IN" sz="1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346" y="5632878"/>
            <a:ext cx="225554" cy="22555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130157" y="5507348"/>
            <a:ext cx="39010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434343"/>
                </a:solidFill>
                <a:latin typeface="Catamaran"/>
              </a:rPr>
              <a:t>Fig: Sematic Segmentation</a:t>
            </a:r>
            <a:r>
              <a:rPr lang="en-IN" sz="1000" dirty="0" smtClean="0">
                <a:solidFill>
                  <a:srgbClr val="434343"/>
                </a:solidFill>
                <a:latin typeface="Catamaran"/>
              </a:rPr>
              <a:t>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74928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752" y="597367"/>
            <a:ext cx="3972255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Work flow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895" y="597367"/>
            <a:ext cx="7874033" cy="2265933"/>
          </a:xfrm>
        </p:spPr>
        <p:txBody>
          <a:bodyPr/>
          <a:lstStyle/>
          <a:p>
            <a:r>
              <a:rPr lang="en-US" sz="2133" dirty="0"/>
              <a:t>A</a:t>
            </a:r>
            <a:r>
              <a:rPr lang="en-US" sz="2133" dirty="0" smtClean="0"/>
              <a:t> </a:t>
            </a:r>
            <a:r>
              <a:rPr lang="en-US" sz="2133" dirty="0"/>
              <a:t>function to simulate the whole process from loading the video, to perform vehicle detection, and then render a frame with detected vehicles on the screen.</a:t>
            </a:r>
            <a:endParaRPr lang="en-IN" sz="2133" u="sn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11205845" y="5920249"/>
            <a:ext cx="731600" cy="524800"/>
          </a:xfrm>
        </p:spPr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85787" y="2840072"/>
            <a:ext cx="2793232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IN" sz="3200" dirty="0"/>
              <a:t>Procedure</a:t>
            </a:r>
            <a:r>
              <a:rPr lang="en-IN" sz="4800" dirty="0"/>
              <a:t>:</a:t>
            </a:r>
          </a:p>
        </p:txBody>
      </p:sp>
      <p:sp>
        <p:nvSpPr>
          <p:cNvPr id="14" name="Google Shape;485;p38"/>
          <p:cNvSpPr/>
          <p:nvPr/>
        </p:nvSpPr>
        <p:spPr>
          <a:xfrm>
            <a:off x="0" y="3558624"/>
            <a:ext cx="12192000" cy="1348057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486;p38"/>
          <p:cNvSpPr/>
          <p:nvPr/>
        </p:nvSpPr>
        <p:spPr>
          <a:xfrm>
            <a:off x="0" y="3558624"/>
            <a:ext cx="12192000" cy="1348057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oogle Shape;487;p38"/>
          <p:cNvGrpSpPr/>
          <p:nvPr/>
        </p:nvGrpSpPr>
        <p:grpSpPr>
          <a:xfrm>
            <a:off x="2381785" y="2668454"/>
            <a:ext cx="631200" cy="631200"/>
            <a:chOff x="1786339" y="1703401"/>
            <a:chExt cx="473400" cy="473400"/>
          </a:xfrm>
        </p:grpSpPr>
        <p:sp>
          <p:nvSpPr>
            <p:cNvPr id="17" name="Google Shape;488;p38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" name="Google Shape;489;p38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1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9" name="Google Shape;490;p38"/>
          <p:cNvGrpSpPr/>
          <p:nvPr/>
        </p:nvGrpSpPr>
        <p:grpSpPr>
          <a:xfrm>
            <a:off x="5085885" y="2668454"/>
            <a:ext cx="631200" cy="631200"/>
            <a:chOff x="3814414" y="1703401"/>
            <a:chExt cx="473400" cy="473400"/>
          </a:xfrm>
        </p:grpSpPr>
        <p:sp>
          <p:nvSpPr>
            <p:cNvPr id="20" name="Google Shape;491;p38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" name="Google Shape;492;p38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3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2" name="Google Shape;493;p38"/>
          <p:cNvGrpSpPr/>
          <p:nvPr/>
        </p:nvGrpSpPr>
        <p:grpSpPr>
          <a:xfrm>
            <a:off x="7789985" y="2668454"/>
            <a:ext cx="631200" cy="631200"/>
            <a:chOff x="5842489" y="1703401"/>
            <a:chExt cx="473400" cy="473400"/>
          </a:xfrm>
        </p:grpSpPr>
        <p:sp>
          <p:nvSpPr>
            <p:cNvPr id="23" name="Google Shape;494;p38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" name="Google Shape;495;p38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5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5" name="Google Shape;496;p38"/>
          <p:cNvGrpSpPr/>
          <p:nvPr/>
        </p:nvGrpSpPr>
        <p:grpSpPr>
          <a:xfrm>
            <a:off x="9174419" y="5165653"/>
            <a:ext cx="631200" cy="631200"/>
            <a:chOff x="6880814" y="3576300"/>
            <a:chExt cx="473400" cy="473400"/>
          </a:xfrm>
        </p:grpSpPr>
        <p:sp>
          <p:nvSpPr>
            <p:cNvPr id="26" name="Google Shape;497;p38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" name="Google Shape;498;p38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6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9" name="Google Shape;499;p38"/>
          <p:cNvGrpSpPr/>
          <p:nvPr/>
        </p:nvGrpSpPr>
        <p:grpSpPr>
          <a:xfrm>
            <a:off x="6470319" y="5165653"/>
            <a:ext cx="631200" cy="631200"/>
            <a:chOff x="4852739" y="3576300"/>
            <a:chExt cx="473400" cy="473400"/>
          </a:xfrm>
        </p:grpSpPr>
        <p:sp>
          <p:nvSpPr>
            <p:cNvPr id="30" name="Google Shape;500;p38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501;p38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4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2" name="Google Shape;502;p38"/>
          <p:cNvGrpSpPr/>
          <p:nvPr/>
        </p:nvGrpSpPr>
        <p:grpSpPr>
          <a:xfrm>
            <a:off x="3766219" y="5165653"/>
            <a:ext cx="631200" cy="631200"/>
            <a:chOff x="2824664" y="3576300"/>
            <a:chExt cx="473400" cy="473400"/>
          </a:xfrm>
        </p:grpSpPr>
        <p:sp>
          <p:nvSpPr>
            <p:cNvPr id="33" name="Google Shape;503;p38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504;p38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505;p38"/>
          <p:cNvSpPr txBox="1"/>
          <p:nvPr/>
        </p:nvSpPr>
        <p:spPr>
          <a:xfrm>
            <a:off x="1839785" y="2088271"/>
            <a:ext cx="1715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US" sz="1400" b="1" dirty="0"/>
              <a:t>Isolate frames from the video stream </a:t>
            </a:r>
          </a:p>
          <a:p>
            <a:pPr algn="ctr"/>
            <a:endParaRPr sz="12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" name="Google Shape;506;p38"/>
          <p:cNvSpPr txBox="1"/>
          <p:nvPr/>
        </p:nvSpPr>
        <p:spPr>
          <a:xfrm>
            <a:off x="4502940" y="1938719"/>
            <a:ext cx="1715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400" b="1" dirty="0" smtClean="0"/>
              <a:t>Subtracting the background from the frames </a:t>
            </a:r>
          </a:p>
          <a:p>
            <a:pPr algn="ctr"/>
            <a:endParaRPr sz="12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" name="Google Shape;507;p38"/>
          <p:cNvSpPr txBox="1"/>
          <p:nvPr/>
        </p:nvSpPr>
        <p:spPr>
          <a:xfrm>
            <a:off x="7248012" y="1938719"/>
            <a:ext cx="1847349" cy="688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US" sz="1400" b="1" dirty="0"/>
              <a:t>Determine coordinates around the detected vehicle</a:t>
            </a:r>
          </a:p>
          <a:p>
            <a:pPr algn="ctr"/>
            <a:endParaRPr sz="12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" name="Google Shape;508;p38"/>
          <p:cNvSpPr txBox="1"/>
          <p:nvPr/>
        </p:nvSpPr>
        <p:spPr>
          <a:xfrm>
            <a:off x="3313619" y="5814325"/>
            <a:ext cx="1715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1400" b="1" dirty="0" smtClean="0"/>
              <a:t>Applying grayscale then Gaussian blur to the frames</a:t>
            </a:r>
          </a:p>
          <a:p>
            <a:pPr algn="ctr"/>
            <a:endParaRPr sz="12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509;p38"/>
          <p:cNvSpPr txBox="1"/>
          <p:nvPr/>
        </p:nvSpPr>
        <p:spPr>
          <a:xfrm>
            <a:off x="5928340" y="5815386"/>
            <a:ext cx="1715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1400" b="1" dirty="0"/>
              <a:t>Find Prospective Vehicles in the frame </a:t>
            </a:r>
          </a:p>
          <a:p>
            <a:pPr algn="ctr"/>
            <a:endParaRPr sz="12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" name="Google Shape;510;p38"/>
          <p:cNvSpPr txBox="1"/>
          <p:nvPr/>
        </p:nvSpPr>
        <p:spPr>
          <a:xfrm>
            <a:off x="8439956" y="5752471"/>
            <a:ext cx="2199189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IN" sz="1400" b="1" dirty="0"/>
              <a:t>Create a rectangular frame from the coordinates</a:t>
            </a:r>
            <a:endParaRPr sz="12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" name="Google Shape;511;p38"/>
          <p:cNvSpPr/>
          <p:nvPr/>
        </p:nvSpPr>
        <p:spPr>
          <a:xfrm>
            <a:off x="150625" y="417741"/>
            <a:ext cx="664792" cy="66480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8575" dist="19050" dir="27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2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9532"/>
            <a:ext cx="4219991" cy="528400"/>
          </a:xfrm>
        </p:spPr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Why?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grpSp>
        <p:nvGrpSpPr>
          <p:cNvPr id="6" name="Google Shape;82;p12"/>
          <p:cNvGrpSpPr/>
          <p:nvPr/>
        </p:nvGrpSpPr>
        <p:grpSpPr>
          <a:xfrm>
            <a:off x="290168" y="290590"/>
            <a:ext cx="679039" cy="564901"/>
            <a:chOff x="1926350" y="995225"/>
            <a:chExt cx="428650" cy="356600"/>
          </a:xfrm>
        </p:grpSpPr>
        <p:sp>
          <p:nvSpPr>
            <p:cNvPr id="7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5879357" y="1387266"/>
            <a:ext cx="5692288" cy="169250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35464" indent="0">
              <a:buNone/>
            </a:pPr>
            <a:r>
              <a:rPr lang="en-IN" sz="2300" i="1" dirty="0"/>
              <a:t> </a:t>
            </a:r>
            <a:r>
              <a:rPr lang="en-IN" sz="2300" i="1" dirty="0" smtClean="0"/>
              <a:t>          </a:t>
            </a:r>
            <a:r>
              <a:rPr lang="en-US" sz="2300" b="1" dirty="0" smtClean="0">
                <a:latin typeface="Arial Black" panose="020B0A04020102020204" pitchFamily="34" charset="0"/>
              </a:rPr>
              <a:t>Importance </a:t>
            </a:r>
            <a:r>
              <a:rPr lang="en-US" sz="2300" b="1" dirty="0">
                <a:latin typeface="Arial Black" panose="020B0A04020102020204" pitchFamily="34" charset="0"/>
              </a:rPr>
              <a:t>of </a:t>
            </a:r>
            <a:r>
              <a:rPr lang="en-US" sz="2300" b="1" dirty="0" smtClean="0">
                <a:latin typeface="Arial Black" panose="020B0A04020102020204" pitchFamily="34" charset="0"/>
              </a:rPr>
              <a:t>gray scaling</a:t>
            </a:r>
            <a:r>
              <a:rPr lang="en-US" sz="2300" b="1" dirty="0">
                <a:latin typeface="Arial Black" panose="020B0A04020102020204" pitchFamily="34" charset="0"/>
              </a:rPr>
              <a:t> </a:t>
            </a:r>
          </a:p>
          <a:p>
            <a:r>
              <a:rPr lang="en-US" sz="2300" dirty="0"/>
              <a:t>Dimension </a:t>
            </a:r>
            <a:r>
              <a:rPr lang="en-US" sz="2300" dirty="0" smtClean="0"/>
              <a:t>reduction</a:t>
            </a:r>
            <a:endParaRPr lang="en-US" sz="2300" dirty="0"/>
          </a:p>
          <a:p>
            <a:r>
              <a:rPr lang="en-US" sz="2300" dirty="0"/>
              <a:t>Reduces model </a:t>
            </a:r>
            <a:r>
              <a:rPr lang="en-US" sz="2300" dirty="0" smtClean="0"/>
              <a:t>complexity </a:t>
            </a:r>
          </a:p>
          <a:p>
            <a:r>
              <a:rPr lang="en-US" sz="2300" dirty="0" smtClean="0"/>
              <a:t>For other </a:t>
            </a:r>
            <a:r>
              <a:rPr lang="en-US" sz="2300" dirty="0"/>
              <a:t>algorithms to </a:t>
            </a:r>
            <a:r>
              <a:rPr lang="en-US" sz="2300" dirty="0" smtClean="0"/>
              <a:t>work</a:t>
            </a:r>
            <a:endParaRPr lang="en-US" sz="2300" dirty="0"/>
          </a:p>
          <a:p>
            <a:pPr marL="135463" indent="0">
              <a:buClr>
                <a:schemeClr val="accent2">
                  <a:lumMod val="50000"/>
                </a:schemeClr>
              </a:buClr>
              <a:buNone/>
            </a:pPr>
            <a:endParaRPr lang="en-IN" sz="2300" dirty="0" smtClean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6011484" y="3721907"/>
            <a:ext cx="5428034" cy="169250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35464" indent="0">
              <a:buNone/>
            </a:pPr>
            <a:r>
              <a:rPr lang="en-IN" sz="2300" i="1" dirty="0"/>
              <a:t> </a:t>
            </a:r>
            <a:r>
              <a:rPr lang="en-IN" sz="2300" i="1" dirty="0" smtClean="0"/>
              <a:t>          </a:t>
            </a:r>
            <a:r>
              <a:rPr lang="en-US" sz="2300" b="1" dirty="0" smtClean="0">
                <a:latin typeface="Arial Black" panose="020B0A04020102020204" pitchFamily="34" charset="0"/>
              </a:rPr>
              <a:t>Importance </a:t>
            </a:r>
            <a:r>
              <a:rPr lang="en-US" sz="2300" b="1" dirty="0">
                <a:latin typeface="Arial Black" panose="020B0A04020102020204" pitchFamily="34" charset="0"/>
              </a:rPr>
              <a:t>of </a:t>
            </a:r>
            <a:r>
              <a:rPr lang="en-US" sz="2300" b="1" dirty="0" smtClean="0">
                <a:latin typeface="Arial Black" panose="020B0A04020102020204" pitchFamily="34" charset="0"/>
              </a:rPr>
              <a:t>Blurring</a:t>
            </a:r>
            <a:r>
              <a:rPr lang="en-US" sz="2300" b="1" dirty="0">
                <a:latin typeface="Arial Black" panose="020B0A04020102020204" pitchFamily="34" charset="0"/>
              </a:rPr>
              <a:t> </a:t>
            </a:r>
          </a:p>
          <a:p>
            <a:pPr marL="478363" indent="-342900">
              <a:buClr>
                <a:schemeClr val="accent2">
                  <a:lumMod val="50000"/>
                </a:schemeClr>
              </a:buClr>
            </a:pPr>
            <a:r>
              <a:rPr lang="en-US" sz="2300" dirty="0" smtClean="0"/>
              <a:t>  It </a:t>
            </a:r>
            <a:r>
              <a:rPr lang="en-US" sz="2300" dirty="0"/>
              <a:t>helps in Noise </a:t>
            </a:r>
            <a:r>
              <a:rPr lang="en-US" sz="2300" dirty="0" smtClean="0"/>
              <a:t>removal</a:t>
            </a:r>
          </a:p>
          <a:p>
            <a:r>
              <a:rPr lang="en-US" sz="2300" dirty="0" smtClean="0"/>
              <a:t>It </a:t>
            </a:r>
            <a:r>
              <a:rPr lang="en-US" sz="2300" dirty="0"/>
              <a:t>helps in smoothing the image.</a:t>
            </a:r>
          </a:p>
          <a:p>
            <a:r>
              <a:rPr lang="en-US" sz="2300" dirty="0"/>
              <a:t>Low intensity edges are removed.</a:t>
            </a:r>
          </a:p>
          <a:p>
            <a:pPr marL="478363" indent="-342900">
              <a:buClr>
                <a:schemeClr val="accent2">
                  <a:lumMod val="50000"/>
                </a:schemeClr>
              </a:buClr>
            </a:pPr>
            <a:endParaRPr lang="en-IN" sz="2300" dirty="0" smtClean="0"/>
          </a:p>
        </p:txBody>
      </p:sp>
      <p:pic>
        <p:nvPicPr>
          <p:cNvPr id="3076" name="Picture 4" descr="Incorrect Grayscale Conversion · Issue #3800 · python-pillow/Pillow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79" y="1187611"/>
            <a:ext cx="3519742" cy="234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correct Grayscale Conversion · Issue #3800 · python-pillow/Pillow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79" y="3900602"/>
            <a:ext cx="3519742" cy="234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6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4928" y="768322"/>
            <a:ext cx="10179938" cy="982494"/>
          </a:xfrm>
        </p:spPr>
        <p:txBody>
          <a:bodyPr/>
          <a:lstStyle/>
          <a:p>
            <a:pPr algn="ctr"/>
            <a:r>
              <a:rPr lang="en-US" sz="3200" b="1" dirty="0" smtClean="0"/>
              <a:t>Background subtraction and Dilation</a:t>
            </a:r>
            <a:r>
              <a:rPr lang="en-US" sz="3600" b="1" dirty="0" smtClean="0"/>
              <a:t> 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grpSp>
        <p:nvGrpSpPr>
          <p:cNvPr id="6" name="Google Shape;82;p12"/>
          <p:cNvGrpSpPr/>
          <p:nvPr/>
        </p:nvGrpSpPr>
        <p:grpSpPr>
          <a:xfrm>
            <a:off x="257841" y="563260"/>
            <a:ext cx="679039" cy="564901"/>
            <a:chOff x="1926350" y="995225"/>
            <a:chExt cx="428650" cy="356600"/>
          </a:xfrm>
        </p:grpSpPr>
        <p:sp>
          <p:nvSpPr>
            <p:cNvPr id="7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57841" y="1633400"/>
            <a:ext cx="4627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A1A1A"/>
                </a:solidFill>
                <a:latin typeface="Merriweather"/>
              </a:rPr>
              <a:t>.</a:t>
            </a:r>
            <a:endParaRPr lang="en-IN" sz="2400" dirty="0"/>
          </a:p>
        </p:txBody>
      </p:sp>
      <p:pic>
        <p:nvPicPr>
          <p:cNvPr id="4098" name="Picture 2" descr="resfram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40" y="3720100"/>
            <a:ext cx="5120130" cy="2184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m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200" y="3720100"/>
            <a:ext cx="5120130" cy="2184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82240" y="1294531"/>
            <a:ext cx="11393264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273239"/>
                </a:solidFill>
              </a:rPr>
              <a:t>Background subtraction </a:t>
            </a:r>
            <a:r>
              <a:rPr lang="en-US" sz="2300" dirty="0">
                <a:solidFill>
                  <a:srgbClr val="273239"/>
                </a:solidFill>
              </a:rPr>
              <a:t>is a way of eliminating the background from image. To achieve this we extract the moving foreground from the static background</a:t>
            </a:r>
            <a:r>
              <a:rPr lang="en-US" sz="2300" dirty="0" smtClean="0">
                <a:solidFill>
                  <a:srgbClr val="273239"/>
                </a:solidFill>
              </a:rPr>
              <a:t>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300" dirty="0" smtClean="0">
              <a:solidFill>
                <a:srgbClr val="273239"/>
              </a:solidFill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273239"/>
                </a:solidFill>
                <a:latin typeface="urw-din"/>
              </a:rPr>
              <a:t>Morphological </a:t>
            </a:r>
            <a:r>
              <a:rPr lang="en-US" sz="2300" b="1" dirty="0" smtClean="0">
                <a:solidFill>
                  <a:srgbClr val="273239"/>
                </a:solidFill>
                <a:latin typeface="urw-din"/>
              </a:rPr>
              <a:t>operations (dilation)</a:t>
            </a:r>
            <a:r>
              <a:rPr lang="en-US" sz="2300" dirty="0">
                <a:solidFill>
                  <a:srgbClr val="273239"/>
                </a:solidFill>
                <a:latin typeface="urw-din"/>
              </a:rPr>
              <a:t> are a set of operations that process images based on shapes. They apply a structuring element to an input image and generate an output image. </a:t>
            </a:r>
            <a:r>
              <a:rPr lang="en-US" sz="2400" dirty="0"/>
              <a:t/>
            </a:r>
            <a:br>
              <a:rPr lang="en-US" sz="2400" dirty="0"/>
            </a:br>
            <a:endParaRPr lang="en-US" sz="2300" dirty="0">
              <a:solidFill>
                <a:srgbClr val="2732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45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72562" y="541167"/>
            <a:ext cx="9920400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Where are we right now ?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grpSp>
        <p:nvGrpSpPr>
          <p:cNvPr id="11" name="Google Shape;82;p12"/>
          <p:cNvGrpSpPr/>
          <p:nvPr/>
        </p:nvGrpSpPr>
        <p:grpSpPr>
          <a:xfrm>
            <a:off x="234833" y="589813"/>
            <a:ext cx="679039" cy="564901"/>
            <a:chOff x="1926350" y="995225"/>
            <a:chExt cx="428650" cy="356600"/>
          </a:xfrm>
        </p:grpSpPr>
        <p:sp>
          <p:nvSpPr>
            <p:cNvPr id="12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3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4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5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pic>
        <p:nvPicPr>
          <p:cNvPr id="8" name="WhatsApp Video 2022-06-12 at 2.19.35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70433" y="1368312"/>
            <a:ext cx="8472792" cy="476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29762" y="579828"/>
            <a:ext cx="9920400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Why are we doing this?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grpSp>
        <p:nvGrpSpPr>
          <p:cNvPr id="11" name="Google Shape;82;p12"/>
          <p:cNvGrpSpPr/>
          <p:nvPr/>
        </p:nvGrpSpPr>
        <p:grpSpPr>
          <a:xfrm>
            <a:off x="234833" y="589813"/>
            <a:ext cx="679039" cy="564901"/>
            <a:chOff x="1926350" y="995225"/>
            <a:chExt cx="428650" cy="356600"/>
          </a:xfrm>
        </p:grpSpPr>
        <p:sp>
          <p:nvSpPr>
            <p:cNvPr id="12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3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4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5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8530574" y="3241964"/>
            <a:ext cx="413057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2pPr>
            <a:lvl3pPr lvl="2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3pPr>
            <a:lvl4pPr lvl="3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4pPr>
            <a:lvl5pPr lvl="4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lvl="5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lvl="6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lvl="7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lvl="8" algn="ctr" rtl="0" eaLnBrk="1" fontAlgn="base" hangingPunct="1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3200" kern="0" dirty="0" smtClean="0">
                <a:latin typeface="Arial Black" panose="020B0A04020102020204" pitchFamily="34" charset="0"/>
              </a:rPr>
              <a:t>To help </a:t>
            </a:r>
          </a:p>
          <a:p>
            <a:r>
              <a:rPr lang="en-IN" sz="3200" kern="0" dirty="0" err="1" smtClean="0">
                <a:latin typeface="Arial Black" panose="020B0A04020102020204" pitchFamily="34" charset="0"/>
              </a:rPr>
              <a:t>Mr.Bean</a:t>
            </a:r>
            <a:r>
              <a:rPr lang="en-IN" sz="3200" kern="0" dirty="0" smtClean="0">
                <a:latin typeface="Arial Black" panose="020B0A04020102020204" pitchFamily="34" charset="0"/>
              </a:rPr>
              <a:t> </a:t>
            </a:r>
            <a:endParaRPr lang="en-IN" sz="3200" kern="0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79" y="1621463"/>
            <a:ext cx="7550544" cy="41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66510" y="1112140"/>
            <a:ext cx="405967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rgbClr val="171717"/>
                </a:solidFill>
              </a:rPr>
              <a:t>Drawing </a:t>
            </a:r>
            <a:r>
              <a:rPr lang="en-US" sz="2200" b="1" dirty="0">
                <a:solidFill>
                  <a:srgbClr val="171717"/>
                </a:solidFill>
              </a:rPr>
              <a:t>rectangle around detected </a:t>
            </a:r>
            <a:r>
              <a:rPr lang="en-US" sz="2200" b="1" dirty="0" smtClean="0">
                <a:solidFill>
                  <a:srgbClr val="171717"/>
                </a:solidFill>
              </a:rPr>
              <a:t>cars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17171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71717"/>
                </a:solidFill>
              </a:rPr>
              <a:t>After detecting all the coordinates of all the cars in a frame, </a:t>
            </a:r>
            <a:r>
              <a:rPr lang="en-US" sz="2200" b="1" dirty="0" smtClean="0">
                <a:solidFill>
                  <a:srgbClr val="171717"/>
                </a:solidFill>
              </a:rPr>
              <a:t>we have </a:t>
            </a:r>
            <a:r>
              <a:rPr lang="en-US" sz="2200" b="1" dirty="0">
                <a:solidFill>
                  <a:srgbClr val="171717"/>
                </a:solidFill>
              </a:rPr>
              <a:t>to draw a rectangle around it for us to able to see the detection process visually</a:t>
            </a:r>
            <a:r>
              <a:rPr lang="en-US" sz="2200" b="1" dirty="0" smtClean="0">
                <a:solidFill>
                  <a:srgbClr val="171717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17171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rgbClr val="171717"/>
                </a:solidFill>
              </a:rPr>
              <a:t>Add counter on top to count the number of vehicles.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-1953890" y="541167"/>
            <a:ext cx="9920400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Next steps 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grpSp>
        <p:nvGrpSpPr>
          <p:cNvPr id="7" name="Google Shape;82;p12"/>
          <p:cNvGrpSpPr/>
          <p:nvPr/>
        </p:nvGrpSpPr>
        <p:grpSpPr>
          <a:xfrm>
            <a:off x="234833" y="589813"/>
            <a:ext cx="679039" cy="564901"/>
            <a:chOff x="1926350" y="995225"/>
            <a:chExt cx="428650" cy="356600"/>
          </a:xfrm>
        </p:grpSpPr>
        <p:sp>
          <p:nvSpPr>
            <p:cNvPr id="8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1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33" y="1549319"/>
            <a:ext cx="7136615" cy="417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5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953890" y="541167"/>
            <a:ext cx="9920400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Final Output 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grpSp>
        <p:nvGrpSpPr>
          <p:cNvPr id="6" name="Google Shape;82;p12"/>
          <p:cNvGrpSpPr/>
          <p:nvPr/>
        </p:nvGrpSpPr>
        <p:grpSpPr>
          <a:xfrm>
            <a:off x="234833" y="589813"/>
            <a:ext cx="679039" cy="564901"/>
            <a:chOff x="1926350" y="995225"/>
            <a:chExt cx="428650" cy="356600"/>
          </a:xfrm>
        </p:grpSpPr>
        <p:sp>
          <p:nvSpPr>
            <p:cNvPr id="7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pic>
        <p:nvPicPr>
          <p:cNvPr id="11" name="WhatsApp Video 2022-06-12 at 2.52.44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87164" y="1424048"/>
            <a:ext cx="8845685" cy="49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2002528" y="577208"/>
            <a:ext cx="9920400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Future Scope 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grpSp>
        <p:nvGrpSpPr>
          <p:cNvPr id="6" name="Google Shape;82;p12"/>
          <p:cNvGrpSpPr/>
          <p:nvPr/>
        </p:nvGrpSpPr>
        <p:grpSpPr>
          <a:xfrm>
            <a:off x="234833" y="589813"/>
            <a:ext cx="679039" cy="564901"/>
            <a:chOff x="1926350" y="995225"/>
            <a:chExt cx="428650" cy="356600"/>
          </a:xfrm>
        </p:grpSpPr>
        <p:sp>
          <p:nvSpPr>
            <p:cNvPr id="7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11" name="Text Placeholder 3"/>
          <p:cNvSpPr>
            <a:spLocks noGrp="1"/>
          </p:cNvSpPr>
          <p:nvPr>
            <p:ph type="body" idx="2"/>
          </p:nvPr>
        </p:nvSpPr>
        <p:spPr>
          <a:xfrm>
            <a:off x="913872" y="2402485"/>
            <a:ext cx="10555039" cy="23384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To be able to identify each vehicle and display the name on top.</a:t>
            </a:r>
          </a:p>
          <a:p>
            <a:r>
              <a:rPr lang="en-US" dirty="0" smtClean="0"/>
              <a:t>To be able to Count each kind of vehicle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Trying to incorporate sematic segmentation for better accuracy.</a:t>
            </a:r>
          </a:p>
          <a:p>
            <a:r>
              <a:rPr lang="en-US" dirty="0" smtClean="0"/>
              <a:t>Reduce Noise to a greater extent.</a:t>
            </a:r>
          </a:p>
          <a:p>
            <a:r>
              <a:rPr lang="en-US" dirty="0" smtClean="0"/>
              <a:t>To be able to get high accuracy for industrial application. </a:t>
            </a:r>
          </a:p>
          <a:p>
            <a:endParaRPr lang="en-US" dirty="0" smtClean="0"/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66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2148442" y="588717"/>
            <a:ext cx="9920400" cy="528400"/>
          </a:xfrm>
        </p:spPr>
        <p:txBody>
          <a:bodyPr/>
          <a:lstStyle/>
          <a:p>
            <a:r>
              <a:rPr lang="en-IN" sz="3200" dirty="0" smtClean="0">
                <a:latin typeface="Arial Black" panose="020B0A04020102020204" pitchFamily="34" charset="0"/>
              </a:rPr>
              <a:t>References 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grpSp>
        <p:nvGrpSpPr>
          <p:cNvPr id="6" name="Google Shape;82;p12"/>
          <p:cNvGrpSpPr/>
          <p:nvPr/>
        </p:nvGrpSpPr>
        <p:grpSpPr>
          <a:xfrm>
            <a:off x="234833" y="589813"/>
            <a:ext cx="679039" cy="564901"/>
            <a:chOff x="1926350" y="995225"/>
            <a:chExt cx="428650" cy="356600"/>
          </a:xfrm>
        </p:grpSpPr>
        <p:sp>
          <p:nvSpPr>
            <p:cNvPr id="7" name="Google Shape;83;p12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8" name="Google Shape;84;p1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9" name="Google Shape;85;p12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  <p:sp>
          <p:nvSpPr>
            <p:cNvPr id="10" name="Google Shape;86;p1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19050" dir="27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11" name="Text Placeholder 3"/>
          <p:cNvSpPr>
            <a:spLocks noGrp="1"/>
          </p:cNvSpPr>
          <p:nvPr>
            <p:ph type="body" idx="2"/>
          </p:nvPr>
        </p:nvSpPr>
        <p:spPr>
          <a:xfrm>
            <a:off x="913872" y="2402485"/>
            <a:ext cx="10555039" cy="2338400"/>
          </a:xfrm>
        </p:spPr>
        <p:txBody>
          <a:bodyPr/>
          <a:lstStyle/>
          <a:p>
            <a:r>
              <a:rPr lang="en-US" sz="2400" dirty="0">
                <a:hlinkClick r:id="rId2"/>
              </a:rPr>
              <a:t>https://www.geeksforgeeks.org/erosion-dilation-images-using-opencv-python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link.springer.com/chapter/10.1007/11553595_147</a:t>
            </a:r>
            <a:endParaRPr lang="en-US" sz="2400" dirty="0" smtClean="0"/>
          </a:p>
          <a:p>
            <a:r>
              <a:rPr lang="en-US" sz="2400" dirty="0">
                <a:hlinkClick r:id="rId4"/>
              </a:rPr>
              <a:t>https://www.geeksforgeeks.org/background-subtraction-opencv</a:t>
            </a:r>
            <a:r>
              <a:rPr lang="en-US" sz="2400" dirty="0" smtClean="0">
                <a:hlinkClick r:id="rId4"/>
              </a:rPr>
              <a:t>/</a:t>
            </a:r>
            <a:endParaRPr lang="en-US" sz="2400" dirty="0" smtClean="0"/>
          </a:p>
          <a:p>
            <a:r>
              <a:rPr lang="en-US" sz="2400" dirty="0">
                <a:hlinkClick r:id="rId5"/>
              </a:rPr>
              <a:t>https://www.analyticsvidhya.com/blog/2020/04/vehicle-detection-opencv-python</a:t>
            </a:r>
            <a:r>
              <a:rPr lang="en-US" sz="2400" dirty="0" smtClean="0">
                <a:hlinkClick r:id="rId5"/>
              </a:rPr>
              <a:t>/</a:t>
            </a:r>
            <a:endParaRPr lang="en-US" sz="2400" dirty="0" smtClean="0"/>
          </a:p>
          <a:p>
            <a:endParaRPr lang="en-US" sz="2400" dirty="0" smtClean="0"/>
          </a:p>
          <a:p>
            <a:endParaRPr lang="en-US" dirty="0" smtClean="0"/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>
            <a:spLocks noGrp="1"/>
          </p:cNvSpPr>
          <p:nvPr>
            <p:ph type="sldNum" idx="4294967295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15</a:t>
            </a:fld>
            <a:endParaRPr/>
          </a:p>
        </p:txBody>
      </p:sp>
      <p:sp>
        <p:nvSpPr>
          <p:cNvPr id="403" name="Google Shape;403;p33"/>
          <p:cNvSpPr txBox="1">
            <a:spLocks noGrp="1"/>
          </p:cNvSpPr>
          <p:nvPr>
            <p:ph type="ctrTitle" idx="4294967295"/>
          </p:nvPr>
        </p:nvSpPr>
        <p:spPr>
          <a:xfrm>
            <a:off x="1630364" y="1304604"/>
            <a:ext cx="5468400" cy="15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 sz="12800" dirty="0" smtClean="0">
                <a:solidFill>
                  <a:schemeClr val="bg2">
                    <a:lumMod val="25000"/>
                  </a:schemeClr>
                </a:solidFill>
                <a:latin typeface="Bebas Neue" panose="020B0606020202050201" pitchFamily="34" charset="0"/>
              </a:rPr>
              <a:t>Thank</a:t>
            </a:r>
            <a:r>
              <a:rPr lang="en" sz="12800" dirty="0" smtClean="0">
                <a:solidFill>
                  <a:schemeClr val="accent2"/>
                </a:solidFill>
                <a:latin typeface="Bebas Neue" panose="020B0606020202050201" pitchFamily="34" charset="0"/>
              </a:rPr>
              <a:t> </a:t>
            </a:r>
            <a:r>
              <a:rPr lang="en" sz="12800" dirty="0" smtClean="0">
                <a:solidFill>
                  <a:schemeClr val="bg2">
                    <a:lumMod val="25000"/>
                  </a:schemeClr>
                </a:solidFill>
                <a:latin typeface="Bebas Neue" panose="020B0606020202050201" pitchFamily="34" charset="0"/>
              </a:rPr>
              <a:t>You</a:t>
            </a:r>
            <a:endParaRPr sz="12800" dirty="0">
              <a:solidFill>
                <a:schemeClr val="bg2">
                  <a:lumMod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5" name="Google Shape;403;p33"/>
          <p:cNvSpPr txBox="1">
            <a:spLocks/>
          </p:cNvSpPr>
          <p:nvPr/>
        </p:nvSpPr>
        <p:spPr>
          <a:xfrm>
            <a:off x="4470400" y="3715876"/>
            <a:ext cx="7283827" cy="15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IN" sz="7200" dirty="0">
                <a:solidFill>
                  <a:schemeClr val="bg2">
                    <a:lumMod val="25000"/>
                  </a:schemeClr>
                </a:solidFill>
              </a:rPr>
              <a:t>For your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571122" y="1407552"/>
            <a:ext cx="83127" cy="1336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373" y="594213"/>
            <a:ext cx="2967182" cy="29671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68" y="1185205"/>
            <a:ext cx="1883192" cy="188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0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EIS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AEISS" id="{8AC55EFA-995B-4A8E-94AA-CE41A1AD6D9C}" vid="{89040E12-D837-4D16-AC8D-78834BC1B5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SAEISS</Template>
  <TotalTime>1122</TotalTime>
  <Words>400</Words>
  <Application>Microsoft Office PowerPoint</Application>
  <PresentationFormat>Widescreen</PresentationFormat>
  <Paragraphs>96</Paragraphs>
  <Slides>15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Arial Black</vt:lpstr>
      <vt:lpstr>Arial Narrow</vt:lpstr>
      <vt:lpstr>Barlow</vt:lpstr>
      <vt:lpstr>Barlow Light</vt:lpstr>
      <vt:lpstr>Bebas Neue</vt:lpstr>
      <vt:lpstr>Calibri</vt:lpstr>
      <vt:lpstr>Catamaran</vt:lpstr>
      <vt:lpstr>Merriweather</vt:lpstr>
      <vt:lpstr>urw-din</vt:lpstr>
      <vt:lpstr>Wingdings</vt:lpstr>
      <vt:lpstr>SAEISS</vt:lpstr>
      <vt:lpstr>vehicle detection and counting   </vt:lpstr>
      <vt:lpstr>Content</vt:lpstr>
      <vt:lpstr>Objective</vt:lpstr>
      <vt:lpstr>Libraries used</vt:lpstr>
      <vt:lpstr>Methods that we can follow </vt:lpstr>
      <vt:lpstr>Work flow</vt:lpstr>
      <vt:lpstr>Why?</vt:lpstr>
      <vt:lpstr>Background subtraction and Dilation  </vt:lpstr>
      <vt:lpstr>Where are we right now ?</vt:lpstr>
      <vt:lpstr>Why are we doing this?</vt:lpstr>
      <vt:lpstr>Next steps </vt:lpstr>
      <vt:lpstr>Final Output </vt:lpstr>
      <vt:lpstr>Future Scope 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SAEISS – MC 2018 -2020</dc:title>
  <dc:creator>Alaguvel Armstrong R</dc:creator>
  <cp:lastModifiedBy>Hareesh</cp:lastModifiedBy>
  <cp:revision>70</cp:revision>
  <dcterms:created xsi:type="dcterms:W3CDTF">2018-10-18T13:39:51Z</dcterms:created>
  <dcterms:modified xsi:type="dcterms:W3CDTF">2022-06-11T21:37:42Z</dcterms:modified>
</cp:coreProperties>
</file>