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0267275" cy="42794238"/>
  <p:notesSz cx="7004050" cy="9290050"/>
  <p:defaultText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9">
          <p15:clr>
            <a:srgbClr val="A4A3A4"/>
          </p15:clr>
        </p15:guide>
        <p15:guide id="2" pos="95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60" autoAdjust="0"/>
    <p:restoredTop sz="94676" autoAdjust="0"/>
  </p:normalViewPr>
  <p:slideViewPr>
    <p:cSldViewPr>
      <p:cViewPr>
        <p:scale>
          <a:sx n="33" d="100"/>
          <a:sy n="33" d="100"/>
        </p:scale>
        <p:origin x="2226" y="-3672"/>
      </p:cViewPr>
      <p:guideLst>
        <p:guide orient="horz" pos="13479"/>
        <p:guide pos="9533"/>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48FA61-85F1-4C11-BEFB-3F560E2D3404}" type="doc">
      <dgm:prSet loTypeId="urn:microsoft.com/office/officeart/2009/layout/CircleArrowProcess" loCatId="process" qsTypeId="urn:microsoft.com/office/officeart/2005/8/quickstyle/3d1" qsCatId="3D" csTypeId="urn:microsoft.com/office/officeart/2005/8/colors/accent1_2" csCatId="accent1" phldr="1"/>
      <dgm:spPr/>
      <dgm:t>
        <a:bodyPr/>
        <a:lstStyle/>
        <a:p>
          <a:endParaRPr lang="en-IN"/>
        </a:p>
      </dgm:t>
    </dgm:pt>
    <dgm:pt modelId="{60269BE7-8E29-460D-94A6-47E59FC3DA07}">
      <dgm:prSet phldrT="[Text]"/>
      <dgm:spPr/>
      <dgm:t>
        <a:bodyPr/>
        <a:lstStyle/>
        <a:p>
          <a:r>
            <a:rPr lang="en-US" dirty="0"/>
            <a:t>Thresholding</a:t>
          </a:r>
          <a:endParaRPr lang="en-IN" dirty="0"/>
        </a:p>
      </dgm:t>
    </dgm:pt>
    <dgm:pt modelId="{ABD288D4-9FA4-46C9-821C-53C9C7606D84}" type="parTrans" cxnId="{D4563E39-98BC-4EEF-8B3E-AA1563D479B6}">
      <dgm:prSet/>
      <dgm:spPr/>
      <dgm:t>
        <a:bodyPr/>
        <a:lstStyle/>
        <a:p>
          <a:endParaRPr lang="en-IN"/>
        </a:p>
      </dgm:t>
    </dgm:pt>
    <dgm:pt modelId="{84328D36-ECEC-4DA1-A2E0-E02C1949BD7B}" type="sibTrans" cxnId="{D4563E39-98BC-4EEF-8B3E-AA1563D479B6}">
      <dgm:prSet/>
      <dgm:spPr/>
      <dgm:t>
        <a:bodyPr/>
        <a:lstStyle/>
        <a:p>
          <a:endParaRPr lang="en-IN"/>
        </a:p>
      </dgm:t>
    </dgm:pt>
    <dgm:pt modelId="{C7CEAA36-B620-429D-A7CA-23C9EB9A0339}">
      <dgm:prSet phldrT="[Text]"/>
      <dgm:spPr/>
      <dgm:t>
        <a:bodyPr/>
        <a:lstStyle/>
        <a:p>
          <a:r>
            <a:rPr lang="en-US" dirty="0"/>
            <a:t>Perspective Transform</a:t>
          </a:r>
          <a:endParaRPr lang="en-IN" dirty="0"/>
        </a:p>
      </dgm:t>
    </dgm:pt>
    <dgm:pt modelId="{FE1D3ADC-1594-4F3D-8F86-83D6F11041B9}" type="parTrans" cxnId="{74BB0AB5-CD55-40E8-944D-7752FFF6BDAB}">
      <dgm:prSet/>
      <dgm:spPr/>
      <dgm:t>
        <a:bodyPr/>
        <a:lstStyle/>
        <a:p>
          <a:endParaRPr lang="en-IN"/>
        </a:p>
      </dgm:t>
    </dgm:pt>
    <dgm:pt modelId="{75193E40-1490-41EA-AFE4-D449B5231A2A}" type="sibTrans" cxnId="{74BB0AB5-CD55-40E8-944D-7752FFF6BDAB}">
      <dgm:prSet/>
      <dgm:spPr/>
      <dgm:t>
        <a:bodyPr/>
        <a:lstStyle/>
        <a:p>
          <a:endParaRPr lang="en-IN"/>
        </a:p>
      </dgm:t>
    </dgm:pt>
    <dgm:pt modelId="{2EC5BFBF-CB11-4D25-9313-F912740C5AE2}">
      <dgm:prSet phldrT="[Text]"/>
      <dgm:spPr/>
      <dgm:t>
        <a:bodyPr/>
        <a:lstStyle/>
        <a:p>
          <a:r>
            <a:rPr lang="en-US" dirty="0"/>
            <a:t>Lane Pixel Identification</a:t>
          </a:r>
          <a:endParaRPr lang="en-IN" dirty="0"/>
        </a:p>
      </dgm:t>
    </dgm:pt>
    <dgm:pt modelId="{1E07225F-1E71-4477-A51E-686D9E380CE4}" type="parTrans" cxnId="{1C641917-5519-4D31-B13E-7DBD9E5C17B9}">
      <dgm:prSet/>
      <dgm:spPr/>
      <dgm:t>
        <a:bodyPr/>
        <a:lstStyle/>
        <a:p>
          <a:endParaRPr lang="en-IN"/>
        </a:p>
      </dgm:t>
    </dgm:pt>
    <dgm:pt modelId="{74513BDC-0F0F-435A-9B11-A80A8FC2DFA8}" type="sibTrans" cxnId="{1C641917-5519-4D31-B13E-7DBD9E5C17B9}">
      <dgm:prSet/>
      <dgm:spPr/>
      <dgm:t>
        <a:bodyPr/>
        <a:lstStyle/>
        <a:p>
          <a:endParaRPr lang="en-IN"/>
        </a:p>
      </dgm:t>
    </dgm:pt>
    <dgm:pt modelId="{6271CB4C-4C5E-4009-9CDB-C9299B691CA5}">
      <dgm:prSet phldrT="[Text]"/>
      <dgm:spPr/>
      <dgm:t>
        <a:bodyPr/>
        <a:lstStyle/>
        <a:p>
          <a:r>
            <a:rPr lang="en-US" dirty="0"/>
            <a:t>Overlay of Detected Lanes on </a:t>
          </a:r>
          <a:r>
            <a:rPr lang="en-US"/>
            <a:t>Raw Image  </a:t>
          </a:r>
          <a:endParaRPr lang="en-IN" dirty="0"/>
        </a:p>
      </dgm:t>
    </dgm:pt>
    <dgm:pt modelId="{E0270C8F-4D02-453D-B2C2-742483995E55}" type="parTrans" cxnId="{2F2ACE20-061E-473E-BBBB-DECB2FC8AEC4}">
      <dgm:prSet/>
      <dgm:spPr/>
      <dgm:t>
        <a:bodyPr/>
        <a:lstStyle/>
        <a:p>
          <a:endParaRPr lang="en-IN"/>
        </a:p>
      </dgm:t>
    </dgm:pt>
    <dgm:pt modelId="{C9DC8EBA-60A3-4015-A161-29EBA47CB11A}" type="sibTrans" cxnId="{2F2ACE20-061E-473E-BBBB-DECB2FC8AEC4}">
      <dgm:prSet/>
      <dgm:spPr/>
      <dgm:t>
        <a:bodyPr/>
        <a:lstStyle/>
        <a:p>
          <a:endParaRPr lang="en-IN"/>
        </a:p>
      </dgm:t>
    </dgm:pt>
    <dgm:pt modelId="{7C8ABFE0-AF9B-4E11-9727-56D631555890}" type="pres">
      <dgm:prSet presAssocID="{DD48FA61-85F1-4C11-BEFB-3F560E2D3404}" presName="Name0" presStyleCnt="0">
        <dgm:presLayoutVars>
          <dgm:chMax val="7"/>
          <dgm:chPref val="7"/>
          <dgm:dir/>
          <dgm:animLvl val="lvl"/>
        </dgm:presLayoutVars>
      </dgm:prSet>
      <dgm:spPr/>
    </dgm:pt>
    <dgm:pt modelId="{3B93A01F-E454-46FD-82D1-B568871D6F5A}" type="pres">
      <dgm:prSet presAssocID="{60269BE7-8E29-460D-94A6-47E59FC3DA07}" presName="Accent1" presStyleCnt="0"/>
      <dgm:spPr/>
    </dgm:pt>
    <dgm:pt modelId="{7A7E1E6B-ED67-42BC-BDB0-5DCD83EA6A13}" type="pres">
      <dgm:prSet presAssocID="{60269BE7-8E29-460D-94A6-47E59FC3DA07}" presName="Accent" presStyleLbl="node1" presStyleIdx="0" presStyleCnt="4"/>
      <dgm:spPr/>
    </dgm:pt>
    <dgm:pt modelId="{0CB0E712-B952-47C4-B181-AD4BB241787F}" type="pres">
      <dgm:prSet presAssocID="{60269BE7-8E29-460D-94A6-47E59FC3DA07}" presName="Parent1" presStyleLbl="revTx" presStyleIdx="0" presStyleCnt="4">
        <dgm:presLayoutVars>
          <dgm:chMax val="1"/>
          <dgm:chPref val="1"/>
          <dgm:bulletEnabled val="1"/>
        </dgm:presLayoutVars>
      </dgm:prSet>
      <dgm:spPr/>
    </dgm:pt>
    <dgm:pt modelId="{8C97DA33-B1AD-4383-90D6-F0287B782490}" type="pres">
      <dgm:prSet presAssocID="{C7CEAA36-B620-429D-A7CA-23C9EB9A0339}" presName="Accent2" presStyleCnt="0"/>
      <dgm:spPr/>
    </dgm:pt>
    <dgm:pt modelId="{3A32F57E-0EFC-4BA5-B0B0-AE829EB092B8}" type="pres">
      <dgm:prSet presAssocID="{C7CEAA36-B620-429D-A7CA-23C9EB9A0339}" presName="Accent" presStyleLbl="node1" presStyleIdx="1" presStyleCnt="4"/>
      <dgm:spPr/>
    </dgm:pt>
    <dgm:pt modelId="{1E319B15-2CFE-458A-AA46-F1E70E2A84B7}" type="pres">
      <dgm:prSet presAssocID="{C7CEAA36-B620-429D-A7CA-23C9EB9A0339}" presName="Parent2" presStyleLbl="revTx" presStyleIdx="1" presStyleCnt="4">
        <dgm:presLayoutVars>
          <dgm:chMax val="1"/>
          <dgm:chPref val="1"/>
          <dgm:bulletEnabled val="1"/>
        </dgm:presLayoutVars>
      </dgm:prSet>
      <dgm:spPr/>
    </dgm:pt>
    <dgm:pt modelId="{72A4E5F4-DAB2-4E4E-A21D-B8E1324B71A9}" type="pres">
      <dgm:prSet presAssocID="{2EC5BFBF-CB11-4D25-9313-F912740C5AE2}" presName="Accent3" presStyleCnt="0"/>
      <dgm:spPr/>
    </dgm:pt>
    <dgm:pt modelId="{11FB1089-431C-498C-AACD-74D772AC47BB}" type="pres">
      <dgm:prSet presAssocID="{2EC5BFBF-CB11-4D25-9313-F912740C5AE2}" presName="Accent" presStyleLbl="node1" presStyleIdx="2" presStyleCnt="4"/>
      <dgm:spPr/>
    </dgm:pt>
    <dgm:pt modelId="{9DE68099-EEF5-4CF6-8F88-E66FB65DED45}" type="pres">
      <dgm:prSet presAssocID="{2EC5BFBF-CB11-4D25-9313-F912740C5AE2}" presName="Parent3" presStyleLbl="revTx" presStyleIdx="2" presStyleCnt="4">
        <dgm:presLayoutVars>
          <dgm:chMax val="1"/>
          <dgm:chPref val="1"/>
          <dgm:bulletEnabled val="1"/>
        </dgm:presLayoutVars>
      </dgm:prSet>
      <dgm:spPr/>
    </dgm:pt>
    <dgm:pt modelId="{9D7EE9D2-64E4-4C26-AF97-A5D33F231D60}" type="pres">
      <dgm:prSet presAssocID="{6271CB4C-4C5E-4009-9CDB-C9299B691CA5}" presName="Accent4" presStyleCnt="0"/>
      <dgm:spPr/>
    </dgm:pt>
    <dgm:pt modelId="{D09661B0-4F13-4CD1-9B71-82AC938CDAC0}" type="pres">
      <dgm:prSet presAssocID="{6271CB4C-4C5E-4009-9CDB-C9299B691CA5}" presName="Accent" presStyleLbl="node1" presStyleIdx="3" presStyleCnt="4"/>
      <dgm:spPr/>
    </dgm:pt>
    <dgm:pt modelId="{C0AC37C9-6DD7-4C80-BADA-6605C1D59B7E}" type="pres">
      <dgm:prSet presAssocID="{6271CB4C-4C5E-4009-9CDB-C9299B691CA5}" presName="Parent4" presStyleLbl="revTx" presStyleIdx="3" presStyleCnt="4">
        <dgm:presLayoutVars>
          <dgm:chMax val="1"/>
          <dgm:chPref val="1"/>
          <dgm:bulletEnabled val="1"/>
        </dgm:presLayoutVars>
      </dgm:prSet>
      <dgm:spPr/>
    </dgm:pt>
  </dgm:ptLst>
  <dgm:cxnLst>
    <dgm:cxn modelId="{1C641917-5519-4D31-B13E-7DBD9E5C17B9}" srcId="{DD48FA61-85F1-4C11-BEFB-3F560E2D3404}" destId="{2EC5BFBF-CB11-4D25-9313-F912740C5AE2}" srcOrd="2" destOrd="0" parTransId="{1E07225F-1E71-4477-A51E-686D9E380CE4}" sibTransId="{74513BDC-0F0F-435A-9B11-A80A8FC2DFA8}"/>
    <dgm:cxn modelId="{2F2ACE20-061E-473E-BBBB-DECB2FC8AEC4}" srcId="{DD48FA61-85F1-4C11-BEFB-3F560E2D3404}" destId="{6271CB4C-4C5E-4009-9CDB-C9299B691CA5}" srcOrd="3" destOrd="0" parTransId="{E0270C8F-4D02-453D-B2C2-742483995E55}" sibTransId="{C9DC8EBA-60A3-4015-A161-29EBA47CB11A}"/>
    <dgm:cxn modelId="{3EE1D530-1B3B-41F2-B8B9-ECA7EE5130B9}" type="presOf" srcId="{6271CB4C-4C5E-4009-9CDB-C9299B691CA5}" destId="{C0AC37C9-6DD7-4C80-BADA-6605C1D59B7E}" srcOrd="0" destOrd="0" presId="urn:microsoft.com/office/officeart/2009/layout/CircleArrowProcess"/>
    <dgm:cxn modelId="{D4563E39-98BC-4EEF-8B3E-AA1563D479B6}" srcId="{DD48FA61-85F1-4C11-BEFB-3F560E2D3404}" destId="{60269BE7-8E29-460D-94A6-47E59FC3DA07}" srcOrd="0" destOrd="0" parTransId="{ABD288D4-9FA4-46C9-821C-53C9C7606D84}" sibTransId="{84328D36-ECEC-4DA1-A2E0-E02C1949BD7B}"/>
    <dgm:cxn modelId="{2E125041-5D61-4B8E-8CD8-B10FB32D9B05}" type="presOf" srcId="{60269BE7-8E29-460D-94A6-47E59FC3DA07}" destId="{0CB0E712-B952-47C4-B181-AD4BB241787F}" srcOrd="0" destOrd="0" presId="urn:microsoft.com/office/officeart/2009/layout/CircleArrowProcess"/>
    <dgm:cxn modelId="{74BB0AB5-CD55-40E8-944D-7752FFF6BDAB}" srcId="{DD48FA61-85F1-4C11-BEFB-3F560E2D3404}" destId="{C7CEAA36-B620-429D-A7CA-23C9EB9A0339}" srcOrd="1" destOrd="0" parTransId="{FE1D3ADC-1594-4F3D-8F86-83D6F11041B9}" sibTransId="{75193E40-1490-41EA-AFE4-D449B5231A2A}"/>
    <dgm:cxn modelId="{EBBE62C5-06A0-4DC9-BAC3-BF0A9BEC0491}" type="presOf" srcId="{C7CEAA36-B620-429D-A7CA-23C9EB9A0339}" destId="{1E319B15-2CFE-458A-AA46-F1E70E2A84B7}" srcOrd="0" destOrd="0" presId="urn:microsoft.com/office/officeart/2009/layout/CircleArrowProcess"/>
    <dgm:cxn modelId="{0EEE57F5-8C93-4FF2-B24A-308619D8D8FF}" type="presOf" srcId="{2EC5BFBF-CB11-4D25-9313-F912740C5AE2}" destId="{9DE68099-EEF5-4CF6-8F88-E66FB65DED45}" srcOrd="0" destOrd="0" presId="urn:microsoft.com/office/officeart/2009/layout/CircleArrowProcess"/>
    <dgm:cxn modelId="{635119FC-1E36-4646-8EA6-567834826F09}" type="presOf" srcId="{DD48FA61-85F1-4C11-BEFB-3F560E2D3404}" destId="{7C8ABFE0-AF9B-4E11-9727-56D631555890}" srcOrd="0" destOrd="0" presId="urn:microsoft.com/office/officeart/2009/layout/CircleArrowProcess"/>
    <dgm:cxn modelId="{E1DF2372-0ECB-441C-B053-EAFFA80757FB}" type="presParOf" srcId="{7C8ABFE0-AF9B-4E11-9727-56D631555890}" destId="{3B93A01F-E454-46FD-82D1-B568871D6F5A}" srcOrd="0" destOrd="0" presId="urn:microsoft.com/office/officeart/2009/layout/CircleArrowProcess"/>
    <dgm:cxn modelId="{EECFAC81-7F9D-49AC-B850-581D06431C2D}" type="presParOf" srcId="{3B93A01F-E454-46FD-82D1-B568871D6F5A}" destId="{7A7E1E6B-ED67-42BC-BDB0-5DCD83EA6A13}" srcOrd="0" destOrd="0" presId="urn:microsoft.com/office/officeart/2009/layout/CircleArrowProcess"/>
    <dgm:cxn modelId="{5845ABE2-567E-4876-BCC2-C187D79A02C7}" type="presParOf" srcId="{7C8ABFE0-AF9B-4E11-9727-56D631555890}" destId="{0CB0E712-B952-47C4-B181-AD4BB241787F}" srcOrd="1" destOrd="0" presId="urn:microsoft.com/office/officeart/2009/layout/CircleArrowProcess"/>
    <dgm:cxn modelId="{7DD0FF37-C4CA-42E5-B4BE-DCBFF0026197}" type="presParOf" srcId="{7C8ABFE0-AF9B-4E11-9727-56D631555890}" destId="{8C97DA33-B1AD-4383-90D6-F0287B782490}" srcOrd="2" destOrd="0" presId="urn:microsoft.com/office/officeart/2009/layout/CircleArrowProcess"/>
    <dgm:cxn modelId="{F7689F88-FE82-433E-80C6-8B7AF8E877FF}" type="presParOf" srcId="{8C97DA33-B1AD-4383-90D6-F0287B782490}" destId="{3A32F57E-0EFC-4BA5-B0B0-AE829EB092B8}" srcOrd="0" destOrd="0" presId="urn:microsoft.com/office/officeart/2009/layout/CircleArrowProcess"/>
    <dgm:cxn modelId="{AF836FE3-7D78-4AE8-8360-10DBDD564CD4}" type="presParOf" srcId="{7C8ABFE0-AF9B-4E11-9727-56D631555890}" destId="{1E319B15-2CFE-458A-AA46-F1E70E2A84B7}" srcOrd="3" destOrd="0" presId="urn:microsoft.com/office/officeart/2009/layout/CircleArrowProcess"/>
    <dgm:cxn modelId="{CA59BB39-8DF8-4B77-AD77-0EFAE4A27AA3}" type="presParOf" srcId="{7C8ABFE0-AF9B-4E11-9727-56D631555890}" destId="{72A4E5F4-DAB2-4E4E-A21D-B8E1324B71A9}" srcOrd="4" destOrd="0" presId="urn:microsoft.com/office/officeart/2009/layout/CircleArrowProcess"/>
    <dgm:cxn modelId="{CDD90C26-C2FE-408B-8804-708538A156D7}" type="presParOf" srcId="{72A4E5F4-DAB2-4E4E-A21D-B8E1324B71A9}" destId="{11FB1089-431C-498C-AACD-74D772AC47BB}" srcOrd="0" destOrd="0" presId="urn:microsoft.com/office/officeart/2009/layout/CircleArrowProcess"/>
    <dgm:cxn modelId="{048B6CA5-FE36-4E64-81A4-B0C84568E7F0}" type="presParOf" srcId="{7C8ABFE0-AF9B-4E11-9727-56D631555890}" destId="{9DE68099-EEF5-4CF6-8F88-E66FB65DED45}" srcOrd="5" destOrd="0" presId="urn:microsoft.com/office/officeart/2009/layout/CircleArrowProcess"/>
    <dgm:cxn modelId="{95BB4F30-69AC-408E-B5F9-5BBDEBEAD92E}" type="presParOf" srcId="{7C8ABFE0-AF9B-4E11-9727-56D631555890}" destId="{9D7EE9D2-64E4-4C26-AF97-A5D33F231D60}" srcOrd="6" destOrd="0" presId="urn:microsoft.com/office/officeart/2009/layout/CircleArrowProcess"/>
    <dgm:cxn modelId="{064EA345-8118-40A4-A1C0-4478BEF21794}" type="presParOf" srcId="{9D7EE9D2-64E4-4C26-AF97-A5D33F231D60}" destId="{D09661B0-4F13-4CD1-9B71-82AC938CDAC0}" srcOrd="0" destOrd="0" presId="urn:microsoft.com/office/officeart/2009/layout/CircleArrowProcess"/>
    <dgm:cxn modelId="{99B6B2AA-70F2-4E81-86B0-4EB176782EA0}" type="presParOf" srcId="{7C8ABFE0-AF9B-4E11-9727-56D631555890}" destId="{C0AC37C9-6DD7-4C80-BADA-6605C1D59B7E}" srcOrd="7" destOrd="0" presId="urn:microsoft.com/office/officeart/2009/layout/CircleArrowProcess"/>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E1E6B-ED67-42BC-BDB0-5DCD83EA6A13}">
      <dsp:nvSpPr>
        <dsp:cNvPr id="0" name=""/>
        <dsp:cNvSpPr/>
      </dsp:nvSpPr>
      <dsp:spPr>
        <a:xfrm>
          <a:off x="7362731" y="0"/>
          <a:ext cx="5647971" cy="5648546"/>
        </a:xfrm>
        <a:prstGeom prst="circularArrow">
          <a:avLst>
            <a:gd name="adj1" fmla="val 10980"/>
            <a:gd name="adj2" fmla="val 1142322"/>
            <a:gd name="adj3" fmla="val 4500000"/>
            <a:gd name="adj4" fmla="val 10800000"/>
            <a:gd name="adj5" fmla="val 125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CB0E712-B952-47C4-B181-AD4BB241787F}">
      <dsp:nvSpPr>
        <dsp:cNvPr id="0" name=""/>
        <dsp:cNvSpPr/>
      </dsp:nvSpPr>
      <dsp:spPr>
        <a:xfrm>
          <a:off x="8609713" y="2044621"/>
          <a:ext cx="3151888" cy="157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t>Thresholding</a:t>
          </a:r>
          <a:endParaRPr lang="en-IN" sz="3600" kern="1200" dirty="0"/>
        </a:p>
      </dsp:txBody>
      <dsp:txXfrm>
        <a:off x="8609713" y="2044621"/>
        <a:ext cx="3151888" cy="1575781"/>
      </dsp:txXfrm>
    </dsp:sp>
    <dsp:sp modelId="{3A32F57E-0EFC-4BA5-B0B0-AE829EB092B8}">
      <dsp:nvSpPr>
        <dsp:cNvPr id="0" name=""/>
        <dsp:cNvSpPr/>
      </dsp:nvSpPr>
      <dsp:spPr>
        <a:xfrm>
          <a:off x="5793673" y="3245929"/>
          <a:ext cx="5647971" cy="5648546"/>
        </a:xfrm>
        <a:prstGeom prst="leftCircularArrow">
          <a:avLst>
            <a:gd name="adj1" fmla="val 10980"/>
            <a:gd name="adj2" fmla="val 1142322"/>
            <a:gd name="adj3" fmla="val 6300000"/>
            <a:gd name="adj4" fmla="val 18900000"/>
            <a:gd name="adj5" fmla="val 125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E319B15-2CFE-458A-AA46-F1E70E2A84B7}">
      <dsp:nvSpPr>
        <dsp:cNvPr id="0" name=""/>
        <dsp:cNvSpPr/>
      </dsp:nvSpPr>
      <dsp:spPr>
        <a:xfrm>
          <a:off x="7034299" y="5296542"/>
          <a:ext cx="3151888" cy="157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t>Perspective Transform</a:t>
          </a:r>
          <a:endParaRPr lang="en-IN" sz="3600" kern="1200" dirty="0"/>
        </a:p>
      </dsp:txBody>
      <dsp:txXfrm>
        <a:off x="7034299" y="5296542"/>
        <a:ext cx="3151888" cy="1575781"/>
      </dsp:txXfrm>
    </dsp:sp>
    <dsp:sp modelId="{11FB1089-431C-498C-AACD-74D772AC47BB}">
      <dsp:nvSpPr>
        <dsp:cNvPr id="0" name=""/>
        <dsp:cNvSpPr/>
      </dsp:nvSpPr>
      <dsp:spPr>
        <a:xfrm>
          <a:off x="7362731" y="6503842"/>
          <a:ext cx="5647971" cy="5648546"/>
        </a:xfrm>
        <a:prstGeom prst="circularArrow">
          <a:avLst>
            <a:gd name="adj1" fmla="val 10980"/>
            <a:gd name="adj2" fmla="val 1142322"/>
            <a:gd name="adj3" fmla="val 4500000"/>
            <a:gd name="adj4" fmla="val 13500000"/>
            <a:gd name="adj5" fmla="val 125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DE68099-EEF5-4CF6-8F88-E66FB65DED45}">
      <dsp:nvSpPr>
        <dsp:cNvPr id="0" name=""/>
        <dsp:cNvSpPr/>
      </dsp:nvSpPr>
      <dsp:spPr>
        <a:xfrm>
          <a:off x="8609713" y="8548463"/>
          <a:ext cx="3151888" cy="157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t>Lane Pixel Identification</a:t>
          </a:r>
          <a:endParaRPr lang="en-IN" sz="3600" kern="1200" dirty="0"/>
        </a:p>
      </dsp:txBody>
      <dsp:txXfrm>
        <a:off x="8609713" y="8548463"/>
        <a:ext cx="3151888" cy="1575781"/>
      </dsp:txXfrm>
    </dsp:sp>
    <dsp:sp modelId="{D09661B0-4F13-4CD1-9B71-82AC938CDAC0}">
      <dsp:nvSpPr>
        <dsp:cNvPr id="0" name=""/>
        <dsp:cNvSpPr/>
      </dsp:nvSpPr>
      <dsp:spPr>
        <a:xfrm>
          <a:off x="6196267" y="10124244"/>
          <a:ext cx="4852318" cy="4854664"/>
        </a:xfrm>
        <a:prstGeom prst="blockArc">
          <a:avLst>
            <a:gd name="adj1" fmla="val 0"/>
            <a:gd name="adj2" fmla="val 18900000"/>
            <a:gd name="adj3" fmla="val 1274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C0AC37C9-6DD7-4C80-BADA-6605C1D59B7E}">
      <dsp:nvSpPr>
        <dsp:cNvPr id="0" name=""/>
        <dsp:cNvSpPr/>
      </dsp:nvSpPr>
      <dsp:spPr>
        <a:xfrm>
          <a:off x="7034299" y="11800384"/>
          <a:ext cx="3151888" cy="157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kern="1200" dirty="0"/>
            <a:t>Overlay of Detected Lanes on </a:t>
          </a:r>
          <a:r>
            <a:rPr lang="en-US" sz="3600" kern="1200"/>
            <a:t>Raw Image  </a:t>
          </a:r>
          <a:endParaRPr lang="en-IN" sz="3600" kern="1200" dirty="0"/>
        </a:p>
      </dsp:txBody>
      <dsp:txXfrm>
        <a:off x="7034299" y="11800384"/>
        <a:ext cx="3151888" cy="157578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Rectangle 10"/>
          <p:cNvSpPr/>
          <p:nvPr userDrawn="1"/>
        </p:nvSpPr>
        <p:spPr>
          <a:xfrm>
            <a:off x="29426517"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10" name="Rectangle 9"/>
          <p:cNvSpPr/>
          <p:nvPr userDrawn="1"/>
        </p:nvSpPr>
        <p:spPr>
          <a:xfrm>
            <a:off x="0" y="0"/>
            <a:ext cx="840758" cy="427942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7" name="Rectangle 6"/>
          <p:cNvSpPr/>
          <p:nvPr userDrawn="1"/>
        </p:nvSpPr>
        <p:spPr>
          <a:xfrm>
            <a:off x="0" y="0"/>
            <a:ext cx="30267275" cy="534927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8" name="Rectangle 7"/>
          <p:cNvSpPr/>
          <p:nvPr userDrawn="1"/>
        </p:nvSpPr>
        <p:spPr>
          <a:xfrm>
            <a:off x="0" y="37444959"/>
            <a:ext cx="30267275" cy="534927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endParaRPr lang="en-US" dirty="0"/>
          </a:p>
        </p:txBody>
      </p:sp>
      <p:sp>
        <p:nvSpPr>
          <p:cNvPr id="9" name="Instructions"/>
          <p:cNvSpPr/>
          <p:nvPr userDrawn="1"/>
        </p:nvSpPr>
        <p:spPr>
          <a:xfrm>
            <a:off x="-12611365" y="0"/>
            <a:ext cx="11770607" cy="427942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7425" tIns="217425" rIns="217425" bIns="217425"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rgbClr val="7F7F7F"/>
                </a:solidFill>
                <a:latin typeface="Calibri" pitchFamily="34" charset="0"/>
                <a:cs typeface="Calibri" panose="020F0502020204030204" pitchFamily="34" charset="0"/>
              </a:rPr>
              <a:t>Poster Print Size:</a:t>
            </a:r>
            <a:endParaRPr sz="88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This poster template is set up for A0</a:t>
            </a:r>
            <a:r>
              <a:rPr lang="en-US" sz="6000" baseline="0" dirty="0">
                <a:solidFill>
                  <a:srgbClr val="7F7F7F"/>
                </a:solidFill>
                <a:latin typeface="Calibri" pitchFamily="34" charset="0"/>
                <a:cs typeface="Calibri" panose="020F0502020204030204" pitchFamily="34" charset="0"/>
              </a:rPr>
              <a:t> international paper size of 1189 mm x 841 mm</a:t>
            </a:r>
            <a:r>
              <a:rPr lang="en-US" sz="6000" dirty="0">
                <a:solidFill>
                  <a:srgbClr val="7F7F7F"/>
                </a:solidFill>
                <a:latin typeface="Calibri" pitchFamily="34" charset="0"/>
                <a:cs typeface="Calibri" panose="020F0502020204030204" pitchFamily="34" charset="0"/>
              </a:rPr>
              <a:t> (46.8” high by 33.1” wide). It can be printed at</a:t>
            </a:r>
            <a:r>
              <a:rPr lang="en-US" sz="6000" baseline="0" dirty="0">
                <a:solidFill>
                  <a:srgbClr val="7F7F7F"/>
                </a:solidFill>
                <a:latin typeface="Calibri" pitchFamily="34" charset="0"/>
                <a:cs typeface="Calibri" panose="020F0502020204030204" pitchFamily="34" charset="0"/>
              </a:rPr>
              <a:t> 70.6% for an A1 poster of 841 mm x 594 mm.</a:t>
            </a:r>
            <a:endParaRPr lang="en-US" sz="6000" dirty="0">
              <a:solidFill>
                <a:srgbClr val="7F7F7F"/>
              </a:solidFill>
              <a:latin typeface="Calibri" pitchFamily="34" charset="0"/>
              <a:cs typeface="Calibri" panose="020F0502020204030204" pitchFamily="34" charset="0"/>
            </a:endParaRPr>
          </a:p>
          <a:p>
            <a:pPr lvl="0">
              <a:spcBef>
                <a:spcPts val="0"/>
              </a:spcBef>
              <a:spcAft>
                <a:spcPts val="2282"/>
              </a:spcAft>
            </a:pPr>
            <a:r>
              <a:rPr lang="en-US" sz="8800" dirty="0">
                <a:solidFill>
                  <a:srgbClr val="7F7F7F"/>
                </a:solidFill>
                <a:latin typeface="Calibri" pitchFamily="34" charset="0"/>
                <a:cs typeface="Calibri" panose="020F0502020204030204" pitchFamily="34" charset="0"/>
              </a:rPr>
              <a:t>Placeholders</a:t>
            </a:r>
            <a:r>
              <a:rPr sz="8800" dirty="0">
                <a:solidFill>
                  <a:srgbClr val="7F7F7F"/>
                </a:solidFill>
                <a:latin typeface="Calibri" pitchFamily="34" charset="0"/>
                <a:cs typeface="Calibri" panose="020F0502020204030204" pitchFamily="34" charset="0"/>
              </a:rPr>
              <a:t>:</a:t>
            </a:r>
          </a:p>
          <a:p>
            <a:pPr lvl="0">
              <a:spcBef>
                <a:spcPts val="0"/>
              </a:spcBef>
              <a:spcAft>
                <a:spcPts val="2282"/>
              </a:spcAft>
            </a:pPr>
            <a:r>
              <a:rPr sz="6000" dirty="0">
                <a:solidFill>
                  <a:srgbClr val="7F7F7F"/>
                </a:solidFill>
                <a:latin typeface="Calibri" pitchFamily="34" charset="0"/>
                <a:cs typeface="Calibri" panose="020F0502020204030204" pitchFamily="34" charset="0"/>
              </a:rPr>
              <a:t>The </a:t>
            </a:r>
            <a:r>
              <a:rPr lang="en-US" sz="6000" dirty="0">
                <a:solidFill>
                  <a:srgbClr val="7F7F7F"/>
                </a:solidFill>
                <a:latin typeface="Calibri" pitchFamily="34" charset="0"/>
                <a:cs typeface="Calibri" panose="020F0502020204030204" pitchFamily="34" charset="0"/>
              </a:rPr>
              <a:t>various elements included</a:t>
            </a:r>
            <a:r>
              <a:rPr sz="6000" dirty="0">
                <a:solidFill>
                  <a:srgbClr val="7F7F7F"/>
                </a:solidFill>
                <a:latin typeface="Calibri" pitchFamily="34" charset="0"/>
                <a:cs typeface="Calibri" panose="020F0502020204030204" pitchFamily="34" charset="0"/>
              </a:rPr>
              <a:t> in this </a:t>
            </a:r>
            <a:r>
              <a:rPr lang="en-US" sz="6000" dirty="0">
                <a:solidFill>
                  <a:srgbClr val="7F7F7F"/>
                </a:solidFill>
                <a:latin typeface="Calibri" pitchFamily="34" charset="0"/>
                <a:cs typeface="Calibri" panose="020F0502020204030204" pitchFamily="34" charset="0"/>
              </a:rPr>
              <a:t>poster are ones</a:t>
            </a:r>
            <a:r>
              <a:rPr lang="en-US" sz="6000" baseline="0" dirty="0">
                <a:solidFill>
                  <a:srgbClr val="7F7F7F"/>
                </a:solidFill>
                <a:latin typeface="Calibri" pitchFamily="34" charset="0"/>
                <a:cs typeface="Calibri" panose="020F0502020204030204" pitchFamily="34" charset="0"/>
              </a:rPr>
              <a:t> we often see in medical, research, and scientific posters.</a:t>
            </a:r>
            <a:r>
              <a:rPr sz="6000" dirty="0">
                <a:solidFill>
                  <a:srgbClr val="7F7F7F"/>
                </a:solidFill>
                <a:latin typeface="Calibri" pitchFamily="34" charset="0"/>
                <a:cs typeface="Calibri" panose="020F0502020204030204" pitchFamily="34" charset="0"/>
              </a:rPr>
              <a:t> </a:t>
            </a:r>
            <a:r>
              <a:rPr lang="en-US" sz="6000" dirty="0">
                <a:solidFill>
                  <a:srgbClr val="7F7F7F"/>
                </a:solidFill>
                <a:latin typeface="Calibri" pitchFamily="34" charset="0"/>
                <a:cs typeface="Calibri" panose="020F0502020204030204" pitchFamily="34" charset="0"/>
              </a:rPr>
              <a:t>Feel</a:t>
            </a:r>
            <a:r>
              <a:rPr lang="en-US" sz="60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282"/>
              </a:spcAft>
            </a:pPr>
            <a:r>
              <a:rPr lang="en-US" sz="8800" dirty="0">
                <a:solidFill>
                  <a:srgbClr val="7F7F7F"/>
                </a:solidFill>
                <a:latin typeface="Calibri" pitchFamily="34" charset="0"/>
                <a:cs typeface="Calibri" panose="020F0502020204030204" pitchFamily="34" charset="0"/>
              </a:rPr>
              <a:t>Image</a:t>
            </a:r>
            <a:r>
              <a:rPr lang="en-US" sz="8800" baseline="0" dirty="0">
                <a:solidFill>
                  <a:srgbClr val="7F7F7F"/>
                </a:solidFill>
                <a:latin typeface="Calibri" pitchFamily="34" charset="0"/>
                <a:cs typeface="Calibri" panose="020F0502020204030204" pitchFamily="34" charset="0"/>
              </a:rPr>
              <a:t> Quality</a:t>
            </a:r>
            <a:r>
              <a:rPr lang="en-US" sz="8800" dirty="0">
                <a:solidFill>
                  <a:srgbClr val="7F7F7F"/>
                </a:solidFill>
                <a:latin typeface="Calibri" pitchFamily="34" charset="0"/>
                <a:cs typeface="Calibri" panose="020F0502020204030204" pitchFamily="34" charset="0"/>
              </a:rPr>
              <a:t>:</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You can place digital photos or logo art in your poster file by selecting the </a:t>
            </a:r>
            <a:r>
              <a:rPr lang="en-US" sz="6000" b="1" dirty="0">
                <a:solidFill>
                  <a:srgbClr val="7F7F7F"/>
                </a:solidFill>
                <a:latin typeface="Calibri" pitchFamily="34" charset="0"/>
                <a:cs typeface="Calibri" panose="020F0502020204030204" pitchFamily="34" charset="0"/>
              </a:rPr>
              <a:t>Insert, Picture</a:t>
            </a:r>
            <a:r>
              <a:rPr lang="en-US" sz="60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000" b="1" dirty="0">
                <a:solidFill>
                  <a:srgbClr val="7F7F7F"/>
                </a:solidFill>
                <a:latin typeface="Calibri" pitchFamily="34" charset="0"/>
                <a:cs typeface="Calibri" panose="020F0502020204030204" pitchFamily="34" charset="0"/>
              </a:rPr>
              <a:t>150-200 pixels per inch in their final printed size</a:t>
            </a:r>
            <a:r>
              <a:rPr lang="en-US" sz="6000" dirty="0">
                <a:solidFill>
                  <a:srgbClr val="7F7F7F"/>
                </a:solidFill>
                <a:latin typeface="Calibri" pitchFamily="34" charset="0"/>
                <a:cs typeface="Calibri" panose="020F0502020204030204" pitchFamily="34" charset="0"/>
              </a:rPr>
              <a:t>. For instance, a 1600 x 1200 pixel</a:t>
            </a:r>
            <a:r>
              <a:rPr lang="en-US" sz="6000" baseline="0" dirty="0">
                <a:solidFill>
                  <a:srgbClr val="7F7F7F"/>
                </a:solidFill>
                <a:latin typeface="Calibri" pitchFamily="34" charset="0"/>
                <a:cs typeface="Calibri" panose="020F0502020204030204" pitchFamily="34" charset="0"/>
              </a:rPr>
              <a:t> photo will usually look fine up to </a:t>
            </a:r>
            <a:r>
              <a:rPr lang="en-US" sz="6000" dirty="0">
                <a:solidFill>
                  <a:srgbClr val="7F7F7F"/>
                </a:solidFill>
                <a:latin typeface="Calibri" pitchFamily="34" charset="0"/>
                <a:cs typeface="Calibri" panose="020F0502020204030204" pitchFamily="34" charset="0"/>
              </a:rPr>
              <a:t>8“-10” wide on your printed poster.</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282"/>
              </a:spcAft>
            </a:pPr>
            <a:r>
              <a:rPr lang="en-US" sz="60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282"/>
              </a:spcAft>
            </a:pPr>
            <a:br>
              <a:rPr lang="en-US" sz="4400" dirty="0">
                <a:solidFill>
                  <a:srgbClr val="7F7F7F"/>
                </a:solidFill>
                <a:latin typeface="Calibri" pitchFamily="34" charset="0"/>
                <a:cs typeface="Calibri" panose="020F0502020204030204" pitchFamily="34" charset="0"/>
              </a:rPr>
            </a:br>
            <a:r>
              <a:rPr lang="en-US" sz="4400" dirty="0">
                <a:solidFill>
                  <a:srgbClr val="7F7F7F"/>
                </a:solidFill>
                <a:latin typeface="Calibri" pitchFamily="34" charset="0"/>
                <a:cs typeface="Calibri" panose="020F0502020204030204" pitchFamily="34" charset="0"/>
              </a:rPr>
              <a:t>[This sidebar area does not print.]</a:t>
            </a:r>
          </a:p>
        </p:txBody>
      </p:sp>
      <p:grpSp>
        <p:nvGrpSpPr>
          <p:cNvPr id="2" name="Group 1"/>
          <p:cNvGrpSpPr/>
          <p:nvPr userDrawn="1"/>
        </p:nvGrpSpPr>
        <p:grpSpPr>
          <a:xfrm>
            <a:off x="31108033" y="0"/>
            <a:ext cx="11770607" cy="42794238"/>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Change</a:t>
              </a:r>
              <a:r>
                <a:rPr lang="en-US" sz="8800" baseline="0" dirty="0">
                  <a:solidFill>
                    <a:schemeClr val="bg1">
                      <a:lumMod val="50000"/>
                    </a:schemeClr>
                  </a:solidFill>
                  <a:latin typeface="Calibri" pitchFamily="34" charset="0"/>
                  <a:cs typeface="Calibri" panose="020F0502020204030204" pitchFamily="34" charset="0"/>
                </a:rPr>
                <a:t> Color Theme</a:t>
              </a:r>
              <a:r>
                <a:rPr lang="en-US" sz="8800" dirty="0">
                  <a:solidFill>
                    <a:schemeClr val="bg1">
                      <a:lumMod val="50000"/>
                    </a:schemeClr>
                  </a:solidFill>
                  <a:latin typeface="Calibri" pitchFamily="34" charset="0"/>
                  <a:cs typeface="Calibri" panose="020F0502020204030204" pitchFamily="34" charset="0"/>
                </a:rPr>
                <a:t>:</a:t>
              </a:r>
              <a:endParaRPr sz="880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0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To change the color theme, select the </a:t>
              </a:r>
              <a:r>
                <a:rPr lang="en-US" sz="6000" b="1" baseline="0" dirty="0">
                  <a:solidFill>
                    <a:schemeClr val="bg1">
                      <a:lumMod val="50000"/>
                    </a:schemeClr>
                  </a:solidFill>
                  <a:latin typeface="Calibri" pitchFamily="34" charset="0"/>
                  <a:cs typeface="Calibri" panose="020F0502020204030204" pitchFamily="34" charset="0"/>
                </a:rPr>
                <a:t>Design</a:t>
              </a:r>
              <a:r>
                <a:rPr lang="en-US" sz="6000" baseline="0" dirty="0">
                  <a:solidFill>
                    <a:schemeClr val="bg1">
                      <a:lumMod val="50000"/>
                    </a:schemeClr>
                  </a:solidFill>
                  <a:latin typeface="Calibri" pitchFamily="34" charset="0"/>
                  <a:cs typeface="Calibri" panose="020F0502020204030204" pitchFamily="34" charset="0"/>
                </a:rPr>
                <a:t> tab, then select the </a:t>
              </a:r>
              <a:r>
                <a:rPr lang="en-US" sz="6000" b="1" baseline="0" dirty="0">
                  <a:solidFill>
                    <a:schemeClr val="bg1">
                      <a:lumMod val="50000"/>
                    </a:schemeClr>
                  </a:solidFill>
                  <a:latin typeface="Calibri" pitchFamily="34" charset="0"/>
                  <a:cs typeface="Calibri" panose="020F0502020204030204" pitchFamily="34" charset="0"/>
                </a:rPr>
                <a:t>Colors</a:t>
              </a:r>
              <a:r>
                <a:rPr lang="en-US" sz="60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endParaRPr lang="en-US" sz="60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282"/>
                </a:spcAft>
              </a:pPr>
              <a:r>
                <a:rPr lang="en-US" sz="88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282"/>
                </a:spcAft>
              </a:pPr>
              <a:r>
                <a:rPr lang="en-US" sz="6000" dirty="0">
                  <a:solidFill>
                    <a:schemeClr val="bg1">
                      <a:lumMod val="50000"/>
                    </a:schemeClr>
                  </a:solidFill>
                  <a:latin typeface="Calibri" pitchFamily="34" charset="0"/>
                  <a:cs typeface="Calibri" panose="020F0502020204030204" pitchFamily="34" charset="0"/>
                </a:rPr>
                <a:t>Once your poster file is ready, visit</a:t>
              </a:r>
              <a:r>
                <a:rPr lang="en-US" sz="6000" baseline="0" dirty="0">
                  <a:solidFill>
                    <a:schemeClr val="bg1">
                      <a:lumMod val="50000"/>
                    </a:schemeClr>
                  </a:solidFill>
                  <a:latin typeface="Calibri" pitchFamily="34" charset="0"/>
                  <a:cs typeface="Calibri" panose="020F0502020204030204" pitchFamily="34" charset="0"/>
                </a:rPr>
                <a:t> </a:t>
              </a:r>
              <a:r>
                <a:rPr lang="en-US" sz="6000" b="1" baseline="0" dirty="0">
                  <a:solidFill>
                    <a:schemeClr val="bg1">
                      <a:lumMod val="50000"/>
                    </a:schemeClr>
                  </a:solidFill>
                  <a:latin typeface="Calibri" pitchFamily="34" charset="0"/>
                  <a:cs typeface="Calibri" panose="020F0502020204030204" pitchFamily="34" charset="0"/>
                </a:rPr>
                <a:t>www.genigraphics.com</a:t>
              </a:r>
              <a:r>
                <a:rPr lang="en-US" sz="60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delivery as fast as next business day within the US and Canada. </a:t>
              </a:r>
            </a:p>
            <a:p>
              <a:pPr lvl="0">
                <a:spcBef>
                  <a:spcPts val="0"/>
                </a:spcBef>
                <a:spcAft>
                  <a:spcPts val="2282"/>
                </a:spcAft>
              </a:pPr>
              <a:r>
                <a:rPr lang="en-US" sz="60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0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US and Canada:  1-800-790-4001</a:t>
              </a:r>
            </a:p>
            <a:p>
              <a:pPr lvl="0" algn="ctr">
                <a:spcBef>
                  <a:spcPts val="0"/>
                </a:spcBef>
                <a:spcAft>
                  <a:spcPts val="0"/>
                </a:spcAft>
              </a:pPr>
              <a:r>
                <a:rPr lang="en-US" sz="6000" baseline="0" dirty="0">
                  <a:solidFill>
                    <a:schemeClr val="bg1">
                      <a:lumMod val="50000"/>
                    </a:schemeClr>
                  </a:solidFill>
                  <a:latin typeface="Calibri" pitchFamily="34" charset="0"/>
                  <a:cs typeface="Calibri" panose="020F0502020204030204" pitchFamily="34" charset="0"/>
                </a:rPr>
                <a:t>International: +(1) 913-441-1410</a:t>
              </a:r>
              <a:br>
                <a:rPr lang="en-US" sz="6000" baseline="0" dirty="0">
                  <a:solidFill>
                    <a:schemeClr val="bg1">
                      <a:lumMod val="50000"/>
                    </a:schemeClr>
                  </a:solidFill>
                  <a:latin typeface="Calibri" pitchFamily="34" charset="0"/>
                  <a:cs typeface="Calibri" panose="020F0502020204030204" pitchFamily="34" charset="0"/>
                </a:rPr>
              </a:br>
              <a:r>
                <a:rPr lang="en-US" sz="60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4400" dirty="0">
                  <a:solidFill>
                    <a:schemeClr val="bg1">
                      <a:lumMod val="50000"/>
                    </a:schemeClr>
                  </a:solidFill>
                  <a:latin typeface="Calibri" pitchFamily="34" charset="0"/>
                  <a:cs typeface="Calibri" panose="020F0502020204030204" pitchFamily="34" charset="0"/>
                </a:rPr>
              </a:br>
              <a:r>
                <a:rPr lang="en-US" sz="44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8425085"/>
              <a:ext cx="11904515" cy="10246926"/>
            </a:xfrm>
            <a:prstGeom prst="rect">
              <a:avLst/>
            </a:prstGeom>
          </p:spPr>
        </p:pic>
      </p:gr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11037" y="42504519"/>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6/9/2022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364" y="1713754"/>
            <a:ext cx="27240548" cy="7132373"/>
          </a:xfrm>
          <a:prstGeom prst="rect">
            <a:avLst/>
          </a:prstGeom>
        </p:spPr>
        <p:txBody>
          <a:bodyPr vert="horz" lIns="417456" tIns="208727" rIns="417456" bIns="208727" rtlCol="0" anchor="ctr">
            <a:normAutofit/>
          </a:bodyPr>
          <a:lstStyle/>
          <a:p>
            <a:r>
              <a:rPr lang="en-US" dirty="0"/>
              <a:t>Click to edit Master title style</a:t>
            </a:r>
          </a:p>
        </p:txBody>
      </p:sp>
      <p:sp>
        <p:nvSpPr>
          <p:cNvPr id="3" name="Text Placeholder 2"/>
          <p:cNvSpPr>
            <a:spLocks noGrp="1"/>
          </p:cNvSpPr>
          <p:nvPr>
            <p:ph type="body" idx="1"/>
          </p:nvPr>
        </p:nvSpPr>
        <p:spPr>
          <a:xfrm>
            <a:off x="1513364" y="9985326"/>
            <a:ext cx="27240548" cy="28242219"/>
          </a:xfrm>
          <a:prstGeom prst="rect">
            <a:avLst/>
          </a:prstGeom>
        </p:spPr>
        <p:txBody>
          <a:bodyPr vert="horz" lIns="417456" tIns="208727" rIns="417456" bIns="208727"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13364" y="39663922"/>
            <a:ext cx="7062364" cy="2278397"/>
          </a:xfrm>
          <a:prstGeom prst="rect">
            <a:avLst/>
          </a:prstGeom>
        </p:spPr>
        <p:txBody>
          <a:bodyPr vert="horz" lIns="417456" tIns="208727" rIns="417456" bIns="208727" rtlCol="0" anchor="ctr"/>
          <a:lstStyle>
            <a:lvl1pPr algn="l">
              <a:defRPr sz="5500">
                <a:solidFill>
                  <a:schemeClr val="tx1">
                    <a:tint val="75000"/>
                  </a:schemeClr>
                </a:solidFill>
              </a:defRPr>
            </a:lvl1pPr>
          </a:lstStyle>
          <a:p>
            <a:fld id="{985D6BDF-9D0E-4E2B-85B8-D8F4790360C9}" type="datetimeFigureOut">
              <a:rPr lang="en-US" smtClean="0"/>
              <a:t>6/9/2022</a:t>
            </a:fld>
            <a:endParaRPr lang="en-US" dirty="0"/>
          </a:p>
        </p:txBody>
      </p:sp>
      <p:sp>
        <p:nvSpPr>
          <p:cNvPr id="5" name="Footer Placeholder 4"/>
          <p:cNvSpPr>
            <a:spLocks noGrp="1"/>
          </p:cNvSpPr>
          <p:nvPr>
            <p:ph type="ftr" sz="quarter" idx="3"/>
          </p:nvPr>
        </p:nvSpPr>
        <p:spPr>
          <a:xfrm>
            <a:off x="10341319" y="39663922"/>
            <a:ext cx="9584637" cy="2278397"/>
          </a:xfrm>
          <a:prstGeom prst="rect">
            <a:avLst/>
          </a:prstGeom>
        </p:spPr>
        <p:txBody>
          <a:bodyPr vert="horz" lIns="417456" tIns="208727" rIns="417456" bIns="208727" rtlCol="0" anchor="ctr"/>
          <a:lstStyle>
            <a:lvl1pPr algn="ctr">
              <a:defRPr sz="55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1691547" y="39663922"/>
            <a:ext cx="7062364" cy="2278397"/>
          </a:xfrm>
          <a:prstGeom prst="rect">
            <a:avLst/>
          </a:prstGeom>
        </p:spPr>
        <p:txBody>
          <a:bodyPr vert="horz" lIns="417456" tIns="208727" rIns="417456" bIns="208727" rtlCol="0" anchor="ctr"/>
          <a:lstStyle>
            <a:lvl1pPr algn="r">
              <a:defRPr sz="55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174556" rtl="0" eaLnBrk="1" latinLnBrk="0" hangingPunct="1">
        <a:spcBef>
          <a:spcPct val="0"/>
        </a:spcBef>
        <a:buNone/>
        <a:defRPr sz="7600" kern="1200">
          <a:solidFill>
            <a:schemeClr val="tx1"/>
          </a:solidFill>
          <a:latin typeface="+mj-lt"/>
          <a:ea typeface="+mj-ea"/>
          <a:cs typeface="+mj-cs"/>
        </a:defRPr>
      </a:lvl1pPr>
    </p:titleStyle>
    <p:bodyStyle>
      <a:lvl1pPr marL="434850"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1pPr>
      <a:lvl2pPr marL="86969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2pPr>
      <a:lvl3pPr marL="1304549"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173939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4pPr>
      <a:lvl5pPr marL="2174248" indent="-434850" algn="l" defTabSz="4174556" rtl="0" eaLnBrk="1" latinLnBrk="0" hangingPunct="1">
        <a:spcBef>
          <a:spcPct val="20000"/>
        </a:spcBef>
        <a:buFont typeface="Arial" pitchFamily="34" charset="0"/>
        <a:buChar char="»"/>
        <a:defRPr sz="3400" kern="1200">
          <a:solidFill>
            <a:schemeClr val="tx1"/>
          </a:solidFill>
          <a:latin typeface="+mn-lt"/>
          <a:ea typeface="+mn-ea"/>
          <a:cs typeface="+mn-cs"/>
        </a:defRPr>
      </a:lvl5pPr>
      <a:lvl6pPr marL="11480029"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7307"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4585"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1863" indent="-1043639" algn="l" defTabSz="4174556"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4556" rtl="0" eaLnBrk="1" latinLnBrk="0" hangingPunct="1">
        <a:defRPr sz="8200" kern="1200">
          <a:solidFill>
            <a:schemeClr val="tx1"/>
          </a:solidFill>
          <a:latin typeface="+mn-lt"/>
          <a:ea typeface="+mn-ea"/>
          <a:cs typeface="+mn-cs"/>
        </a:defRPr>
      </a:lvl1pPr>
      <a:lvl2pPr marL="2087278" algn="l" defTabSz="4174556" rtl="0" eaLnBrk="1" latinLnBrk="0" hangingPunct="1">
        <a:defRPr sz="8200" kern="1200">
          <a:solidFill>
            <a:schemeClr val="tx1"/>
          </a:solidFill>
          <a:latin typeface="+mn-lt"/>
          <a:ea typeface="+mn-ea"/>
          <a:cs typeface="+mn-cs"/>
        </a:defRPr>
      </a:lvl2pPr>
      <a:lvl3pPr marL="4174556" algn="l" defTabSz="4174556" rtl="0" eaLnBrk="1" latinLnBrk="0" hangingPunct="1">
        <a:defRPr sz="8200" kern="1200">
          <a:solidFill>
            <a:schemeClr val="tx1"/>
          </a:solidFill>
          <a:latin typeface="+mn-lt"/>
          <a:ea typeface="+mn-ea"/>
          <a:cs typeface="+mn-cs"/>
        </a:defRPr>
      </a:lvl3pPr>
      <a:lvl4pPr marL="6261834" algn="l" defTabSz="4174556" rtl="0" eaLnBrk="1" latinLnBrk="0" hangingPunct="1">
        <a:defRPr sz="8200" kern="1200">
          <a:solidFill>
            <a:schemeClr val="tx1"/>
          </a:solidFill>
          <a:latin typeface="+mn-lt"/>
          <a:ea typeface="+mn-ea"/>
          <a:cs typeface="+mn-cs"/>
        </a:defRPr>
      </a:lvl4pPr>
      <a:lvl5pPr marL="8349113" algn="l" defTabSz="4174556" rtl="0" eaLnBrk="1" latinLnBrk="0" hangingPunct="1">
        <a:defRPr sz="8200" kern="1200">
          <a:solidFill>
            <a:schemeClr val="tx1"/>
          </a:solidFill>
          <a:latin typeface="+mn-lt"/>
          <a:ea typeface="+mn-ea"/>
          <a:cs typeface="+mn-cs"/>
        </a:defRPr>
      </a:lvl5pPr>
      <a:lvl6pPr marL="10436390" algn="l" defTabSz="4174556" rtl="0" eaLnBrk="1" latinLnBrk="0" hangingPunct="1">
        <a:defRPr sz="8200" kern="1200">
          <a:solidFill>
            <a:schemeClr val="tx1"/>
          </a:solidFill>
          <a:latin typeface="+mn-lt"/>
          <a:ea typeface="+mn-ea"/>
          <a:cs typeface="+mn-cs"/>
        </a:defRPr>
      </a:lvl6pPr>
      <a:lvl7pPr marL="12523668" algn="l" defTabSz="4174556" rtl="0" eaLnBrk="1" latinLnBrk="0" hangingPunct="1">
        <a:defRPr sz="8200" kern="1200">
          <a:solidFill>
            <a:schemeClr val="tx1"/>
          </a:solidFill>
          <a:latin typeface="+mn-lt"/>
          <a:ea typeface="+mn-ea"/>
          <a:cs typeface="+mn-cs"/>
        </a:defRPr>
      </a:lvl7pPr>
      <a:lvl8pPr marL="14610946" algn="l" defTabSz="4174556" rtl="0" eaLnBrk="1" latinLnBrk="0" hangingPunct="1">
        <a:defRPr sz="8200" kern="1200">
          <a:solidFill>
            <a:schemeClr val="tx1"/>
          </a:solidFill>
          <a:latin typeface="+mn-lt"/>
          <a:ea typeface="+mn-ea"/>
          <a:cs typeface="+mn-cs"/>
        </a:defRPr>
      </a:lvl8pPr>
      <a:lvl9pPr marL="16698224" algn="l" defTabSz="4174556"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numpy.org/" TargetMode="External"/><Relationship Id="rId13" Type="http://schemas.openxmlformats.org/officeDocument/2006/relationships/image" Target="../media/image6.png"/><Relationship Id="rId18" Type="http://schemas.microsoft.com/office/2007/relationships/diagramDrawing" Target="../diagrams/drawing1.xml"/><Relationship Id="rId3" Type="http://schemas.openxmlformats.org/officeDocument/2006/relationships/hyperlink" Target="https://medium.com/@yogeshojha/self-driving-cars-beginners-guide-to-computer-vision-finding-simple-lane-lines-using-python-a4977015e232" TargetMode="External"/><Relationship Id="rId21" Type="http://schemas.openxmlformats.org/officeDocument/2006/relationships/image" Target="../media/image9.png"/><Relationship Id="rId7" Type="http://schemas.openxmlformats.org/officeDocument/2006/relationships/hyperlink" Target="https://www.geeksforgeeks.org/python-introduction-matplotlib/" TargetMode="External"/><Relationship Id="rId12" Type="http://schemas.openxmlformats.org/officeDocument/2006/relationships/image" Target="../media/image5.png"/><Relationship Id="rId17" Type="http://schemas.openxmlformats.org/officeDocument/2006/relationships/diagramColors" Target="../diagrams/colors1.xml"/><Relationship Id="rId2" Type="http://schemas.openxmlformats.org/officeDocument/2006/relationships/hyperlink" Target="https://automaticaddison.com/the-ultimate-guide-to-real-time-lane-detection-using-opencv/" TargetMode="External"/><Relationship Id="rId16" Type="http://schemas.openxmlformats.org/officeDocument/2006/relationships/diagramQuickStyle" Target="../diagrams/quickStyle1.xml"/><Relationship Id="rId2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hyperlink" Target="https://matplotlib.org/" TargetMode="External"/><Relationship Id="rId11" Type="http://schemas.openxmlformats.org/officeDocument/2006/relationships/image" Target="../media/image4.png"/><Relationship Id="rId24" Type="http://schemas.openxmlformats.org/officeDocument/2006/relationships/image" Target="../media/image12.jpeg"/><Relationship Id="rId5" Type="http://schemas.openxmlformats.org/officeDocument/2006/relationships/hyperlink" Target="https://www.geeksforgeeks.org/opencv-overview/" TargetMode="External"/><Relationship Id="rId15" Type="http://schemas.openxmlformats.org/officeDocument/2006/relationships/diagramLayout" Target="../diagrams/layout1.xml"/><Relationship Id="rId23" Type="http://schemas.openxmlformats.org/officeDocument/2006/relationships/image" Target="../media/image11.jpeg"/><Relationship Id="rId10" Type="http://schemas.openxmlformats.org/officeDocument/2006/relationships/image" Target="../media/image3.jpeg"/><Relationship Id="rId19" Type="http://schemas.openxmlformats.org/officeDocument/2006/relationships/image" Target="../media/image7.jpg"/><Relationship Id="rId4" Type="http://schemas.openxmlformats.org/officeDocument/2006/relationships/hyperlink" Target="https://opencv.org/" TargetMode="External"/><Relationship Id="rId9" Type="http://schemas.openxmlformats.org/officeDocument/2006/relationships/hyperlink" Target="https://www.w3schools.com/python/numpy/numpy_intro.asp" TargetMode="External"/><Relationship Id="rId14" Type="http://schemas.openxmlformats.org/officeDocument/2006/relationships/diagramData" Target="../diagrams/data1.xml"/><Relationship Id="rId22"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570801" y="-223587"/>
            <a:ext cx="21117102" cy="383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434850" rIns="173940" bIns="43485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600" b="1" dirty="0">
                <a:solidFill>
                  <a:schemeClr val="accent3">
                    <a:lumMod val="20000"/>
                    <a:lumOff val="80000"/>
                  </a:schemeClr>
                </a:solidFill>
                <a:latin typeface="+mn-lt"/>
              </a:rPr>
              <a:t>Lane Detection</a:t>
            </a:r>
          </a:p>
          <a:p>
            <a:pPr algn="ctr" eaLnBrk="1" hangingPunct="1"/>
            <a:r>
              <a:rPr lang="en-US" sz="7600" b="1" dirty="0">
                <a:solidFill>
                  <a:schemeClr val="accent3">
                    <a:lumMod val="20000"/>
                    <a:lumOff val="80000"/>
                  </a:schemeClr>
                </a:solidFill>
                <a:latin typeface="+mn-lt"/>
              </a:rPr>
              <a:t>Team AVIDA</a:t>
            </a:r>
          </a:p>
          <a:p>
            <a:pPr algn="ctr" eaLnBrk="1" hangingPunct="1"/>
            <a:r>
              <a:rPr lang="en-US" sz="3600" b="1" dirty="0">
                <a:solidFill>
                  <a:schemeClr val="accent3">
                    <a:lumMod val="20000"/>
                    <a:lumOff val="80000"/>
                  </a:schemeClr>
                </a:solidFill>
                <a:latin typeface="+mn-lt"/>
              </a:rPr>
              <a:t>Autonomous Vehicle in Intelligence Driving and Assistance </a:t>
            </a:r>
          </a:p>
        </p:txBody>
      </p:sp>
      <p:sp>
        <p:nvSpPr>
          <p:cNvPr id="5" name="Text Box 123"/>
          <p:cNvSpPr txBox="1">
            <a:spLocks noChangeArrowheads="1"/>
          </p:cNvSpPr>
          <p:nvPr/>
        </p:nvSpPr>
        <p:spPr bwMode="auto">
          <a:xfrm>
            <a:off x="4570801" y="3120414"/>
            <a:ext cx="21117102" cy="222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73940" tIns="173940" rIns="173940" bIns="173940"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600" dirty="0">
                <a:solidFill>
                  <a:schemeClr val="accent3">
                    <a:lumMod val="20000"/>
                    <a:lumOff val="80000"/>
                  </a:schemeClr>
                </a:solidFill>
                <a:latin typeface="+mn-lt"/>
              </a:rPr>
              <a:t>Shivansh Mishra, </a:t>
            </a:r>
            <a:r>
              <a:rPr lang="en-US" sz="4600" dirty="0" err="1">
                <a:solidFill>
                  <a:schemeClr val="accent3">
                    <a:lumMod val="20000"/>
                    <a:lumOff val="80000"/>
                  </a:schemeClr>
                </a:solidFill>
                <a:latin typeface="+mn-lt"/>
              </a:rPr>
              <a:t>Hareesh</a:t>
            </a:r>
            <a:r>
              <a:rPr lang="en-US" sz="4600" dirty="0">
                <a:solidFill>
                  <a:schemeClr val="accent3">
                    <a:lumMod val="20000"/>
                    <a:lumOff val="80000"/>
                  </a:schemeClr>
                </a:solidFill>
                <a:latin typeface="+mn-lt"/>
              </a:rPr>
              <a:t> M. ,Thanesh Bisen</a:t>
            </a:r>
          </a:p>
        </p:txBody>
      </p:sp>
      <p:sp>
        <p:nvSpPr>
          <p:cNvPr id="24" name="TextBox 23"/>
          <p:cNvSpPr txBox="1"/>
          <p:nvPr/>
        </p:nvSpPr>
        <p:spPr>
          <a:xfrm>
            <a:off x="1261136" y="39049741"/>
            <a:ext cx="2073146" cy="2396144"/>
          </a:xfrm>
          <a:prstGeom prst="rect">
            <a:avLst/>
          </a:prstGeom>
          <a:solidFill>
            <a:schemeClr val="accent1">
              <a:lumMod val="40000"/>
              <a:lumOff val="60000"/>
            </a:schemeClr>
          </a:solidFill>
        </p:spPr>
        <p:txBody>
          <a:bodyPr wrap="none" lIns="86970" tIns="43485" rIns="86970" bIns="43485" rtlCol="0">
            <a:spAutoFit/>
          </a:bodyPr>
          <a:lstStyle/>
          <a:p>
            <a:endParaRPr lang="en-US" sz="3000" dirty="0"/>
          </a:p>
          <a:p>
            <a:r>
              <a:rPr lang="en-US" sz="3000"/>
              <a:t>Team </a:t>
            </a:r>
            <a:r>
              <a:rPr lang="en-US" sz="3000" dirty="0"/>
              <a:t>AVIDA</a:t>
            </a:r>
          </a:p>
          <a:p>
            <a:r>
              <a:rPr lang="en-US" sz="3000" dirty="0"/>
              <a:t>Email:</a:t>
            </a:r>
          </a:p>
          <a:p>
            <a:r>
              <a:rPr lang="en-US" sz="3000" dirty="0"/>
              <a:t>Website:</a:t>
            </a:r>
          </a:p>
          <a:p>
            <a:r>
              <a:rPr lang="en-US" sz="3000" dirty="0"/>
              <a:t>Phone:</a:t>
            </a:r>
          </a:p>
        </p:txBody>
      </p:sp>
      <p:sp>
        <p:nvSpPr>
          <p:cNvPr id="25" name="TextBox 24"/>
          <p:cNvSpPr txBox="1"/>
          <p:nvPr/>
        </p:nvSpPr>
        <p:spPr>
          <a:xfrm>
            <a:off x="1261136" y="37890733"/>
            <a:ext cx="2385859" cy="918816"/>
          </a:xfrm>
          <a:prstGeom prst="rect">
            <a:avLst/>
          </a:prstGeom>
          <a:noFill/>
        </p:spPr>
        <p:txBody>
          <a:bodyPr wrap="none" lIns="86970" tIns="43485" rIns="86970" bIns="43485" rtlCol="0">
            <a:spAutoFit/>
          </a:bodyPr>
          <a:lstStyle/>
          <a:p>
            <a:r>
              <a:rPr lang="en-US" sz="5400" b="1" dirty="0"/>
              <a:t>Contact</a:t>
            </a:r>
          </a:p>
        </p:txBody>
      </p:sp>
      <p:sp>
        <p:nvSpPr>
          <p:cNvPr id="26" name="TextBox 25"/>
          <p:cNvSpPr txBox="1"/>
          <p:nvPr/>
        </p:nvSpPr>
        <p:spPr>
          <a:xfrm>
            <a:off x="15129352" y="39049741"/>
            <a:ext cx="13452122" cy="2852949"/>
          </a:xfrm>
          <a:prstGeom prst="rect">
            <a:avLst/>
          </a:prstGeom>
          <a:noFill/>
        </p:spPr>
        <p:txBody>
          <a:bodyPr wrap="square" lIns="86970" tIns="86970" rIns="86970" bIns="86970" numCol="1" spcCol="434850" rtlCol="0">
            <a:noAutofit/>
          </a:bodyPr>
          <a:lstStyle/>
          <a:p>
            <a:pPr marL="434850" indent="-434850">
              <a:buFont typeface="+mj-lt"/>
              <a:buAutoNum type="arabicPeriod"/>
            </a:pPr>
            <a:r>
              <a:rPr lang="en-IN" sz="16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https://automaticaddison.com/the-ultimate-guide-to-real-time-lane-detection-using-opencv/</a:t>
            </a:r>
            <a:endParaRPr lang="en-US" sz="1600" dirty="0"/>
          </a:p>
          <a:p>
            <a:pPr marL="434850" indent="-434850">
              <a:buFont typeface="+mj-lt"/>
              <a:buAutoNum type="arabicPeriod"/>
            </a:pPr>
            <a:r>
              <a:rPr lang="en-US" sz="1600" dirty="0"/>
              <a:t> </a:t>
            </a:r>
            <a:r>
              <a:rPr lang="en-IN" sz="16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https://medium.com/@yogeshojha/self-driving-cars-beginners-guide-to-computer-vision-finding-simple-lane-lines-using-python-a4977015e232</a:t>
            </a:r>
            <a:endParaRPr lang="en-US" sz="1600" dirty="0"/>
          </a:p>
          <a:p>
            <a:pPr marL="434850" indent="-434850">
              <a:buFont typeface="+mj-lt"/>
              <a:buAutoNum type="arabicPeriod"/>
            </a:pPr>
            <a:r>
              <a:rPr lang="en-US" sz="1600" dirty="0"/>
              <a:t> </a:t>
            </a:r>
            <a:r>
              <a:rPr lang="en-US" sz="1600" dirty="0">
                <a:hlinkClick r:id="rId4"/>
              </a:rPr>
              <a:t>https://opencv.org/</a:t>
            </a:r>
            <a:endParaRPr lang="en-US" sz="1600" dirty="0"/>
          </a:p>
          <a:p>
            <a:pPr marL="434850" indent="-434850">
              <a:buFont typeface="+mj-lt"/>
              <a:buAutoNum type="arabicPeriod"/>
            </a:pPr>
            <a:r>
              <a:rPr lang="en-US" sz="1600" dirty="0"/>
              <a:t> </a:t>
            </a:r>
            <a:r>
              <a:rPr lang="en-US" sz="1600" dirty="0">
                <a:hlinkClick r:id="rId5"/>
              </a:rPr>
              <a:t>https://www.geeksforgeeks.org/opencv-overview/</a:t>
            </a:r>
            <a:endParaRPr lang="en-US" sz="1600" dirty="0"/>
          </a:p>
          <a:p>
            <a:pPr marL="434850" indent="-434850">
              <a:buFont typeface="+mj-lt"/>
              <a:buAutoNum type="arabicPeriod"/>
            </a:pPr>
            <a:r>
              <a:rPr lang="en-US" sz="1600" dirty="0"/>
              <a:t> </a:t>
            </a:r>
            <a:r>
              <a:rPr lang="en-US" sz="1600" dirty="0">
                <a:hlinkClick r:id="rId6"/>
              </a:rPr>
              <a:t>https://matplotlib.org/</a:t>
            </a:r>
            <a:endParaRPr lang="en-US" sz="1600" dirty="0"/>
          </a:p>
          <a:p>
            <a:pPr marL="434850" indent="-434850">
              <a:buFont typeface="+mj-lt"/>
              <a:buAutoNum type="arabicPeriod"/>
            </a:pPr>
            <a:r>
              <a:rPr lang="en-US" sz="1600" dirty="0"/>
              <a:t> </a:t>
            </a:r>
            <a:r>
              <a:rPr lang="en-US" sz="1600" dirty="0">
                <a:hlinkClick r:id="rId7"/>
              </a:rPr>
              <a:t>https://www.geeksforgeeks.org/python-introduction-matplotlib/</a:t>
            </a:r>
            <a:endParaRPr lang="en-US" sz="1600" dirty="0"/>
          </a:p>
          <a:p>
            <a:pPr marL="434850" indent="-434850">
              <a:buFont typeface="+mj-lt"/>
              <a:buAutoNum type="arabicPeriod"/>
            </a:pPr>
            <a:r>
              <a:rPr lang="en-US" sz="1600" dirty="0"/>
              <a:t> </a:t>
            </a:r>
            <a:r>
              <a:rPr lang="en-US" sz="1600" dirty="0">
                <a:hlinkClick r:id="rId8"/>
              </a:rPr>
              <a:t>https://numpy.org/</a:t>
            </a:r>
            <a:endParaRPr lang="en-US" sz="1600" dirty="0"/>
          </a:p>
          <a:p>
            <a:pPr marL="434850" indent="-434850">
              <a:buFont typeface="+mj-lt"/>
              <a:buAutoNum type="arabicPeriod"/>
            </a:pPr>
            <a:r>
              <a:rPr lang="en-US" sz="1600" dirty="0"/>
              <a:t> </a:t>
            </a:r>
            <a:r>
              <a:rPr lang="en-US" sz="1600" dirty="0">
                <a:hlinkClick r:id="rId9"/>
              </a:rPr>
              <a:t>https://www.w3schools.com/python/numpy/numpy_intro.asp</a:t>
            </a:r>
            <a:r>
              <a:rPr lang="en-US" sz="1600" dirty="0"/>
              <a:t> </a:t>
            </a:r>
          </a:p>
          <a:p>
            <a:pPr marL="434850" indent="-434850">
              <a:buFont typeface="+mj-lt"/>
              <a:buAutoNum type="arabicPeriod"/>
            </a:pPr>
            <a:endParaRPr lang="en-US" sz="1600" dirty="0"/>
          </a:p>
        </p:txBody>
      </p:sp>
      <p:sp>
        <p:nvSpPr>
          <p:cNvPr id="27" name="TextBox 26"/>
          <p:cNvSpPr txBox="1"/>
          <p:nvPr/>
        </p:nvSpPr>
        <p:spPr>
          <a:xfrm>
            <a:off x="15133638" y="37890733"/>
            <a:ext cx="3325668" cy="918816"/>
          </a:xfrm>
          <a:prstGeom prst="rect">
            <a:avLst/>
          </a:prstGeom>
          <a:noFill/>
        </p:spPr>
        <p:txBody>
          <a:bodyPr wrap="none" lIns="86970" tIns="43485" rIns="86970" bIns="43485" rtlCol="0">
            <a:spAutoFit/>
          </a:bodyPr>
          <a:lstStyle/>
          <a:p>
            <a:r>
              <a:rPr lang="en-US" sz="5400" b="1" dirty="0"/>
              <a:t>References</a:t>
            </a:r>
          </a:p>
        </p:txBody>
      </p:sp>
      <p:sp>
        <p:nvSpPr>
          <p:cNvPr id="10" name="Text Box 189"/>
          <p:cNvSpPr txBox="1">
            <a:spLocks noChangeArrowheads="1"/>
          </p:cNvSpPr>
          <p:nvPr/>
        </p:nvSpPr>
        <p:spPr bwMode="auto">
          <a:xfrm>
            <a:off x="1681515" y="7132373"/>
            <a:ext cx="8407576" cy="4914065"/>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0" marR="0">
              <a:spcBef>
                <a:spcPts val="0"/>
              </a:spcBef>
              <a:spcAft>
                <a:spcPts val="0"/>
              </a:spcAft>
            </a:pPr>
            <a:r>
              <a:rPr lang="en-IN" sz="2800">
                <a:effectLst/>
                <a:latin typeface="Calibri" panose="020F0502020204030204" pitchFamily="34" charset="0"/>
                <a:ea typeface="Calibri" panose="020F0502020204030204" pitchFamily="34" charset="0"/>
                <a:cs typeface="Times New Roman" panose="02020603050405020304" pitchFamily="18" charset="0"/>
              </a:rPr>
              <a:t>The goal of this first project was to create a simple</a:t>
            </a:r>
            <a:r>
              <a:rPr lang="en-IN" sz="2800">
                <a:latin typeface="Calibri" panose="020F0502020204030204" pitchFamily="34" charset="0"/>
                <a:ea typeface="Calibri" panose="020F0502020204030204" pitchFamily="34" charset="0"/>
                <a:cs typeface="Times New Roman" panose="02020603050405020304" pitchFamily="18" charset="0"/>
              </a:rPr>
              <a:t> </a:t>
            </a:r>
            <a:r>
              <a:rPr lang="en-IN" sz="2800">
                <a:effectLst/>
                <a:latin typeface="Calibri" panose="020F0502020204030204" pitchFamily="34" charset="0"/>
                <a:ea typeface="Calibri" panose="020F0502020204030204" pitchFamily="34" charset="0"/>
                <a:cs typeface="Times New Roman" panose="02020603050405020304" pitchFamily="18" charset="0"/>
              </a:rPr>
              <a:t>pipeline to detect road lines in a frame taken from a roof-mounted</a:t>
            </a:r>
            <a:r>
              <a:rPr lang="en-IN" sz="2800">
                <a:latin typeface="Calibri" panose="020F0502020204030204" pitchFamily="34" charset="0"/>
                <a:ea typeface="Calibri" panose="020F0502020204030204" pitchFamily="34" charset="0"/>
                <a:cs typeface="Times New Roman" panose="02020603050405020304" pitchFamily="18" charset="0"/>
              </a:rPr>
              <a:t> </a:t>
            </a:r>
            <a:r>
              <a:rPr lang="en-IN" sz="2800">
                <a:effectLst/>
                <a:latin typeface="Calibri" panose="020F0502020204030204" pitchFamily="34" charset="0"/>
                <a:ea typeface="Calibri" panose="020F0502020204030204" pitchFamily="34" charset="0"/>
                <a:cs typeface="Times New Roman" panose="02020603050405020304" pitchFamily="18" charset="0"/>
              </a:rPr>
              <a:t>camera.  Our goal is to create a program that can read a video stream and output an annotated video that shows the following:</a:t>
            </a:r>
          </a:p>
          <a:p>
            <a:pPr marL="342900" marR="0" lvl="0" indent="-342900">
              <a:lnSpc>
                <a:spcPct val="107000"/>
              </a:lnSpc>
              <a:spcBef>
                <a:spcPts val="0"/>
              </a:spcBef>
              <a:spcAft>
                <a:spcPts val="0"/>
              </a:spcAft>
              <a:buFont typeface="+mj-lt"/>
              <a:buAutoNum type="arabicPeriod"/>
            </a:pPr>
            <a:r>
              <a:rPr lang="en-IN" sz="2800">
                <a:effectLst/>
                <a:latin typeface="Calibri" panose="020F0502020204030204" pitchFamily="34" charset="0"/>
                <a:ea typeface="Calibri" panose="020F0502020204030204" pitchFamily="34" charset="0"/>
                <a:cs typeface="Times New Roman" panose="02020603050405020304" pitchFamily="18" charset="0"/>
              </a:rPr>
              <a:t>The current lane</a:t>
            </a:r>
          </a:p>
          <a:p>
            <a:pPr marL="342900" marR="0" lvl="0" indent="-342900">
              <a:lnSpc>
                <a:spcPct val="107000"/>
              </a:lnSpc>
              <a:spcBef>
                <a:spcPts val="0"/>
              </a:spcBef>
              <a:spcAft>
                <a:spcPts val="0"/>
              </a:spcAft>
              <a:buFont typeface="+mj-lt"/>
              <a:buAutoNum type="arabicPeriod"/>
            </a:pPr>
            <a:r>
              <a:rPr lang="en-IN" sz="2800">
                <a:effectLst/>
                <a:latin typeface="Calibri" panose="020F0502020204030204" pitchFamily="34" charset="0"/>
                <a:ea typeface="Calibri" panose="020F0502020204030204" pitchFamily="34" charset="0"/>
                <a:cs typeface="Times New Roman" panose="02020603050405020304" pitchFamily="18" charset="0"/>
              </a:rPr>
              <a:t>The radius of curvature of the lane</a:t>
            </a:r>
          </a:p>
          <a:p>
            <a:pPr marL="342900" marR="0" lvl="0" indent="-342900">
              <a:lnSpc>
                <a:spcPct val="107000"/>
              </a:lnSpc>
              <a:spcBef>
                <a:spcPts val="0"/>
              </a:spcBef>
              <a:spcAft>
                <a:spcPts val="800"/>
              </a:spcAft>
              <a:buFont typeface="+mj-lt"/>
              <a:buAutoNum type="arabicPeriod"/>
            </a:pPr>
            <a:r>
              <a:rPr lang="en-IN" sz="2800">
                <a:effectLst/>
                <a:latin typeface="Calibri" panose="020F0502020204030204" pitchFamily="34" charset="0"/>
                <a:ea typeface="Calibri" panose="020F0502020204030204" pitchFamily="34" charset="0"/>
                <a:cs typeface="Times New Roman" panose="02020603050405020304" pitchFamily="18" charset="0"/>
              </a:rPr>
              <a:t>The position of the vehicle relative to the middle of the lane.</a:t>
            </a:r>
          </a:p>
          <a:p>
            <a:pPr eaLnBrk="1" hangingPunct="1"/>
            <a:endParaRPr lang="en-US" sz="3000" dirty="0">
              <a:latin typeface="Calibri" pitchFamily="34" charset="0"/>
            </a:endParaRPr>
          </a:p>
        </p:txBody>
      </p:sp>
      <p:sp>
        <p:nvSpPr>
          <p:cNvPr id="32" name="Rectangle 31"/>
          <p:cNvSpPr/>
          <p:nvPr/>
        </p:nvSpPr>
        <p:spPr>
          <a:xfrm>
            <a:off x="1681515"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Abstract</a:t>
            </a:r>
          </a:p>
        </p:txBody>
      </p:sp>
      <p:sp>
        <p:nvSpPr>
          <p:cNvPr id="15" name="Text Box 194"/>
          <p:cNvSpPr txBox="1">
            <a:spLocks noChangeArrowheads="1"/>
          </p:cNvSpPr>
          <p:nvPr/>
        </p:nvSpPr>
        <p:spPr bwMode="auto">
          <a:xfrm>
            <a:off x="19921450" y="22437981"/>
            <a:ext cx="8407576" cy="2074826"/>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3858" rtl="0" fontAlgn="base">
              <a:spcBef>
                <a:spcPts val="0"/>
              </a:spcBef>
              <a:spcAft>
                <a:spcPts val="0"/>
              </a:spcAft>
            </a:pPr>
            <a:r>
              <a:rPr lang="en-US" sz="2800" b="0" i="0" u="none" strike="noStrike" dirty="0">
                <a:solidFill>
                  <a:srgbClr val="000000"/>
                </a:solidFill>
                <a:effectLst/>
                <a:latin typeface="Arial" panose="020B0604020202020204" pitchFamily="34" charset="0"/>
              </a:rPr>
              <a:t>We calculated the curvature of the lane line and displayed it </a:t>
            </a:r>
            <a:r>
              <a:rPr lang="en-US" sz="2800" dirty="0">
                <a:solidFill>
                  <a:srgbClr val="000000"/>
                </a:solidFill>
                <a:latin typeface="Arial" panose="020B0604020202020204" pitchFamily="34" charset="0"/>
              </a:rPr>
              <a:t>on the screen</a:t>
            </a:r>
            <a:r>
              <a:rPr lang="en-US" sz="2800" b="0" i="0" u="none" strike="noStrike" dirty="0">
                <a:solidFill>
                  <a:srgbClr val="000000"/>
                </a:solidFill>
                <a:effectLst/>
                <a:latin typeface="Arial" panose="020B0604020202020204" pitchFamily="34" charset="0"/>
              </a:rPr>
              <a:t>.</a:t>
            </a:r>
            <a:br>
              <a:rPr lang="en-US" sz="2800" b="0" dirty="0">
                <a:effectLst/>
              </a:rPr>
            </a:br>
            <a:r>
              <a:rPr lang="en-US" sz="2800" b="0" i="0" u="none" strike="noStrike" dirty="0">
                <a:solidFill>
                  <a:srgbClr val="000000"/>
                </a:solidFill>
                <a:effectLst/>
                <a:latin typeface="Arial" panose="020B0604020202020204" pitchFamily="34" charset="0"/>
              </a:rPr>
              <a:t>Then we calculated how far the center of the car is from the middle of the lane (i.e. the “center offset).</a:t>
            </a:r>
          </a:p>
        </p:txBody>
      </p:sp>
      <p:sp>
        <p:nvSpPr>
          <p:cNvPr id="33" name="Rectangle 32"/>
          <p:cNvSpPr/>
          <p:nvPr/>
        </p:nvSpPr>
        <p:spPr>
          <a:xfrm>
            <a:off x="1681515" y="12634119"/>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9921450" y="7132373"/>
            <a:ext cx="8407576" cy="6236863"/>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800" dirty="0">
                <a:latin typeface="Calibri" pitchFamily="34" charset="0"/>
              </a:rPr>
              <a:t>Methodology for program workflow follows:-</a:t>
            </a:r>
          </a:p>
          <a:p>
            <a:pPr eaLnBrk="1" hangingPunct="1"/>
            <a:r>
              <a:rPr lang="en-US" sz="2800" dirty="0">
                <a:latin typeface="Calibri" pitchFamily="34" charset="0"/>
              </a:rPr>
              <a:t>Thresholding- It </a:t>
            </a:r>
            <a:r>
              <a:rPr lang="en-IN" sz="2800" dirty="0">
                <a:latin typeface="Calibri" panose="020F0502020204030204" pitchFamily="34" charset="0"/>
                <a:cs typeface="Times New Roman" panose="02020603050405020304" pitchFamily="18" charset="0"/>
              </a:rPr>
              <a:t>is</a:t>
            </a:r>
            <a:r>
              <a:rPr lang="en-IN" sz="2800" dirty="0">
                <a:effectLst/>
                <a:latin typeface="Calibri" panose="020F0502020204030204" pitchFamily="34" charset="0"/>
                <a:ea typeface="Calibri" panose="020F0502020204030204" pitchFamily="34" charset="0"/>
                <a:cs typeface="Times New Roman" panose="02020603050405020304" pitchFamily="18" charset="0"/>
              </a:rPr>
              <a:t> used to create binary images</a:t>
            </a:r>
          </a:p>
          <a:p>
            <a:pPr eaLnBrk="1" hangingPunct="1"/>
            <a:r>
              <a:rPr lang="en-IN" sz="2800" dirty="0">
                <a:effectLst/>
                <a:latin typeface="Calibri" panose="020F0502020204030204" pitchFamily="34" charset="0"/>
                <a:ea typeface="Calibri" panose="020F0502020204030204" pitchFamily="34" charset="0"/>
                <a:cs typeface="Times New Roman" panose="02020603050405020304" pitchFamily="18" charset="0"/>
              </a:rPr>
              <a:t>Perspective Transform- It is used to generate Bird eye view images taken from car mounted perspective.</a:t>
            </a:r>
          </a:p>
          <a:p>
            <a:pPr eaLnBrk="1" hangingPunct="1"/>
            <a:r>
              <a:rPr lang="en-IN" sz="2800" dirty="0">
                <a:effectLst/>
                <a:latin typeface="Calibri" panose="020F0502020204030204" pitchFamily="34" charset="0"/>
                <a:ea typeface="Calibri" panose="020F0502020204030204" pitchFamily="34" charset="0"/>
                <a:cs typeface="Times New Roman" panose="02020603050405020304" pitchFamily="18" charset="0"/>
              </a:rPr>
              <a:t>Identify Lane Pixels-We take help from Histogram to identify concentrated line pixels.</a:t>
            </a:r>
          </a:p>
          <a:p>
            <a:pPr eaLnBrk="1" hangingPunct="1"/>
            <a:r>
              <a:rPr lang="en-IN" sz="2800" dirty="0">
                <a:effectLst/>
                <a:latin typeface="Calibri" panose="020F0502020204030204" pitchFamily="34" charset="0"/>
                <a:ea typeface="Calibri" panose="020F0502020204030204" pitchFamily="34" charset="0"/>
                <a:cs typeface="Times New Roman" panose="02020603050405020304" pitchFamily="18" charset="0"/>
              </a:rPr>
              <a:t>Sources-</a:t>
            </a:r>
          </a:p>
          <a:p>
            <a:pPr marL="342900" marR="0" lvl="0" indent="-342900">
              <a:lnSpc>
                <a:spcPct val="107000"/>
              </a:lnSpc>
              <a:spcBef>
                <a:spcPts val="0"/>
              </a:spcBef>
              <a:spcAft>
                <a:spcPts val="0"/>
              </a:spcAft>
              <a:buFont typeface="Symbol" panose="05050102010706020507" pitchFamily="18" charset="2"/>
              <a:buChar char=""/>
            </a:pPr>
            <a:r>
              <a:rPr lang="en-IN" sz="2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https://medium.com/@yogeshojha/self-driving-cars-beginners-guide-to-computer-vision-finding-simple-lane-lines-using-python-a4977015e232</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IN" sz="2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https://automaticaddison.com/the-ultimate-guide-to-real-time-lane-detection-using-opencv/</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eaLnBrk="1" hangingPunct="1"/>
            <a:endParaRPr lang="en-US" sz="3000" dirty="0">
              <a:latin typeface="Calibri" pitchFamily="34" charset="0"/>
            </a:endParaRPr>
          </a:p>
        </p:txBody>
      </p:sp>
      <p:sp>
        <p:nvSpPr>
          <p:cNvPr id="34" name="Rectangle 33"/>
          <p:cNvSpPr/>
          <p:nvPr/>
        </p:nvSpPr>
        <p:spPr>
          <a:xfrm>
            <a:off x="19921450" y="6240826"/>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Methodology</a:t>
            </a:r>
          </a:p>
        </p:txBody>
      </p:sp>
      <p:sp>
        <p:nvSpPr>
          <p:cNvPr id="14" name="Text Box 193"/>
          <p:cNvSpPr txBox="1">
            <a:spLocks noChangeArrowheads="1"/>
          </p:cNvSpPr>
          <p:nvPr/>
        </p:nvSpPr>
        <p:spPr bwMode="auto">
          <a:xfrm>
            <a:off x="19921450" y="16303778"/>
            <a:ext cx="8407576" cy="2967378"/>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800" dirty="0">
                <a:latin typeface="Calibri" pitchFamily="34" charset="0"/>
              </a:rPr>
              <a:t>We were exposed to various Open-Source Libraries ad learned their Utilization and functioning</a:t>
            </a:r>
          </a:p>
          <a:p>
            <a:pPr eaLnBrk="1" hangingPunct="1"/>
            <a:r>
              <a:rPr lang="en-IN" sz="2800" dirty="0">
                <a:effectLst/>
                <a:latin typeface="Calibri" panose="020F0502020204030204" pitchFamily="34" charset="0"/>
                <a:ea typeface="Calibri" panose="020F0502020204030204" pitchFamily="34" charset="0"/>
                <a:cs typeface="Times New Roman" panose="02020603050405020304" pitchFamily="18" charset="0"/>
              </a:rPr>
              <a:t>Overall we were able to use, understand and modify the code and implement it on raw image data to isolate lane line edges and lane lines.</a:t>
            </a:r>
          </a:p>
          <a:p>
            <a:pPr eaLnBrk="1" hangingPunct="1"/>
            <a:endParaRPr lang="en-US" sz="3000" dirty="0">
              <a:latin typeface="Calibri" pitchFamily="34" charset="0"/>
            </a:endParaRPr>
          </a:p>
        </p:txBody>
      </p:sp>
      <p:sp>
        <p:nvSpPr>
          <p:cNvPr id="36" name="Rectangle 35"/>
          <p:cNvSpPr/>
          <p:nvPr/>
        </p:nvSpPr>
        <p:spPr>
          <a:xfrm>
            <a:off x="19921450" y="15342439"/>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Conclusions</a:t>
            </a:r>
          </a:p>
        </p:txBody>
      </p:sp>
      <p:sp>
        <p:nvSpPr>
          <p:cNvPr id="11" name="Text Box 190"/>
          <p:cNvSpPr txBox="1">
            <a:spLocks noChangeArrowheads="1"/>
          </p:cNvSpPr>
          <p:nvPr/>
        </p:nvSpPr>
        <p:spPr bwMode="auto">
          <a:xfrm>
            <a:off x="1681515" y="13675254"/>
            <a:ext cx="8407576" cy="12877783"/>
          </a:xfrm>
          <a:prstGeom prst="rect">
            <a:avLst/>
          </a:prstGeom>
          <a:solidFill>
            <a:schemeClr val="bg1"/>
          </a:solidFill>
          <a:ln w="12700">
            <a:solidFill>
              <a:schemeClr val="accent1">
                <a:lumMod val="75000"/>
              </a:schemeClr>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800" b="0" i="0" dirty="0">
                <a:solidFill>
                  <a:srgbClr val="292929"/>
                </a:solidFill>
                <a:effectLst/>
                <a:latin typeface="charter"/>
              </a:rPr>
              <a:t>The Automotive industry is currently experiencing a paradigm shift from conventional human-driven vehicles to autonomous self-driving vehicles. With it, Self-driving cars are constantly making the headlines. What seemed like a sci-fi movie decades back, is right now the reality. We now have vehicles that are designed to carry humans from point A to point B without any human intervention. Self Driving cars are one of the hottest areas of research and there is no doubt that self-driving cars are the future!</a:t>
            </a:r>
          </a:p>
          <a:p>
            <a:pPr algn="l"/>
            <a:r>
              <a:rPr lang="en-US" sz="2800" b="0" i="0" dirty="0">
                <a:solidFill>
                  <a:srgbClr val="292929"/>
                </a:solidFill>
                <a:effectLst/>
                <a:latin typeface="charter"/>
              </a:rPr>
              <a:t>We, humans, are heavily dependent on our five senses to interpret what is going on around us. Every sense is equally important to us. Eyes are what we use to see and perceive a lot of things around us. It helps us to see the road around us, see the obstacle around us, identify the lanes and much more. In applications like autonomous vehicles, Robotics, this still is one of the most challenging tasks to teach machines to see and understand like humans.</a:t>
            </a:r>
          </a:p>
          <a:p>
            <a:pPr algn="l"/>
            <a:r>
              <a:rPr lang="en-US" sz="2800" b="0" i="0" dirty="0">
                <a:solidFill>
                  <a:srgbClr val="292929"/>
                </a:solidFill>
                <a:effectLst/>
                <a:latin typeface="charter"/>
              </a:rPr>
              <a:t>Computer vision is one of the hottest topics in Artificial Intelligence. It is being used extensively in Robotics, Autonomous Vehicles, Image Classification, Object Detection &amp; tracking, Semantic Segmentation as well as in various photo correction apps. In Autonomous vehicles, vision remains the main source of information to detect lanes, traffic lights, and other visual features.</a:t>
            </a:r>
          </a:p>
          <a:p>
            <a:pPr algn="l"/>
            <a:r>
              <a:rPr lang="en-US" sz="2800" b="0" i="0" dirty="0">
                <a:solidFill>
                  <a:srgbClr val="292929"/>
                </a:solidFill>
                <a:effectLst/>
                <a:latin typeface="charter"/>
              </a:rPr>
              <a:t>Despite the challenges, we have already done so many advancements in the field of Computer Vision.</a:t>
            </a:r>
          </a:p>
          <a:p>
            <a:pPr eaLnBrk="1" hangingPunct="1"/>
            <a:endParaRPr lang="en-US" sz="3000" dirty="0">
              <a:latin typeface="+mn-lt"/>
            </a:endParaRPr>
          </a:p>
        </p:txBody>
      </p:sp>
      <p:sp>
        <p:nvSpPr>
          <p:cNvPr id="45" name="Rectangle 44"/>
          <p:cNvSpPr/>
          <p:nvPr/>
        </p:nvSpPr>
        <p:spPr>
          <a:xfrm>
            <a:off x="19921450" y="21073088"/>
            <a:ext cx="8407576" cy="891547"/>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86970" tIns="43485" rIns="86970" bIns="43485" rtlCol="0" anchor="ctr"/>
          <a:lstStyle/>
          <a:p>
            <a:pPr algn="ctr"/>
            <a:r>
              <a:rPr lang="en-US" sz="5400" b="1" dirty="0">
                <a:solidFill>
                  <a:schemeClr val="accent3">
                    <a:lumMod val="20000"/>
                    <a:lumOff val="80000"/>
                  </a:schemeClr>
                </a:solidFill>
              </a:rPr>
              <a:t>Results</a:t>
            </a:r>
          </a:p>
        </p:txBody>
      </p:sp>
      <p:pic>
        <p:nvPicPr>
          <p:cNvPr id="50" name="Picture 179" descr="Picture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82242" y="46013345"/>
            <a:ext cx="2849903" cy="2014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80"/>
          <p:cNvSpPr txBox="1">
            <a:spLocks noChangeArrowheads="1"/>
          </p:cNvSpPr>
          <p:nvPr/>
        </p:nvSpPr>
        <p:spPr bwMode="auto">
          <a:xfrm>
            <a:off x="2000316" y="32335767"/>
            <a:ext cx="4463544"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1.</a:t>
            </a:r>
            <a:r>
              <a:rPr lang="en-US" sz="2400" dirty="0">
                <a:latin typeface="Calibri" pitchFamily="34" charset="0"/>
              </a:rPr>
              <a:t> Image before Processing.</a:t>
            </a:r>
          </a:p>
        </p:txBody>
      </p:sp>
      <p:sp>
        <p:nvSpPr>
          <p:cNvPr id="52" name="Text Box 181"/>
          <p:cNvSpPr txBox="1">
            <a:spLocks noChangeArrowheads="1"/>
          </p:cNvSpPr>
          <p:nvPr/>
        </p:nvSpPr>
        <p:spPr bwMode="auto">
          <a:xfrm>
            <a:off x="-2585972" y="49169518"/>
            <a:ext cx="4838710" cy="45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970" tIns="43485" rIns="86970" bIns="43485">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2.</a:t>
            </a:r>
            <a:r>
              <a:rPr lang="en-US" sz="2400" dirty="0">
                <a:latin typeface="Calibri" pitchFamily="34" charset="0"/>
              </a:rPr>
              <a:t> Detected Lanes from image.</a:t>
            </a:r>
          </a:p>
        </p:txBody>
      </p:sp>
      <p:sp>
        <p:nvSpPr>
          <p:cNvPr id="31" name="Rectangle 265"/>
          <p:cNvSpPr>
            <a:spLocks noChangeAspect="1" noChangeArrowheads="1"/>
          </p:cNvSpPr>
          <p:nvPr/>
        </p:nvSpPr>
        <p:spPr bwMode="auto">
          <a:xfrm>
            <a:off x="25192037" y="670719"/>
            <a:ext cx="4182436" cy="3328942"/>
          </a:xfrm>
          <a:prstGeom prst="rect">
            <a:avLst/>
          </a:prstGeom>
          <a:blipFill>
            <a:blip r:embed="rId11" cstate="print">
              <a:extLst>
                <a:ext uri="{28A0092B-C50C-407E-A947-70E740481C1C}">
                  <a14:useLocalDpi xmlns:a14="http://schemas.microsoft.com/office/drawing/2010/main" val="0"/>
                </a:ext>
              </a:extLst>
            </a:blip>
            <a:stretch>
              <a:fillRect/>
            </a:stretch>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9717" tIns="39858" rIns="79717" bIns="39858" anchor="ctr"/>
          <a:lstStyle/>
          <a:p>
            <a:pPr algn="ctr" defTabSz="3826073"/>
            <a:endParaRPr lang="en-US" sz="1900" b="1" dirty="0">
              <a:latin typeface="Calibri" pitchFamily="34" charset="0"/>
            </a:endParaRPr>
          </a:p>
        </p:txBody>
      </p:sp>
      <p:pic>
        <p:nvPicPr>
          <p:cNvPr id="1026" name="Picture 2">
            <a:extLst>
              <a:ext uri="{FF2B5EF4-FFF2-40B4-BE49-F238E27FC236}">
                <a16:creationId xmlns:a16="http://schemas.microsoft.com/office/drawing/2014/main" id="{2298CF52-9982-68A0-6B6B-2DEA258680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11656" y="32860701"/>
            <a:ext cx="5518290" cy="31040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9A9446C-1791-394F-65AA-40386F98CAA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81515" y="29238558"/>
            <a:ext cx="5572182" cy="30670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 1">
            <a:extLst>
              <a:ext uri="{FF2B5EF4-FFF2-40B4-BE49-F238E27FC236}">
                <a16:creationId xmlns:a16="http://schemas.microsoft.com/office/drawing/2014/main" id="{B023A33F-CB89-3CCE-5289-CF8EBAAED39B}"/>
              </a:ext>
            </a:extLst>
          </p:cNvPr>
          <p:cNvGraphicFramePr/>
          <p:nvPr>
            <p:extLst>
              <p:ext uri="{D42A27DB-BD31-4B8C-83A1-F6EECF244321}">
                <p14:modId xmlns:p14="http://schemas.microsoft.com/office/powerpoint/2010/main" val="3093361931"/>
              </p:ext>
            </p:extLst>
          </p:nvPr>
        </p:nvGraphicFramePr>
        <p:xfrm>
          <a:off x="5749552" y="9738519"/>
          <a:ext cx="18804377" cy="14978909"/>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pic>
        <p:nvPicPr>
          <p:cNvPr id="6" name="Picture 5" descr="Logo&#10;&#10;Description automatically generated">
            <a:extLst>
              <a:ext uri="{FF2B5EF4-FFF2-40B4-BE49-F238E27FC236}">
                <a16:creationId xmlns:a16="http://schemas.microsoft.com/office/drawing/2014/main" id="{D427E207-6198-D012-70A2-7230949980F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30787" y="677483"/>
            <a:ext cx="3425923" cy="3425923"/>
          </a:xfrm>
          <a:prstGeom prst="rect">
            <a:avLst/>
          </a:prstGeom>
        </p:spPr>
      </p:pic>
      <p:pic>
        <p:nvPicPr>
          <p:cNvPr id="8" name="Picture 4">
            <a:extLst>
              <a:ext uri="{FF2B5EF4-FFF2-40B4-BE49-F238E27FC236}">
                <a16:creationId xmlns:a16="http://schemas.microsoft.com/office/drawing/2014/main" id="{5E5B280D-B41A-6E58-35A2-FE83A040E74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494592" y="28898845"/>
            <a:ext cx="5572182" cy="35724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D50C12A-416B-9146-0226-220961EB884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742237" y="32860701"/>
            <a:ext cx="5610225" cy="34575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erspective_transform">
            <a:extLst>
              <a:ext uri="{FF2B5EF4-FFF2-40B4-BE49-F238E27FC236}">
                <a16:creationId xmlns:a16="http://schemas.microsoft.com/office/drawing/2014/main" id="{DB4CB7A8-7FDE-317D-B65C-F884B7ACD26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066837" y="32792918"/>
            <a:ext cx="12275414" cy="34575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vlovsk_railing_of_bridge_yellow_palace_winter_bw_threshold">
            <a:extLst>
              <a:ext uri="{FF2B5EF4-FFF2-40B4-BE49-F238E27FC236}">
                <a16:creationId xmlns:a16="http://schemas.microsoft.com/office/drawing/2014/main" id="{6CC24E51-E1C7-EB13-1208-2D7EB225DB4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848637" y="28843293"/>
            <a:ext cx="5715000" cy="385762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vlovsk_railing_of_bridge_yellow_palace_winter">
            <a:extLst>
              <a:ext uri="{FF2B5EF4-FFF2-40B4-BE49-F238E27FC236}">
                <a16:creationId xmlns:a16="http://schemas.microsoft.com/office/drawing/2014/main" id="{3D117826-2AEF-CC1B-9847-F5775D52B06B}"/>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763276" y="28794359"/>
            <a:ext cx="5715000" cy="3541408"/>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C3E12224-EA62-EFC7-BEFB-F19EF72C03BD}"/>
              </a:ext>
            </a:extLst>
          </p:cNvPr>
          <p:cNvSpPr txBox="1"/>
          <p:nvPr/>
        </p:nvSpPr>
        <p:spPr>
          <a:xfrm>
            <a:off x="18057123" y="32371057"/>
            <a:ext cx="7315200" cy="523220"/>
          </a:xfrm>
          <a:prstGeom prst="rect">
            <a:avLst/>
          </a:prstGeom>
          <a:noFill/>
        </p:spPr>
        <p:txBody>
          <a:bodyPr wrap="square">
            <a:spAutoFit/>
          </a:bodyPr>
          <a:lstStyle/>
          <a:p>
            <a:pPr marL="33858" rtl="0" fontAlgn="base">
              <a:spcBef>
                <a:spcPts val="0"/>
              </a:spcBef>
              <a:spcAft>
                <a:spcPts val="0"/>
              </a:spcAft>
              <a:buFont typeface="Arial" panose="020B0604020202020204" pitchFamily="34" charset="0"/>
              <a:buChar char="•"/>
            </a:pPr>
            <a:r>
              <a:rPr lang="en-US" sz="2800" dirty="0">
                <a:solidFill>
                  <a:srgbClr val="000000"/>
                </a:solidFill>
                <a:latin typeface="Arial" panose="020B0604020202020204" pitchFamily="34" charset="0"/>
              </a:rPr>
              <a:t>Fig. image thresholding</a:t>
            </a:r>
            <a:endParaRPr lang="en-US" sz="2800" b="0" i="0" u="none" strike="noStrike" dirty="0">
              <a:solidFill>
                <a:srgbClr val="000000"/>
              </a:solidFill>
              <a:effectLst/>
              <a:latin typeface="Arial" panose="020B0604020202020204" pitchFamily="34" charset="0"/>
            </a:endParaRPr>
          </a:p>
        </p:txBody>
      </p:sp>
      <p:sp>
        <p:nvSpPr>
          <p:cNvPr id="37" name="Text Box 189">
            <a:extLst>
              <a:ext uri="{FF2B5EF4-FFF2-40B4-BE49-F238E27FC236}">
                <a16:creationId xmlns:a16="http://schemas.microsoft.com/office/drawing/2014/main" id="{F457C5B8-86F9-70CC-C3B8-504001A53328}"/>
              </a:ext>
            </a:extLst>
          </p:cNvPr>
          <p:cNvSpPr txBox="1">
            <a:spLocks noChangeArrowheads="1"/>
          </p:cNvSpPr>
          <p:nvPr/>
        </p:nvSpPr>
        <p:spPr bwMode="auto">
          <a:xfrm>
            <a:off x="10947952" y="7496439"/>
            <a:ext cx="8407576" cy="1182274"/>
          </a:xfrm>
          <a:prstGeom prst="rect">
            <a:avLst/>
          </a:prstGeom>
          <a:solidFill>
            <a:schemeClr val="bg1"/>
          </a:solidFill>
          <a:ln w="12700">
            <a:solidFill>
              <a:schemeClr val="bg1"/>
            </a:solidFill>
          </a:ln>
          <a:effectLst/>
        </p:spPr>
        <p:txBody>
          <a:bodyPr lIns="173940" tIns="173940" rIns="173940" bIns="17394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0" marR="0" algn="ctr">
              <a:spcBef>
                <a:spcPts val="0"/>
              </a:spcBef>
              <a:spcAft>
                <a:spcPts val="0"/>
              </a:spcAft>
            </a:pPr>
            <a:r>
              <a:rPr lang="en-US" sz="5400" dirty="0">
                <a:latin typeface="Calibri" pitchFamily="34" charset="0"/>
              </a:rPr>
              <a:t>WORK FLOW</a:t>
            </a:r>
          </a:p>
        </p:txBody>
      </p:sp>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3130</TotalTime>
  <Words>630</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charter</vt:lpstr>
      <vt:lpstr>Symbol</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A0/A1</dc:title>
  <dc:creator>Jay Larson</dc:creator>
  <dc:description>Quality poster printing
www.genigraphics.com
1-800-790-4001</dc:description>
  <cp:lastModifiedBy>thanesh bisen</cp:lastModifiedBy>
  <cp:revision>71</cp:revision>
  <cp:lastPrinted>2013-02-12T02:21:55Z</cp:lastPrinted>
  <dcterms:created xsi:type="dcterms:W3CDTF">2013-02-10T21:14:48Z</dcterms:created>
  <dcterms:modified xsi:type="dcterms:W3CDTF">2022-06-09T16:48:29Z</dcterms:modified>
</cp:coreProperties>
</file>