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0267275" cy="42794238"/>
  <p:notesSz cx="7004050" cy="9290050"/>
  <p:defaultTextStyle>
    <a:defPPr>
      <a:defRPr lang="en-US"/>
    </a:defPPr>
    <a:lvl1pPr marL="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727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455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183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49113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3639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366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094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69822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9">
          <p15:clr>
            <a:srgbClr val="A4A3A4"/>
          </p15:clr>
        </p15:guide>
        <p15:guide id="2" pos="95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60" autoAdjust="0"/>
    <p:restoredTop sz="94676" autoAdjust="0"/>
  </p:normalViewPr>
  <p:slideViewPr>
    <p:cSldViewPr>
      <p:cViewPr varScale="1">
        <p:scale>
          <a:sx n="18" d="100"/>
          <a:sy n="18" d="100"/>
        </p:scale>
        <p:origin x="828" y="126"/>
      </p:cViewPr>
      <p:guideLst>
        <p:guide orient="horz" pos="13479"/>
        <p:guide pos="95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shit Gupta" userId="0804c3bad9979ff3" providerId="LiveId" clId="{2D8C3358-6D1C-4598-AD5C-218223FDADC0}"/>
    <pc:docChg chg="modSld">
      <pc:chgData name="Rakshit Gupta" userId="0804c3bad9979ff3" providerId="LiveId" clId="{2D8C3358-6D1C-4598-AD5C-218223FDADC0}" dt="2022-06-10T06:54:02.032" v="251" actId="20577"/>
      <pc:docMkLst>
        <pc:docMk/>
      </pc:docMkLst>
      <pc:sldChg chg="modSp mod">
        <pc:chgData name="Rakshit Gupta" userId="0804c3bad9979ff3" providerId="LiveId" clId="{2D8C3358-6D1C-4598-AD5C-218223FDADC0}" dt="2022-06-10T06:54:02.032" v="251" actId="20577"/>
        <pc:sldMkLst>
          <pc:docMk/>
          <pc:sldMk cId="2251251862" sldId="256"/>
        </pc:sldMkLst>
        <pc:spChg chg="mod">
          <ac:chgData name="Rakshit Gupta" userId="0804c3bad9979ff3" providerId="LiveId" clId="{2D8C3358-6D1C-4598-AD5C-218223FDADC0}" dt="2022-06-10T06:54:02.032" v="251" actId="20577"/>
          <ac:spMkLst>
            <pc:docMk/>
            <pc:sldMk cId="2251251862" sldId="256"/>
            <ac:spMk id="10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C6DD01-9F8F-4B0C-B116-CCE187A89FF2}" type="doc">
      <dgm:prSet loTypeId="urn:microsoft.com/office/officeart/2005/8/layout/hProcess4" loCatId="process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6F0BFF7E-C8C2-4E6A-9D66-27BB095EEDDD}">
      <dgm:prSet phldrT="[Text]"/>
      <dgm:spPr/>
      <dgm:t>
        <a:bodyPr/>
        <a:lstStyle/>
        <a:p>
          <a:r>
            <a:rPr lang="en-US" dirty="0"/>
            <a:t>Computer Vision</a:t>
          </a:r>
          <a:endParaRPr lang="en-IN" dirty="0"/>
        </a:p>
      </dgm:t>
    </dgm:pt>
    <dgm:pt modelId="{B13E413D-27D4-44BE-BD2C-BE530CDD46B9}" type="parTrans" cxnId="{52C9DBBD-3D0B-44DA-8AAF-FCF8DACE79D3}">
      <dgm:prSet/>
      <dgm:spPr/>
      <dgm:t>
        <a:bodyPr/>
        <a:lstStyle/>
        <a:p>
          <a:endParaRPr lang="en-IN"/>
        </a:p>
      </dgm:t>
    </dgm:pt>
    <dgm:pt modelId="{E268B963-F1CF-4987-93BB-A6A642D8A5F8}" type="sibTrans" cxnId="{52C9DBBD-3D0B-44DA-8AAF-FCF8DACE79D3}">
      <dgm:prSet/>
      <dgm:spPr/>
      <dgm:t>
        <a:bodyPr/>
        <a:lstStyle/>
        <a:p>
          <a:endParaRPr lang="en-IN"/>
        </a:p>
      </dgm:t>
    </dgm:pt>
    <dgm:pt modelId="{9692801C-B411-4452-95BC-7A5D1B1D46D4}">
      <dgm:prSet phldrT="[Text]"/>
      <dgm:spPr/>
      <dgm:t>
        <a:bodyPr/>
        <a:lstStyle/>
        <a:p>
          <a:r>
            <a:rPr lang="en-US" dirty="0"/>
            <a:t>Image pre-processing</a:t>
          </a:r>
          <a:endParaRPr lang="en-IN" dirty="0"/>
        </a:p>
      </dgm:t>
    </dgm:pt>
    <dgm:pt modelId="{41A2620D-1246-4C0F-87C4-47A22404405B}" type="parTrans" cxnId="{58D7F92D-8430-482F-B016-08E7FC446761}">
      <dgm:prSet/>
      <dgm:spPr/>
      <dgm:t>
        <a:bodyPr/>
        <a:lstStyle/>
        <a:p>
          <a:endParaRPr lang="en-IN"/>
        </a:p>
      </dgm:t>
    </dgm:pt>
    <dgm:pt modelId="{8D1484DC-2710-4915-AA36-192893617F9A}" type="sibTrans" cxnId="{58D7F92D-8430-482F-B016-08E7FC446761}">
      <dgm:prSet/>
      <dgm:spPr/>
      <dgm:t>
        <a:bodyPr/>
        <a:lstStyle/>
        <a:p>
          <a:endParaRPr lang="en-IN"/>
        </a:p>
      </dgm:t>
    </dgm:pt>
    <dgm:pt modelId="{EE48BAA6-043F-44E9-A57C-F984623CBBDC}">
      <dgm:prSet phldrT="[Text]"/>
      <dgm:spPr/>
      <dgm:t>
        <a:bodyPr/>
        <a:lstStyle/>
        <a:p>
          <a:r>
            <a:rPr lang="en-US" dirty="0"/>
            <a:t>Dataset Creation</a:t>
          </a:r>
          <a:endParaRPr lang="en-IN" dirty="0"/>
        </a:p>
      </dgm:t>
    </dgm:pt>
    <dgm:pt modelId="{2158348E-5DA7-4F4F-A1A6-C2ECB590F850}" type="parTrans" cxnId="{185247B4-7895-4BB1-9FF0-998B46347383}">
      <dgm:prSet/>
      <dgm:spPr/>
      <dgm:t>
        <a:bodyPr/>
        <a:lstStyle/>
        <a:p>
          <a:endParaRPr lang="en-IN"/>
        </a:p>
      </dgm:t>
    </dgm:pt>
    <dgm:pt modelId="{AFFCC55F-DB2F-415A-B9E3-E339C1DE6FD2}" type="sibTrans" cxnId="{185247B4-7895-4BB1-9FF0-998B46347383}">
      <dgm:prSet/>
      <dgm:spPr/>
      <dgm:t>
        <a:bodyPr/>
        <a:lstStyle/>
        <a:p>
          <a:endParaRPr lang="en-IN"/>
        </a:p>
      </dgm:t>
    </dgm:pt>
    <dgm:pt modelId="{51A996C5-5E4B-4778-94D5-AC678AE6E1D1}">
      <dgm:prSet phldrT="[Text]"/>
      <dgm:spPr/>
      <dgm:t>
        <a:bodyPr/>
        <a:lstStyle/>
        <a:p>
          <a:r>
            <a:rPr lang="en-US" dirty="0"/>
            <a:t>Thresholding</a:t>
          </a:r>
          <a:endParaRPr lang="en-IN" dirty="0"/>
        </a:p>
      </dgm:t>
    </dgm:pt>
    <dgm:pt modelId="{081B0F2F-1DED-452B-A4F9-12FE5D3BA718}" type="parTrans" cxnId="{3C226572-C6B7-4CC7-B8C3-56C572173B93}">
      <dgm:prSet/>
      <dgm:spPr/>
      <dgm:t>
        <a:bodyPr/>
        <a:lstStyle/>
        <a:p>
          <a:endParaRPr lang="en-IN"/>
        </a:p>
      </dgm:t>
    </dgm:pt>
    <dgm:pt modelId="{F32D54A6-B822-49C6-964A-5A967A4D6C6A}" type="sibTrans" cxnId="{3C226572-C6B7-4CC7-B8C3-56C572173B93}">
      <dgm:prSet/>
      <dgm:spPr/>
      <dgm:t>
        <a:bodyPr/>
        <a:lstStyle/>
        <a:p>
          <a:endParaRPr lang="en-IN"/>
        </a:p>
      </dgm:t>
    </dgm:pt>
    <dgm:pt modelId="{4D7519FD-B906-43D6-8773-FCAD31888019}">
      <dgm:prSet phldrT="[Text]"/>
      <dgm:spPr/>
      <dgm:t>
        <a:bodyPr/>
        <a:lstStyle/>
        <a:p>
          <a:r>
            <a:rPr lang="en-US" dirty="0"/>
            <a:t>Grey Scale Image</a:t>
          </a:r>
          <a:endParaRPr lang="en-IN" dirty="0"/>
        </a:p>
      </dgm:t>
    </dgm:pt>
    <dgm:pt modelId="{5848FF6E-AAD2-44E6-B540-E001AD281275}" type="parTrans" cxnId="{5C39B27A-F680-446C-B9DF-BD80CF485B7F}">
      <dgm:prSet/>
      <dgm:spPr/>
      <dgm:t>
        <a:bodyPr/>
        <a:lstStyle/>
        <a:p>
          <a:endParaRPr lang="en-IN"/>
        </a:p>
      </dgm:t>
    </dgm:pt>
    <dgm:pt modelId="{FD538A62-C7AF-4DED-B2D2-1A825DE6CD76}" type="sibTrans" cxnId="{5C39B27A-F680-446C-B9DF-BD80CF485B7F}">
      <dgm:prSet/>
      <dgm:spPr/>
      <dgm:t>
        <a:bodyPr/>
        <a:lstStyle/>
        <a:p>
          <a:endParaRPr lang="en-IN"/>
        </a:p>
      </dgm:t>
    </dgm:pt>
    <dgm:pt modelId="{7522CB08-8A68-433A-917D-FA6947B3B0A6}">
      <dgm:prSet phldrT="[Text]"/>
      <dgm:spPr/>
      <dgm:t>
        <a:bodyPr/>
        <a:lstStyle/>
        <a:p>
          <a:r>
            <a:rPr lang="en-US" dirty="0"/>
            <a:t>Scale Factor</a:t>
          </a:r>
          <a:endParaRPr lang="en-IN" dirty="0"/>
        </a:p>
      </dgm:t>
    </dgm:pt>
    <dgm:pt modelId="{48404EAB-581C-430E-AAA0-6D84962D554C}" type="parTrans" cxnId="{71517766-C1E1-4232-96EE-7B9AA95A07CD}">
      <dgm:prSet/>
      <dgm:spPr/>
      <dgm:t>
        <a:bodyPr/>
        <a:lstStyle/>
        <a:p>
          <a:endParaRPr lang="en-IN"/>
        </a:p>
      </dgm:t>
    </dgm:pt>
    <dgm:pt modelId="{F567FD5E-DA86-4E14-8FC1-0E7C68610F7C}" type="sibTrans" cxnId="{71517766-C1E1-4232-96EE-7B9AA95A07CD}">
      <dgm:prSet/>
      <dgm:spPr/>
      <dgm:t>
        <a:bodyPr/>
        <a:lstStyle/>
        <a:p>
          <a:endParaRPr lang="en-IN"/>
        </a:p>
      </dgm:t>
    </dgm:pt>
    <dgm:pt modelId="{1161509F-4D2A-4C8E-8B11-3500069BF691}">
      <dgm:prSet phldrT="[Text]"/>
      <dgm:spPr/>
      <dgm:t>
        <a:bodyPr/>
        <a:lstStyle/>
        <a:p>
          <a:r>
            <a:rPr lang="en-US" dirty="0"/>
            <a:t>Cascade Classifier</a:t>
          </a:r>
          <a:endParaRPr lang="en-IN" dirty="0"/>
        </a:p>
      </dgm:t>
    </dgm:pt>
    <dgm:pt modelId="{7EBAA95C-300F-4DF5-9CDB-6081F8679916}" type="parTrans" cxnId="{A0832DF6-1060-4807-8402-C27CF04AFC63}">
      <dgm:prSet/>
      <dgm:spPr/>
      <dgm:t>
        <a:bodyPr/>
        <a:lstStyle/>
        <a:p>
          <a:endParaRPr lang="en-IN"/>
        </a:p>
      </dgm:t>
    </dgm:pt>
    <dgm:pt modelId="{7D2CC193-1669-4E68-B201-92DCE7856C78}" type="sibTrans" cxnId="{A0832DF6-1060-4807-8402-C27CF04AFC63}">
      <dgm:prSet/>
      <dgm:spPr/>
      <dgm:t>
        <a:bodyPr/>
        <a:lstStyle/>
        <a:p>
          <a:endParaRPr lang="en-IN"/>
        </a:p>
      </dgm:t>
    </dgm:pt>
    <dgm:pt modelId="{0C7CBEEE-39C1-4F54-A9C3-FD6B0C8DEACB}">
      <dgm:prSet phldrT="[Text]"/>
      <dgm:spPr/>
      <dgm:t>
        <a:bodyPr/>
        <a:lstStyle/>
        <a:p>
          <a:r>
            <a:rPr lang="en-US" dirty="0"/>
            <a:t>Rapid Object Detection</a:t>
          </a:r>
          <a:endParaRPr lang="en-IN" dirty="0"/>
        </a:p>
      </dgm:t>
    </dgm:pt>
    <dgm:pt modelId="{1D78FA11-7BD4-4F40-8886-307E8D51CEC2}" type="parTrans" cxnId="{6D553156-D005-4287-BC09-0EFAA8239DB5}">
      <dgm:prSet/>
      <dgm:spPr/>
      <dgm:t>
        <a:bodyPr/>
        <a:lstStyle/>
        <a:p>
          <a:endParaRPr lang="en-IN"/>
        </a:p>
      </dgm:t>
    </dgm:pt>
    <dgm:pt modelId="{402D1F7C-68B3-4E57-8E1B-6A017C8B494A}" type="sibTrans" cxnId="{6D553156-D005-4287-BC09-0EFAA8239DB5}">
      <dgm:prSet/>
      <dgm:spPr/>
      <dgm:t>
        <a:bodyPr/>
        <a:lstStyle/>
        <a:p>
          <a:endParaRPr lang="en-IN"/>
        </a:p>
      </dgm:t>
    </dgm:pt>
    <dgm:pt modelId="{E8CEA5D4-1D44-4FB7-9C9D-029BA4CC71A2}">
      <dgm:prSet phldrT="[Text]"/>
      <dgm:spPr/>
      <dgm:t>
        <a:bodyPr/>
        <a:lstStyle/>
        <a:p>
          <a:r>
            <a:rPr lang="en-US" dirty="0"/>
            <a:t>HAAR Feature</a:t>
          </a:r>
          <a:endParaRPr lang="en-IN" dirty="0"/>
        </a:p>
      </dgm:t>
    </dgm:pt>
    <dgm:pt modelId="{4D9780A5-C6D1-45CC-B7EF-8E49A393C444}" type="parTrans" cxnId="{A47FEC1F-D413-48B8-99B6-4EBB656820B3}">
      <dgm:prSet/>
      <dgm:spPr/>
      <dgm:t>
        <a:bodyPr/>
        <a:lstStyle/>
        <a:p>
          <a:endParaRPr lang="en-IN"/>
        </a:p>
      </dgm:t>
    </dgm:pt>
    <dgm:pt modelId="{07A7B11D-55E6-4D87-A784-05FFAE61636B}" type="sibTrans" cxnId="{A47FEC1F-D413-48B8-99B6-4EBB656820B3}">
      <dgm:prSet/>
      <dgm:spPr/>
      <dgm:t>
        <a:bodyPr/>
        <a:lstStyle/>
        <a:p>
          <a:endParaRPr lang="en-IN"/>
        </a:p>
      </dgm:t>
    </dgm:pt>
    <dgm:pt modelId="{6D5E2BEF-DE75-4DE1-86ED-67E06BB045E8}" type="pres">
      <dgm:prSet presAssocID="{3EC6DD01-9F8F-4B0C-B116-CCE187A89FF2}" presName="Name0" presStyleCnt="0">
        <dgm:presLayoutVars>
          <dgm:dir/>
          <dgm:animLvl val="lvl"/>
          <dgm:resizeHandles val="exact"/>
        </dgm:presLayoutVars>
      </dgm:prSet>
      <dgm:spPr/>
    </dgm:pt>
    <dgm:pt modelId="{915CB23C-840B-4B24-BA9C-F2CE29A96439}" type="pres">
      <dgm:prSet presAssocID="{3EC6DD01-9F8F-4B0C-B116-CCE187A89FF2}" presName="tSp" presStyleCnt="0"/>
      <dgm:spPr/>
    </dgm:pt>
    <dgm:pt modelId="{897264AB-D043-45D3-BE55-E63C984602F8}" type="pres">
      <dgm:prSet presAssocID="{3EC6DD01-9F8F-4B0C-B116-CCE187A89FF2}" presName="bSp" presStyleCnt="0"/>
      <dgm:spPr/>
    </dgm:pt>
    <dgm:pt modelId="{34C946FD-5E6F-4C60-8BF5-BBFFA633BE7A}" type="pres">
      <dgm:prSet presAssocID="{3EC6DD01-9F8F-4B0C-B116-CCE187A89FF2}" presName="process" presStyleCnt="0"/>
      <dgm:spPr/>
    </dgm:pt>
    <dgm:pt modelId="{2D11D950-5391-437F-9091-5B8BE2FD473C}" type="pres">
      <dgm:prSet presAssocID="{6F0BFF7E-C8C2-4E6A-9D66-27BB095EEDDD}" presName="composite1" presStyleCnt="0"/>
      <dgm:spPr/>
    </dgm:pt>
    <dgm:pt modelId="{3B52EC50-2A27-461B-8D25-B4CF504327A4}" type="pres">
      <dgm:prSet presAssocID="{6F0BFF7E-C8C2-4E6A-9D66-27BB095EEDDD}" presName="dummyNode1" presStyleLbl="node1" presStyleIdx="0" presStyleCnt="3"/>
      <dgm:spPr/>
    </dgm:pt>
    <dgm:pt modelId="{8B1908AA-9C02-44C1-B6C5-2AF3BB238594}" type="pres">
      <dgm:prSet presAssocID="{6F0BFF7E-C8C2-4E6A-9D66-27BB095EEDDD}" presName="childNode1" presStyleLbl="bgAcc1" presStyleIdx="0" presStyleCnt="3">
        <dgm:presLayoutVars>
          <dgm:bulletEnabled val="1"/>
        </dgm:presLayoutVars>
      </dgm:prSet>
      <dgm:spPr/>
    </dgm:pt>
    <dgm:pt modelId="{FB4B4E0D-2E4A-475B-B375-F9227124DBE0}" type="pres">
      <dgm:prSet presAssocID="{6F0BFF7E-C8C2-4E6A-9D66-27BB095EEDDD}" presName="childNode1tx" presStyleLbl="bgAcc1" presStyleIdx="0" presStyleCnt="3">
        <dgm:presLayoutVars>
          <dgm:bulletEnabled val="1"/>
        </dgm:presLayoutVars>
      </dgm:prSet>
      <dgm:spPr/>
    </dgm:pt>
    <dgm:pt modelId="{6DBA5CB2-9E09-4762-94BB-127B12DDD792}" type="pres">
      <dgm:prSet presAssocID="{6F0BFF7E-C8C2-4E6A-9D66-27BB095EEDDD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622844A3-90D6-4375-A023-13F00CEDB23E}" type="pres">
      <dgm:prSet presAssocID="{6F0BFF7E-C8C2-4E6A-9D66-27BB095EEDDD}" presName="connSite1" presStyleCnt="0"/>
      <dgm:spPr/>
    </dgm:pt>
    <dgm:pt modelId="{C008F5BD-12C7-414B-9CE8-113AD5302BDE}" type="pres">
      <dgm:prSet presAssocID="{E268B963-F1CF-4987-93BB-A6A642D8A5F8}" presName="Name9" presStyleLbl="sibTrans2D1" presStyleIdx="0" presStyleCnt="2"/>
      <dgm:spPr/>
    </dgm:pt>
    <dgm:pt modelId="{73FA590B-ED83-42AF-89DC-3A978D1E1267}" type="pres">
      <dgm:prSet presAssocID="{51A996C5-5E4B-4778-94D5-AC678AE6E1D1}" presName="composite2" presStyleCnt="0"/>
      <dgm:spPr/>
    </dgm:pt>
    <dgm:pt modelId="{1BD671E5-1A4A-4CE4-8DB5-3F12DBE608ED}" type="pres">
      <dgm:prSet presAssocID="{51A996C5-5E4B-4778-94D5-AC678AE6E1D1}" presName="dummyNode2" presStyleLbl="node1" presStyleIdx="0" presStyleCnt="3"/>
      <dgm:spPr/>
    </dgm:pt>
    <dgm:pt modelId="{435930BB-CE18-4588-A94D-63DDEA83E548}" type="pres">
      <dgm:prSet presAssocID="{51A996C5-5E4B-4778-94D5-AC678AE6E1D1}" presName="childNode2" presStyleLbl="bgAcc1" presStyleIdx="1" presStyleCnt="3">
        <dgm:presLayoutVars>
          <dgm:bulletEnabled val="1"/>
        </dgm:presLayoutVars>
      </dgm:prSet>
      <dgm:spPr/>
    </dgm:pt>
    <dgm:pt modelId="{CC5A3EA7-E209-425E-B29C-2672C3480487}" type="pres">
      <dgm:prSet presAssocID="{51A996C5-5E4B-4778-94D5-AC678AE6E1D1}" presName="childNode2tx" presStyleLbl="bgAcc1" presStyleIdx="1" presStyleCnt="3">
        <dgm:presLayoutVars>
          <dgm:bulletEnabled val="1"/>
        </dgm:presLayoutVars>
      </dgm:prSet>
      <dgm:spPr/>
    </dgm:pt>
    <dgm:pt modelId="{CFCBB80C-6F76-4AF7-9A7D-162315747BA2}" type="pres">
      <dgm:prSet presAssocID="{51A996C5-5E4B-4778-94D5-AC678AE6E1D1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1F76B3C4-81F9-430D-A658-FF73CBD833A8}" type="pres">
      <dgm:prSet presAssocID="{51A996C5-5E4B-4778-94D5-AC678AE6E1D1}" presName="connSite2" presStyleCnt="0"/>
      <dgm:spPr/>
    </dgm:pt>
    <dgm:pt modelId="{7383599A-8E75-42BC-A2A3-5D2C33833CD5}" type="pres">
      <dgm:prSet presAssocID="{F32D54A6-B822-49C6-964A-5A967A4D6C6A}" presName="Name18" presStyleLbl="sibTrans2D1" presStyleIdx="1" presStyleCnt="2"/>
      <dgm:spPr/>
    </dgm:pt>
    <dgm:pt modelId="{C4FD0C80-2A46-4212-88F5-0E4D8799EDFC}" type="pres">
      <dgm:prSet presAssocID="{1161509F-4D2A-4C8E-8B11-3500069BF691}" presName="composite1" presStyleCnt="0"/>
      <dgm:spPr/>
    </dgm:pt>
    <dgm:pt modelId="{9B22719E-2C3A-4973-A3B6-615FC113D046}" type="pres">
      <dgm:prSet presAssocID="{1161509F-4D2A-4C8E-8B11-3500069BF691}" presName="dummyNode1" presStyleLbl="node1" presStyleIdx="1" presStyleCnt="3"/>
      <dgm:spPr/>
    </dgm:pt>
    <dgm:pt modelId="{77E24034-AEC1-4254-BF4D-5931F586CC4D}" type="pres">
      <dgm:prSet presAssocID="{1161509F-4D2A-4C8E-8B11-3500069BF691}" presName="childNode1" presStyleLbl="bgAcc1" presStyleIdx="2" presStyleCnt="3">
        <dgm:presLayoutVars>
          <dgm:bulletEnabled val="1"/>
        </dgm:presLayoutVars>
      </dgm:prSet>
      <dgm:spPr/>
    </dgm:pt>
    <dgm:pt modelId="{12ED1C2D-9E92-4780-A3A7-05F05AEA54A1}" type="pres">
      <dgm:prSet presAssocID="{1161509F-4D2A-4C8E-8B11-3500069BF691}" presName="childNode1tx" presStyleLbl="bgAcc1" presStyleIdx="2" presStyleCnt="3">
        <dgm:presLayoutVars>
          <dgm:bulletEnabled val="1"/>
        </dgm:presLayoutVars>
      </dgm:prSet>
      <dgm:spPr/>
    </dgm:pt>
    <dgm:pt modelId="{0AF45315-3644-4838-BA50-7D72323C5F90}" type="pres">
      <dgm:prSet presAssocID="{1161509F-4D2A-4C8E-8B11-3500069BF691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2B8009CA-D872-4AAA-8D85-B949BA6C405A}" type="pres">
      <dgm:prSet presAssocID="{1161509F-4D2A-4C8E-8B11-3500069BF691}" presName="connSite1" presStyleCnt="0"/>
      <dgm:spPr/>
    </dgm:pt>
  </dgm:ptLst>
  <dgm:cxnLst>
    <dgm:cxn modelId="{94852212-9139-4200-AE1B-FC56CDDAAF15}" type="presOf" srcId="{7522CB08-8A68-433A-917D-FA6947B3B0A6}" destId="{CC5A3EA7-E209-425E-B29C-2672C3480487}" srcOrd="1" destOrd="1" presId="urn:microsoft.com/office/officeart/2005/8/layout/hProcess4"/>
    <dgm:cxn modelId="{FBF1C71E-3064-431D-AF86-C8D746C89961}" type="presOf" srcId="{E268B963-F1CF-4987-93BB-A6A642D8A5F8}" destId="{C008F5BD-12C7-414B-9CE8-113AD5302BDE}" srcOrd="0" destOrd="0" presId="urn:microsoft.com/office/officeart/2005/8/layout/hProcess4"/>
    <dgm:cxn modelId="{A47FEC1F-D413-48B8-99B6-4EBB656820B3}" srcId="{1161509F-4D2A-4C8E-8B11-3500069BF691}" destId="{E8CEA5D4-1D44-4FB7-9C9D-029BA4CC71A2}" srcOrd="1" destOrd="0" parTransId="{4D9780A5-C6D1-45CC-B7EF-8E49A393C444}" sibTransId="{07A7B11D-55E6-4D87-A784-05FFAE61636B}"/>
    <dgm:cxn modelId="{BA261421-5BD2-45F2-BBBE-59A2985E4E7D}" type="presOf" srcId="{E8CEA5D4-1D44-4FB7-9C9D-029BA4CC71A2}" destId="{12ED1C2D-9E92-4780-A3A7-05F05AEA54A1}" srcOrd="1" destOrd="1" presId="urn:microsoft.com/office/officeart/2005/8/layout/hProcess4"/>
    <dgm:cxn modelId="{58D7F92D-8430-482F-B016-08E7FC446761}" srcId="{6F0BFF7E-C8C2-4E6A-9D66-27BB095EEDDD}" destId="{9692801C-B411-4452-95BC-7A5D1B1D46D4}" srcOrd="0" destOrd="0" parTransId="{41A2620D-1246-4C0F-87C4-47A22404405B}" sibTransId="{8D1484DC-2710-4915-AA36-192893617F9A}"/>
    <dgm:cxn modelId="{0225B537-1C02-40D2-AFB3-50F69F9B0FC6}" type="presOf" srcId="{6F0BFF7E-C8C2-4E6A-9D66-27BB095EEDDD}" destId="{6DBA5CB2-9E09-4762-94BB-127B12DDD792}" srcOrd="0" destOrd="0" presId="urn:microsoft.com/office/officeart/2005/8/layout/hProcess4"/>
    <dgm:cxn modelId="{71517766-C1E1-4232-96EE-7B9AA95A07CD}" srcId="{51A996C5-5E4B-4778-94D5-AC678AE6E1D1}" destId="{7522CB08-8A68-433A-917D-FA6947B3B0A6}" srcOrd="1" destOrd="0" parTransId="{48404EAB-581C-430E-AAA0-6D84962D554C}" sibTransId="{F567FD5E-DA86-4E14-8FC1-0E7C68610F7C}"/>
    <dgm:cxn modelId="{9D2B7868-E3B8-48A4-A9B4-2D57588DE6C6}" type="presOf" srcId="{3EC6DD01-9F8F-4B0C-B116-CCE187A89FF2}" destId="{6D5E2BEF-DE75-4DE1-86ED-67E06BB045E8}" srcOrd="0" destOrd="0" presId="urn:microsoft.com/office/officeart/2005/8/layout/hProcess4"/>
    <dgm:cxn modelId="{3C226572-C6B7-4CC7-B8C3-56C572173B93}" srcId="{3EC6DD01-9F8F-4B0C-B116-CCE187A89FF2}" destId="{51A996C5-5E4B-4778-94D5-AC678AE6E1D1}" srcOrd="1" destOrd="0" parTransId="{081B0F2F-1DED-452B-A4F9-12FE5D3BA718}" sibTransId="{F32D54A6-B822-49C6-964A-5A967A4D6C6A}"/>
    <dgm:cxn modelId="{6D553156-D005-4287-BC09-0EFAA8239DB5}" srcId="{1161509F-4D2A-4C8E-8B11-3500069BF691}" destId="{0C7CBEEE-39C1-4F54-A9C3-FD6B0C8DEACB}" srcOrd="0" destOrd="0" parTransId="{1D78FA11-7BD4-4F40-8886-307E8D51CEC2}" sibTransId="{402D1F7C-68B3-4E57-8E1B-6A017C8B494A}"/>
    <dgm:cxn modelId="{5C39B27A-F680-446C-B9DF-BD80CF485B7F}" srcId="{51A996C5-5E4B-4778-94D5-AC678AE6E1D1}" destId="{4D7519FD-B906-43D6-8773-FCAD31888019}" srcOrd="0" destOrd="0" parTransId="{5848FF6E-AAD2-44E6-B540-E001AD281275}" sibTransId="{FD538A62-C7AF-4DED-B2D2-1A825DE6CD76}"/>
    <dgm:cxn modelId="{D0AD847B-57AE-4F38-BD12-072CD9FFCB18}" type="presOf" srcId="{EE48BAA6-043F-44E9-A57C-F984623CBBDC}" destId="{8B1908AA-9C02-44C1-B6C5-2AF3BB238594}" srcOrd="0" destOrd="1" presId="urn:microsoft.com/office/officeart/2005/8/layout/hProcess4"/>
    <dgm:cxn modelId="{B2101B99-E13D-4868-BDEF-82D1379D02C3}" type="presOf" srcId="{1161509F-4D2A-4C8E-8B11-3500069BF691}" destId="{0AF45315-3644-4838-BA50-7D72323C5F90}" srcOrd="0" destOrd="0" presId="urn:microsoft.com/office/officeart/2005/8/layout/hProcess4"/>
    <dgm:cxn modelId="{4348009D-8E50-4D6B-874D-F76C39C15BCA}" type="presOf" srcId="{7522CB08-8A68-433A-917D-FA6947B3B0A6}" destId="{435930BB-CE18-4588-A94D-63DDEA83E548}" srcOrd="0" destOrd="1" presId="urn:microsoft.com/office/officeart/2005/8/layout/hProcess4"/>
    <dgm:cxn modelId="{185247B4-7895-4BB1-9FF0-998B46347383}" srcId="{6F0BFF7E-C8C2-4E6A-9D66-27BB095EEDDD}" destId="{EE48BAA6-043F-44E9-A57C-F984623CBBDC}" srcOrd="1" destOrd="0" parTransId="{2158348E-5DA7-4F4F-A1A6-C2ECB590F850}" sibTransId="{AFFCC55F-DB2F-415A-B9E3-E339C1DE6FD2}"/>
    <dgm:cxn modelId="{8F2DA7B5-E7AE-4D55-9772-21E454B6F9BC}" type="presOf" srcId="{0C7CBEEE-39C1-4F54-A9C3-FD6B0C8DEACB}" destId="{12ED1C2D-9E92-4780-A3A7-05F05AEA54A1}" srcOrd="1" destOrd="0" presId="urn:microsoft.com/office/officeart/2005/8/layout/hProcess4"/>
    <dgm:cxn modelId="{40AF78B6-07D8-4580-8813-108A3FF8FD40}" type="presOf" srcId="{9692801C-B411-4452-95BC-7A5D1B1D46D4}" destId="{8B1908AA-9C02-44C1-B6C5-2AF3BB238594}" srcOrd="0" destOrd="0" presId="urn:microsoft.com/office/officeart/2005/8/layout/hProcess4"/>
    <dgm:cxn modelId="{AF286FBA-FDCE-4E0A-8053-A79E1A7FCC35}" type="presOf" srcId="{EE48BAA6-043F-44E9-A57C-F984623CBBDC}" destId="{FB4B4E0D-2E4A-475B-B375-F9227124DBE0}" srcOrd="1" destOrd="1" presId="urn:microsoft.com/office/officeart/2005/8/layout/hProcess4"/>
    <dgm:cxn modelId="{52C9DBBD-3D0B-44DA-8AAF-FCF8DACE79D3}" srcId="{3EC6DD01-9F8F-4B0C-B116-CCE187A89FF2}" destId="{6F0BFF7E-C8C2-4E6A-9D66-27BB095EEDDD}" srcOrd="0" destOrd="0" parTransId="{B13E413D-27D4-44BE-BD2C-BE530CDD46B9}" sibTransId="{E268B963-F1CF-4987-93BB-A6A642D8A5F8}"/>
    <dgm:cxn modelId="{05DB81C3-A733-40A5-B6B5-E7DEB18A4455}" type="presOf" srcId="{4D7519FD-B906-43D6-8773-FCAD31888019}" destId="{CC5A3EA7-E209-425E-B29C-2672C3480487}" srcOrd="1" destOrd="0" presId="urn:microsoft.com/office/officeart/2005/8/layout/hProcess4"/>
    <dgm:cxn modelId="{320CE5CB-1AD2-4B7F-BBEB-2A0CBF9BB61D}" type="presOf" srcId="{9692801C-B411-4452-95BC-7A5D1B1D46D4}" destId="{FB4B4E0D-2E4A-475B-B375-F9227124DBE0}" srcOrd="1" destOrd="0" presId="urn:microsoft.com/office/officeart/2005/8/layout/hProcess4"/>
    <dgm:cxn modelId="{1F9611CC-C63D-4FDF-8B3B-523AE830CE0A}" type="presOf" srcId="{0C7CBEEE-39C1-4F54-A9C3-FD6B0C8DEACB}" destId="{77E24034-AEC1-4254-BF4D-5931F586CC4D}" srcOrd="0" destOrd="0" presId="urn:microsoft.com/office/officeart/2005/8/layout/hProcess4"/>
    <dgm:cxn modelId="{57A013D9-8AF2-4DEE-A9A2-459329CF7645}" type="presOf" srcId="{4D7519FD-B906-43D6-8773-FCAD31888019}" destId="{435930BB-CE18-4588-A94D-63DDEA83E548}" srcOrd="0" destOrd="0" presId="urn:microsoft.com/office/officeart/2005/8/layout/hProcess4"/>
    <dgm:cxn modelId="{112CF2DE-F7B6-49AC-B149-CE3279380C27}" type="presOf" srcId="{E8CEA5D4-1D44-4FB7-9C9D-029BA4CC71A2}" destId="{77E24034-AEC1-4254-BF4D-5931F586CC4D}" srcOrd="0" destOrd="1" presId="urn:microsoft.com/office/officeart/2005/8/layout/hProcess4"/>
    <dgm:cxn modelId="{6BCD1CEA-7A15-48D6-B77F-3B8F9FFA654E}" type="presOf" srcId="{F32D54A6-B822-49C6-964A-5A967A4D6C6A}" destId="{7383599A-8E75-42BC-A2A3-5D2C33833CD5}" srcOrd="0" destOrd="0" presId="urn:microsoft.com/office/officeart/2005/8/layout/hProcess4"/>
    <dgm:cxn modelId="{ACAE94F4-377B-41F6-B226-1D01F75C9671}" type="presOf" srcId="{51A996C5-5E4B-4778-94D5-AC678AE6E1D1}" destId="{CFCBB80C-6F76-4AF7-9A7D-162315747BA2}" srcOrd="0" destOrd="0" presId="urn:microsoft.com/office/officeart/2005/8/layout/hProcess4"/>
    <dgm:cxn modelId="{A0832DF6-1060-4807-8402-C27CF04AFC63}" srcId="{3EC6DD01-9F8F-4B0C-B116-CCE187A89FF2}" destId="{1161509F-4D2A-4C8E-8B11-3500069BF691}" srcOrd="2" destOrd="0" parTransId="{7EBAA95C-300F-4DF5-9CDB-6081F8679916}" sibTransId="{7D2CC193-1669-4E68-B201-92DCE7856C78}"/>
    <dgm:cxn modelId="{330BF63F-E0D3-493A-A943-C8D5A88C4040}" type="presParOf" srcId="{6D5E2BEF-DE75-4DE1-86ED-67E06BB045E8}" destId="{915CB23C-840B-4B24-BA9C-F2CE29A96439}" srcOrd="0" destOrd="0" presId="urn:microsoft.com/office/officeart/2005/8/layout/hProcess4"/>
    <dgm:cxn modelId="{120F3712-D6D2-4875-8309-CCB458F3FC40}" type="presParOf" srcId="{6D5E2BEF-DE75-4DE1-86ED-67E06BB045E8}" destId="{897264AB-D043-45D3-BE55-E63C984602F8}" srcOrd="1" destOrd="0" presId="urn:microsoft.com/office/officeart/2005/8/layout/hProcess4"/>
    <dgm:cxn modelId="{6EBE9F38-533F-484E-8D0B-E3F71F336ECE}" type="presParOf" srcId="{6D5E2BEF-DE75-4DE1-86ED-67E06BB045E8}" destId="{34C946FD-5E6F-4C60-8BF5-BBFFA633BE7A}" srcOrd="2" destOrd="0" presId="urn:microsoft.com/office/officeart/2005/8/layout/hProcess4"/>
    <dgm:cxn modelId="{0B33DB8B-C493-4305-ADCA-EC2375EB16A3}" type="presParOf" srcId="{34C946FD-5E6F-4C60-8BF5-BBFFA633BE7A}" destId="{2D11D950-5391-437F-9091-5B8BE2FD473C}" srcOrd="0" destOrd="0" presId="urn:microsoft.com/office/officeart/2005/8/layout/hProcess4"/>
    <dgm:cxn modelId="{41FD6692-B446-410E-8017-D09DB154E707}" type="presParOf" srcId="{2D11D950-5391-437F-9091-5B8BE2FD473C}" destId="{3B52EC50-2A27-461B-8D25-B4CF504327A4}" srcOrd="0" destOrd="0" presId="urn:microsoft.com/office/officeart/2005/8/layout/hProcess4"/>
    <dgm:cxn modelId="{CF83D817-1061-44C3-88FD-7515EE7125A1}" type="presParOf" srcId="{2D11D950-5391-437F-9091-5B8BE2FD473C}" destId="{8B1908AA-9C02-44C1-B6C5-2AF3BB238594}" srcOrd="1" destOrd="0" presId="urn:microsoft.com/office/officeart/2005/8/layout/hProcess4"/>
    <dgm:cxn modelId="{781B75AC-4BBF-45D0-915A-7F6EA533DCFC}" type="presParOf" srcId="{2D11D950-5391-437F-9091-5B8BE2FD473C}" destId="{FB4B4E0D-2E4A-475B-B375-F9227124DBE0}" srcOrd="2" destOrd="0" presId="urn:microsoft.com/office/officeart/2005/8/layout/hProcess4"/>
    <dgm:cxn modelId="{63170D2A-7834-46CE-8BEF-B4373D33F992}" type="presParOf" srcId="{2D11D950-5391-437F-9091-5B8BE2FD473C}" destId="{6DBA5CB2-9E09-4762-94BB-127B12DDD792}" srcOrd="3" destOrd="0" presId="urn:microsoft.com/office/officeart/2005/8/layout/hProcess4"/>
    <dgm:cxn modelId="{89A98F92-0841-468A-9775-7B6D2F7A325D}" type="presParOf" srcId="{2D11D950-5391-437F-9091-5B8BE2FD473C}" destId="{622844A3-90D6-4375-A023-13F00CEDB23E}" srcOrd="4" destOrd="0" presId="urn:microsoft.com/office/officeart/2005/8/layout/hProcess4"/>
    <dgm:cxn modelId="{19AE2E36-013E-4E09-911C-73FC73E8794B}" type="presParOf" srcId="{34C946FD-5E6F-4C60-8BF5-BBFFA633BE7A}" destId="{C008F5BD-12C7-414B-9CE8-113AD5302BDE}" srcOrd="1" destOrd="0" presId="urn:microsoft.com/office/officeart/2005/8/layout/hProcess4"/>
    <dgm:cxn modelId="{C49C15CC-3A3C-47CB-AF39-FF25F3D16D25}" type="presParOf" srcId="{34C946FD-5E6F-4C60-8BF5-BBFFA633BE7A}" destId="{73FA590B-ED83-42AF-89DC-3A978D1E1267}" srcOrd="2" destOrd="0" presId="urn:microsoft.com/office/officeart/2005/8/layout/hProcess4"/>
    <dgm:cxn modelId="{DB2A5709-2CC1-4A9B-AD9F-D6E7F6EFAFB6}" type="presParOf" srcId="{73FA590B-ED83-42AF-89DC-3A978D1E1267}" destId="{1BD671E5-1A4A-4CE4-8DB5-3F12DBE608ED}" srcOrd="0" destOrd="0" presId="urn:microsoft.com/office/officeart/2005/8/layout/hProcess4"/>
    <dgm:cxn modelId="{56C73AEC-B43D-4CF0-B464-F11FD7FE3017}" type="presParOf" srcId="{73FA590B-ED83-42AF-89DC-3A978D1E1267}" destId="{435930BB-CE18-4588-A94D-63DDEA83E548}" srcOrd="1" destOrd="0" presId="urn:microsoft.com/office/officeart/2005/8/layout/hProcess4"/>
    <dgm:cxn modelId="{D0B58DAC-3010-48E3-92A0-7934DDE2F7FB}" type="presParOf" srcId="{73FA590B-ED83-42AF-89DC-3A978D1E1267}" destId="{CC5A3EA7-E209-425E-B29C-2672C3480487}" srcOrd="2" destOrd="0" presId="urn:microsoft.com/office/officeart/2005/8/layout/hProcess4"/>
    <dgm:cxn modelId="{1929CF2C-448D-4AA3-A7F8-41A42E582BC3}" type="presParOf" srcId="{73FA590B-ED83-42AF-89DC-3A978D1E1267}" destId="{CFCBB80C-6F76-4AF7-9A7D-162315747BA2}" srcOrd="3" destOrd="0" presId="urn:microsoft.com/office/officeart/2005/8/layout/hProcess4"/>
    <dgm:cxn modelId="{F4F5D800-47ED-4ABF-ACE0-2663B00A400A}" type="presParOf" srcId="{73FA590B-ED83-42AF-89DC-3A978D1E1267}" destId="{1F76B3C4-81F9-430D-A658-FF73CBD833A8}" srcOrd="4" destOrd="0" presId="urn:microsoft.com/office/officeart/2005/8/layout/hProcess4"/>
    <dgm:cxn modelId="{97B788D4-84A0-4C2E-9A16-7E2346DF678E}" type="presParOf" srcId="{34C946FD-5E6F-4C60-8BF5-BBFFA633BE7A}" destId="{7383599A-8E75-42BC-A2A3-5D2C33833CD5}" srcOrd="3" destOrd="0" presId="urn:microsoft.com/office/officeart/2005/8/layout/hProcess4"/>
    <dgm:cxn modelId="{E4231827-D53B-48FB-9A35-D97B13B76DBB}" type="presParOf" srcId="{34C946FD-5E6F-4C60-8BF5-BBFFA633BE7A}" destId="{C4FD0C80-2A46-4212-88F5-0E4D8799EDFC}" srcOrd="4" destOrd="0" presId="urn:microsoft.com/office/officeart/2005/8/layout/hProcess4"/>
    <dgm:cxn modelId="{8B10B388-E37A-4980-AB36-71EB499EB21E}" type="presParOf" srcId="{C4FD0C80-2A46-4212-88F5-0E4D8799EDFC}" destId="{9B22719E-2C3A-4973-A3B6-615FC113D046}" srcOrd="0" destOrd="0" presId="urn:microsoft.com/office/officeart/2005/8/layout/hProcess4"/>
    <dgm:cxn modelId="{9DB2BB6D-5D91-4EA3-AED3-43A3BFE39AF5}" type="presParOf" srcId="{C4FD0C80-2A46-4212-88F5-0E4D8799EDFC}" destId="{77E24034-AEC1-4254-BF4D-5931F586CC4D}" srcOrd="1" destOrd="0" presId="urn:microsoft.com/office/officeart/2005/8/layout/hProcess4"/>
    <dgm:cxn modelId="{91A5CD34-2C06-4922-97A6-B1E83A1F9863}" type="presParOf" srcId="{C4FD0C80-2A46-4212-88F5-0E4D8799EDFC}" destId="{12ED1C2D-9E92-4780-A3A7-05F05AEA54A1}" srcOrd="2" destOrd="0" presId="urn:microsoft.com/office/officeart/2005/8/layout/hProcess4"/>
    <dgm:cxn modelId="{2747224C-060F-4A44-BD8F-2F15BF6601B6}" type="presParOf" srcId="{C4FD0C80-2A46-4212-88F5-0E4D8799EDFC}" destId="{0AF45315-3644-4838-BA50-7D72323C5F90}" srcOrd="3" destOrd="0" presId="urn:microsoft.com/office/officeart/2005/8/layout/hProcess4"/>
    <dgm:cxn modelId="{776461DC-1F4C-4819-9ED8-39ED3EC765CC}" type="presParOf" srcId="{C4FD0C80-2A46-4212-88F5-0E4D8799EDFC}" destId="{2B8009CA-D872-4AAA-8D85-B949BA6C405A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1908AA-9C02-44C1-B6C5-2AF3BB238594}">
      <dsp:nvSpPr>
        <dsp:cNvPr id="0" name=""/>
        <dsp:cNvSpPr/>
      </dsp:nvSpPr>
      <dsp:spPr>
        <a:xfrm>
          <a:off x="3657" y="4351559"/>
          <a:ext cx="5383487" cy="44402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0965" tIns="100965" rIns="100965" bIns="100965" numCol="1" spcCol="1270" anchor="t" anchorCtr="0">
          <a:noAutofit/>
        </a:bodyPr>
        <a:lstStyle/>
        <a:p>
          <a:pPr marL="285750" lvl="1" indent="-285750" algn="l" defTabSz="2355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300" kern="1200" dirty="0"/>
            <a:t>Image pre-processing</a:t>
          </a:r>
          <a:endParaRPr lang="en-IN" sz="5300" kern="1200" dirty="0"/>
        </a:p>
        <a:p>
          <a:pPr marL="285750" lvl="1" indent="-285750" algn="l" defTabSz="2355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300" kern="1200" dirty="0"/>
            <a:t>Dataset Creation</a:t>
          </a:r>
          <a:endParaRPr lang="en-IN" sz="5300" kern="1200" dirty="0"/>
        </a:p>
      </dsp:txBody>
      <dsp:txXfrm>
        <a:off x="105840" y="4453742"/>
        <a:ext cx="5179121" cy="3284402"/>
      </dsp:txXfrm>
    </dsp:sp>
    <dsp:sp modelId="{C008F5BD-12C7-414B-9CE8-113AD5302BDE}">
      <dsp:nvSpPr>
        <dsp:cNvPr id="0" name=""/>
        <dsp:cNvSpPr/>
      </dsp:nvSpPr>
      <dsp:spPr>
        <a:xfrm>
          <a:off x="3097731" y="5655810"/>
          <a:ext cx="5572507" cy="5572507"/>
        </a:xfrm>
        <a:prstGeom prst="leftCircularArrow">
          <a:avLst>
            <a:gd name="adj1" fmla="val 2505"/>
            <a:gd name="adj2" fmla="val 303610"/>
            <a:gd name="adj3" fmla="val 2079120"/>
            <a:gd name="adj4" fmla="val 9024489"/>
            <a:gd name="adj5" fmla="val 2922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DBA5CB2-9E09-4762-94BB-127B12DDD792}">
      <dsp:nvSpPr>
        <dsp:cNvPr id="0" name=""/>
        <dsp:cNvSpPr/>
      </dsp:nvSpPr>
      <dsp:spPr>
        <a:xfrm>
          <a:off x="1199987" y="7840328"/>
          <a:ext cx="4785322" cy="19029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73660" rIns="110490" bIns="7366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/>
            <a:t>Computer Vision</a:t>
          </a:r>
          <a:endParaRPr lang="en-IN" sz="5800" kern="1200" dirty="0"/>
        </a:p>
      </dsp:txBody>
      <dsp:txXfrm>
        <a:off x="1255723" y="7896064"/>
        <a:ext cx="4673850" cy="1791492"/>
      </dsp:txXfrm>
    </dsp:sp>
    <dsp:sp modelId="{435930BB-CE18-4588-A94D-63DDEA83E548}">
      <dsp:nvSpPr>
        <dsp:cNvPr id="0" name=""/>
        <dsp:cNvSpPr/>
      </dsp:nvSpPr>
      <dsp:spPr>
        <a:xfrm>
          <a:off x="6650000" y="4351559"/>
          <a:ext cx="5383487" cy="44402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0965" tIns="100965" rIns="100965" bIns="100965" numCol="1" spcCol="1270" anchor="t" anchorCtr="0">
          <a:noAutofit/>
        </a:bodyPr>
        <a:lstStyle/>
        <a:p>
          <a:pPr marL="285750" lvl="1" indent="-285750" algn="l" defTabSz="2355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300" kern="1200" dirty="0"/>
            <a:t>Grey Scale Image</a:t>
          </a:r>
          <a:endParaRPr lang="en-IN" sz="5300" kern="1200" dirty="0"/>
        </a:p>
        <a:p>
          <a:pPr marL="285750" lvl="1" indent="-285750" algn="l" defTabSz="2355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300" kern="1200" dirty="0"/>
            <a:t>Scale Factor</a:t>
          </a:r>
          <a:endParaRPr lang="en-IN" sz="5300" kern="1200" dirty="0"/>
        </a:p>
      </dsp:txBody>
      <dsp:txXfrm>
        <a:off x="6752183" y="5405224"/>
        <a:ext cx="5179121" cy="3284402"/>
      </dsp:txXfrm>
    </dsp:sp>
    <dsp:sp modelId="{7383599A-8E75-42BC-A2A3-5D2C33833CD5}">
      <dsp:nvSpPr>
        <dsp:cNvPr id="0" name=""/>
        <dsp:cNvSpPr/>
      </dsp:nvSpPr>
      <dsp:spPr>
        <a:xfrm>
          <a:off x="9699212" y="1740953"/>
          <a:ext cx="6260397" cy="6260397"/>
        </a:xfrm>
        <a:prstGeom prst="circularArrow">
          <a:avLst>
            <a:gd name="adj1" fmla="val 2230"/>
            <a:gd name="adj2" fmla="val 268537"/>
            <a:gd name="adj3" fmla="val 19555953"/>
            <a:gd name="adj4" fmla="val 12575511"/>
            <a:gd name="adj5" fmla="val 2601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FCBB80C-6F76-4AF7-9A7D-162315747BA2}">
      <dsp:nvSpPr>
        <dsp:cNvPr id="0" name=""/>
        <dsp:cNvSpPr/>
      </dsp:nvSpPr>
      <dsp:spPr>
        <a:xfrm>
          <a:off x="7846330" y="3400076"/>
          <a:ext cx="4785322" cy="19029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73660" rIns="110490" bIns="7366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/>
            <a:t>Thresholding</a:t>
          </a:r>
          <a:endParaRPr lang="en-IN" sz="5800" kern="1200" dirty="0"/>
        </a:p>
      </dsp:txBody>
      <dsp:txXfrm>
        <a:off x="7902066" y="3455812"/>
        <a:ext cx="4673850" cy="1791492"/>
      </dsp:txXfrm>
    </dsp:sp>
    <dsp:sp modelId="{77E24034-AEC1-4254-BF4D-5931F586CC4D}">
      <dsp:nvSpPr>
        <dsp:cNvPr id="0" name=""/>
        <dsp:cNvSpPr/>
      </dsp:nvSpPr>
      <dsp:spPr>
        <a:xfrm>
          <a:off x="13296342" y="4351559"/>
          <a:ext cx="5383487" cy="44402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0965" tIns="100965" rIns="100965" bIns="100965" numCol="1" spcCol="1270" anchor="t" anchorCtr="0">
          <a:noAutofit/>
        </a:bodyPr>
        <a:lstStyle/>
        <a:p>
          <a:pPr marL="285750" lvl="1" indent="-285750" algn="l" defTabSz="2355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300" kern="1200" dirty="0"/>
            <a:t>Rapid Object Detection</a:t>
          </a:r>
          <a:endParaRPr lang="en-IN" sz="5300" kern="1200" dirty="0"/>
        </a:p>
        <a:p>
          <a:pPr marL="285750" lvl="1" indent="-285750" algn="l" defTabSz="2355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300" kern="1200" dirty="0"/>
            <a:t>HAAR Feature</a:t>
          </a:r>
          <a:endParaRPr lang="en-IN" sz="5300" kern="1200" dirty="0"/>
        </a:p>
      </dsp:txBody>
      <dsp:txXfrm>
        <a:off x="13398525" y="4453742"/>
        <a:ext cx="5179121" cy="3284402"/>
      </dsp:txXfrm>
    </dsp:sp>
    <dsp:sp modelId="{0AF45315-3644-4838-BA50-7D72323C5F90}">
      <dsp:nvSpPr>
        <dsp:cNvPr id="0" name=""/>
        <dsp:cNvSpPr/>
      </dsp:nvSpPr>
      <dsp:spPr>
        <a:xfrm>
          <a:off x="14492673" y="7840328"/>
          <a:ext cx="4785322" cy="19029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73660" rIns="110490" bIns="7366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/>
            <a:t>Cascade Classifier</a:t>
          </a:r>
          <a:endParaRPr lang="en-IN" sz="5800" kern="1200" dirty="0"/>
        </a:p>
      </dsp:txBody>
      <dsp:txXfrm>
        <a:off x="14548409" y="7896064"/>
        <a:ext cx="4673850" cy="17914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9426517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30267275" cy="534927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37444959"/>
            <a:ext cx="30267275" cy="53492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9" name="Instructions"/>
          <p:cNvSpPr/>
          <p:nvPr userDrawn="1"/>
        </p:nvSpPr>
        <p:spPr>
          <a:xfrm>
            <a:off x="-12611365" y="0"/>
            <a:ext cx="11770607" cy="427942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7425" tIns="217425" rIns="217425" bIns="217425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Print Size:</a:t>
            </a:r>
            <a:endParaRPr sz="88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This poster template is set up for A0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international paper size of 1189 mm x 841 mm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(46.8” high by 33.1” wide). It can be printed at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70.6% for an A1 poster of 841 mm x 594 mm.</a:t>
            </a:r>
            <a:endParaRPr lang="en-US" sz="60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Placeholders</a:t>
            </a:r>
            <a:r>
              <a:rPr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The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various elements included</a:t>
            </a: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 this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are ones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we often see in medical, research, and scientific posters.</a:t>
            </a: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Feel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free to edit, move,  add, and delete items, or change the layout to suit your needs. Always check with your conference organizer for specific requirements.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Image</a:t>
            </a:r>
            <a:r>
              <a:rPr lang="en-US" sz="88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Quality</a:t>
            </a: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You can place digital photos or logo art in your poster file by selecting the </a:t>
            </a:r>
            <a:r>
              <a:rPr lang="en-US" sz="60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Insert, Picture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command, or by using standard copy &amp; paste. For best results, all graphic elements should be at least </a:t>
            </a:r>
            <a:r>
              <a:rPr lang="en-US" sz="60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150-200 pixels per inch in their final printed size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. For instance, a 1600 x 1200 pixel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photo will usually look fine up to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8“-10” wide on your printed poster.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To preview the print quality of images, select a magnification of 100% when previewing your poster. This will give you a good idea of what it will look like in print. If you are laying out a large poster and using half-scale dimensions, be sure to preview your graphics at 200% to see them at their final printed size.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Please note that graphics from websites (such as the logo on your hospital's or university's home page) will only be 72dpi and not suitable for printing.</a:t>
            </a:r>
          </a:p>
          <a:p>
            <a:pPr lvl="0" algn="ctr">
              <a:spcBef>
                <a:spcPts val="0"/>
              </a:spcBef>
              <a:spcAft>
                <a:spcPts val="2282"/>
              </a:spcAft>
            </a:pPr>
            <a:br>
              <a:rPr lang="en-US" sz="4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</a:br>
            <a:r>
              <a:rPr lang="en-US" sz="4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[This sidebar area does not print.]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31108033" y="0"/>
            <a:ext cx="11770607" cy="42794238"/>
            <a:chOff x="33832800" y="0"/>
            <a:chExt cx="12801600" cy="43891200"/>
          </a:xfrm>
        </p:grpSpPr>
        <p:sp>
          <p:nvSpPr>
            <p:cNvPr id="13" name="Instructions"/>
            <p:cNvSpPr/>
            <p:nvPr userDrawn="1"/>
          </p:nvSpPr>
          <p:spPr>
            <a:xfrm>
              <a:off x="33832800" y="0"/>
              <a:ext cx="12801600" cy="43891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8600" tIns="228600" rIns="228600" bIns="228600" rtlCol="0" anchor="t"/>
            <a:lstStyle>
              <a:defPPr>
                <a:defRPr lang="en-US"/>
              </a:defPPr>
              <a:lvl1pPr marL="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84343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8686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53029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37372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921715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106058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90401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74744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Change</a:t>
              </a:r>
              <a:r>
                <a:rPr lang="en-US" sz="88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Color Theme</a:t>
              </a: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:</a:t>
              </a:r>
              <a:endParaRPr sz="8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This template is designed to use the built-in color themes in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the newer versions of PowerPoint.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To change the color theme, select the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Design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tab, then select the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Colors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drop-down list.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The default color theme for this template is “Office”, so you can always return to that after trying some of the alternatives.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Printing Your Poster: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Once your poster file is ready, visit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www.genigraphics.com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to order a high-quality, affordable poster print. Every order receives a free design review and we can delivery as fast as next business day within the US and Canada. 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Genigraphics® has been producing output from PowerPoint® longer than anyone in the industry; dating back to when we helped Microsoft® design the PowerPoint software. </a:t>
              </a:r>
            </a:p>
            <a:p>
              <a:pPr lvl="0">
                <a:spcBef>
                  <a:spcPts val="0"/>
                </a:spcBef>
                <a:spcAft>
                  <a:spcPts val="0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US and Canada:  1-800-790-4001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International: +(1) 913-441-1410</a:t>
              </a:r>
              <a:b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Email: info@genigraphics.com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br>
                <a:rPr lang="en-US" sz="44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44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[This sidebar area does not print.]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81342" y="8425085"/>
              <a:ext cx="11904515" cy="10246926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1037" y="42504519"/>
            <a:ext cx="5297435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6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3364" y="1713754"/>
            <a:ext cx="27240548" cy="7132373"/>
          </a:xfrm>
          <a:prstGeom prst="rect">
            <a:avLst/>
          </a:prstGeom>
        </p:spPr>
        <p:txBody>
          <a:bodyPr vert="horz" lIns="417456" tIns="208727" rIns="417456" bIns="208727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364" y="9985326"/>
            <a:ext cx="27240548" cy="28242219"/>
          </a:xfrm>
          <a:prstGeom prst="rect">
            <a:avLst/>
          </a:prstGeom>
        </p:spPr>
        <p:txBody>
          <a:bodyPr vert="horz" lIns="417456" tIns="208727" rIns="417456" bIns="208727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3364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41319" y="39663922"/>
            <a:ext cx="9584637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1547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174556" rtl="0" eaLnBrk="1" latinLnBrk="0" hangingPunct="1">
        <a:spcBef>
          <a:spcPct val="0"/>
        </a:spcBef>
        <a:buNone/>
        <a:defRPr sz="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4850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69699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549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1739398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248" indent="-434850" algn="l" defTabSz="4174556" rtl="0" eaLnBrk="1" latinLnBrk="0" hangingPunct="1">
        <a:spcBef>
          <a:spcPct val="20000"/>
        </a:spcBef>
        <a:buFont typeface="Arial" pitchFamily="34" charset="0"/>
        <a:buChar char="»"/>
        <a:defRPr sz="3400" kern="1200">
          <a:solidFill>
            <a:schemeClr val="tx1"/>
          </a:solidFill>
          <a:latin typeface="+mn-lt"/>
          <a:ea typeface="+mn-ea"/>
          <a:cs typeface="+mn-cs"/>
        </a:defRPr>
      </a:lvl5pPr>
      <a:lvl6pPr marL="11480029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567307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654585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741863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727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455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6183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49113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3639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2366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1094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69822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diagramData" Target="../diagrams/data1.xml"/><Relationship Id="rId12" Type="http://schemas.openxmlformats.org/officeDocument/2006/relationships/image" Target="../media/image7.png"/><Relationship Id="rId2" Type="http://schemas.openxmlformats.org/officeDocument/2006/relationships/hyperlink" Target="https://www.linkedin.com/company/avida-nita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diagramDrawing" Target="../diagrams/drawing1.xml"/><Relationship Id="rId5" Type="http://schemas.openxmlformats.org/officeDocument/2006/relationships/image" Target="../media/image5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4.jpg"/><Relationship Id="rId9" Type="http://schemas.openxmlformats.org/officeDocument/2006/relationships/diagramQuickStyle" Target="../diagrams/quickStyle1.xml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4570801" y="84189"/>
            <a:ext cx="21117102" cy="3217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3940" tIns="434850" rIns="173940" bIns="434850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7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Team AVIDA</a:t>
            </a:r>
          </a:p>
          <a:p>
            <a:pPr algn="ctr" eaLnBrk="1" hangingPunct="1"/>
            <a:r>
              <a:rPr lang="en-US" sz="7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Vehicle Detection</a:t>
            </a:r>
          </a:p>
        </p:txBody>
      </p:sp>
      <p:sp>
        <p:nvSpPr>
          <p:cNvPr id="5" name="Text Box 123"/>
          <p:cNvSpPr txBox="1">
            <a:spLocks noChangeArrowheads="1"/>
          </p:cNvSpPr>
          <p:nvPr/>
        </p:nvSpPr>
        <p:spPr bwMode="auto">
          <a:xfrm>
            <a:off x="4570801" y="3120414"/>
            <a:ext cx="21117102" cy="2228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3940" tIns="173940" rIns="173940" bIns="173940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46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1.Hareesh M. 2. </a:t>
            </a:r>
            <a:r>
              <a:rPr lang="en-US" sz="4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Shivansh</a:t>
            </a:r>
            <a:r>
              <a:rPr lang="en-US" sz="46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 Mishra 3. Thanesh Bisen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136" y="39049741"/>
            <a:ext cx="6696206" cy="23961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3000" dirty="0"/>
              <a:t>Team AVIDA</a:t>
            </a:r>
          </a:p>
          <a:p>
            <a:r>
              <a:rPr lang="en-US" sz="3000" dirty="0"/>
              <a:t>Team Id – SDCC2021001</a:t>
            </a:r>
          </a:p>
          <a:p>
            <a:r>
              <a:rPr lang="en-US" sz="3000" dirty="0"/>
              <a:t>National Institute of Technology, Agartala.</a:t>
            </a:r>
          </a:p>
          <a:p>
            <a:r>
              <a:rPr lang="en-US" sz="3000" dirty="0"/>
              <a:t>LinkedIn: </a:t>
            </a:r>
            <a:r>
              <a:rPr lang="en-US" sz="3000" dirty="0">
                <a:hlinkClick r:id="rId2"/>
              </a:rPr>
              <a:t>Team Avida/LinkedIn</a:t>
            </a:r>
            <a:r>
              <a:rPr lang="en-US" sz="3000" dirty="0"/>
              <a:t>2021</a:t>
            </a:r>
          </a:p>
          <a:p>
            <a:r>
              <a:rPr lang="en-US" sz="3000" dirty="0"/>
              <a:t>Phone:7905155527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136" y="37890733"/>
            <a:ext cx="2385859" cy="918816"/>
          </a:xfrm>
          <a:prstGeom prst="rect">
            <a:avLst/>
          </a:prstGeom>
          <a:noFill/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5400" b="1" dirty="0"/>
              <a:t>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33638" y="39049741"/>
            <a:ext cx="13452122" cy="2852949"/>
          </a:xfrm>
          <a:prstGeom prst="rect">
            <a:avLst/>
          </a:prstGeom>
          <a:noFill/>
        </p:spPr>
        <p:txBody>
          <a:bodyPr wrap="square" lIns="86970" tIns="86970" rIns="86970" bIns="86970" numCol="1" spcCol="434850" rtlCol="0">
            <a:noAutofit/>
          </a:bodyPr>
          <a:lstStyle/>
          <a:p>
            <a:pPr marL="434850" indent="-434850">
              <a:buFont typeface="+mj-lt"/>
              <a:buAutoNum type="arabicPeriod"/>
            </a:pPr>
            <a:r>
              <a:rPr lang="en-US" sz="1600" dirty="0"/>
              <a:t> • https://www.codespeedy.com/vehicle-detection-in-python-using-opencv/</a:t>
            </a:r>
          </a:p>
          <a:p>
            <a:pPr marL="434850" indent="-434850">
              <a:buFont typeface="+mj-lt"/>
              <a:buAutoNum type="arabicPeriod"/>
            </a:pPr>
            <a:r>
              <a:rPr lang="en-US" sz="1600" dirty="0"/>
              <a:t>• https://pyimagesearch.com/2019/12/02/opencv-vehicle-detection-tracking-and-speed-estimation/</a:t>
            </a:r>
          </a:p>
          <a:p>
            <a:pPr marL="434850" indent="-434850">
              <a:buFont typeface="+mj-lt"/>
              <a:buAutoNum type="arabicPeriod"/>
            </a:pPr>
            <a:r>
              <a:rPr lang="en-US" sz="1600" dirty="0"/>
              <a:t>• https://dev.to/kalebu/how-to-perform-real-time-</a:t>
            </a:r>
          </a:p>
          <a:p>
            <a:pPr marL="434850" indent="-434850">
              <a:buFont typeface="+mj-lt"/>
              <a:buAutoNum type="arabicPeriod"/>
            </a:pPr>
            <a:r>
              <a:rPr lang="en-US" sz="1600" dirty="0"/>
              <a:t>vehicle-detection-in-python-4i9h</a:t>
            </a:r>
          </a:p>
          <a:p>
            <a:pPr marL="434850" indent="-434850">
              <a:buFont typeface="+mj-lt"/>
              <a:buAutoNum type="arabicPeriod"/>
            </a:pPr>
            <a:endParaRPr lang="en-US" sz="1600" dirty="0"/>
          </a:p>
          <a:p>
            <a:pPr marL="434850" indent="-434850">
              <a:buFont typeface="+mj-lt"/>
              <a:buAutoNum type="arabicPeriod"/>
            </a:pPr>
            <a:r>
              <a:rPr lang="en-US" sz="1600" dirty="0"/>
              <a:t>• https://techvidvan.com/tutorials/opencv-vehicle-</a:t>
            </a:r>
          </a:p>
          <a:p>
            <a:pPr marL="434850" indent="-434850">
              <a:buFont typeface="+mj-lt"/>
              <a:buAutoNum type="arabicPeriod"/>
            </a:pPr>
            <a:r>
              <a:rPr lang="en-US" sz="1600" dirty="0"/>
              <a:t>detection-classification-counting/</a:t>
            </a:r>
          </a:p>
          <a:p>
            <a:pPr marL="434850" indent="-434850">
              <a:buFont typeface="+mj-lt"/>
              <a:buAutoNum type="arabicPeriod"/>
            </a:pPr>
            <a:endParaRPr lang="en-US" sz="1600" dirty="0"/>
          </a:p>
          <a:p>
            <a:pPr marL="434850" indent="-434850">
              <a:buFont typeface="+mj-lt"/>
              <a:buAutoNum type="arabicPeriod"/>
            </a:pPr>
            <a:r>
              <a:rPr lang="en-US" sz="1600" dirty="0"/>
              <a:t>• https://www.analyticsvidhya.com/blog/2020/04/ve</a:t>
            </a:r>
          </a:p>
          <a:p>
            <a:pPr marL="434850" indent="-434850">
              <a:buFont typeface="+mj-lt"/>
              <a:buAutoNum type="arabicPeriod"/>
            </a:pPr>
            <a:r>
              <a:rPr lang="en-US" sz="1600" dirty="0" err="1"/>
              <a:t>hicle</a:t>
            </a:r>
            <a:r>
              <a:rPr lang="en-US" sz="1600" dirty="0"/>
              <a:t>-detection-</a:t>
            </a:r>
            <a:r>
              <a:rPr lang="en-US" sz="1600" dirty="0" err="1"/>
              <a:t>opencv</a:t>
            </a:r>
            <a:r>
              <a:rPr lang="en-US" sz="1600" dirty="0"/>
              <a:t>-python/</a:t>
            </a:r>
          </a:p>
          <a:p>
            <a:pPr marL="434850" indent="-434850">
              <a:buFont typeface="+mj-lt"/>
              <a:buAutoNum type="arabicPeriod"/>
            </a:pPr>
            <a:endParaRPr lang="en-US" sz="1600" dirty="0"/>
          </a:p>
          <a:p>
            <a:pPr marL="434850" indent="-434850">
              <a:buFont typeface="+mj-lt"/>
              <a:buAutoNum type="arabicPeriod"/>
            </a:pPr>
            <a:r>
              <a:rPr lang="en-US" sz="1600" dirty="0"/>
              <a:t>• https://dev.to/kalebu/how-to-perform-real-time-</a:t>
            </a:r>
          </a:p>
          <a:p>
            <a:pPr marL="434850" indent="-434850">
              <a:buFont typeface="+mj-lt"/>
              <a:buAutoNum type="arabicPeriod"/>
            </a:pPr>
            <a:r>
              <a:rPr lang="en-US" sz="1600" dirty="0"/>
              <a:t>vehicle-detection-in-python-4i9h  </a:t>
            </a:r>
          </a:p>
          <a:p>
            <a:pPr marL="434850" indent="-434850">
              <a:buFont typeface="+mj-lt"/>
              <a:buAutoNum type="arabicPeriod"/>
            </a:pPr>
            <a:endParaRPr lang="en-US" sz="1600" dirty="0"/>
          </a:p>
        </p:txBody>
      </p:sp>
      <p:sp>
        <p:nvSpPr>
          <p:cNvPr id="27" name="TextBox 26"/>
          <p:cNvSpPr txBox="1"/>
          <p:nvPr/>
        </p:nvSpPr>
        <p:spPr>
          <a:xfrm>
            <a:off x="15133638" y="37890733"/>
            <a:ext cx="3325668" cy="918816"/>
          </a:xfrm>
          <a:prstGeom prst="rect">
            <a:avLst/>
          </a:prstGeom>
          <a:noFill/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5400" b="1" dirty="0"/>
              <a:t>References</a:t>
            </a:r>
          </a:p>
        </p:txBody>
      </p:sp>
      <p:sp>
        <p:nvSpPr>
          <p:cNvPr id="10" name="Text Box 189"/>
          <p:cNvSpPr txBox="1">
            <a:spLocks noChangeArrowheads="1"/>
          </p:cNvSpPr>
          <p:nvPr/>
        </p:nvSpPr>
        <p:spPr bwMode="auto">
          <a:xfrm>
            <a:off x="1681515" y="7132373"/>
            <a:ext cx="8407576" cy="635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dirty="0">
                <a:latin typeface="Calibri" pitchFamily="34" charset="0"/>
              </a:rPr>
              <a:t>In this project, our aim is to study about real-time vehicle detection and try to incorporate the feature in our autonomous vehicle model by writing a code, implementing crucial machine learning concepts. We used OpenCV to isolate pixels and perform various image and graphics related operations worked with Cascade Classifier for object detection.</a:t>
            </a:r>
          </a:p>
          <a:p>
            <a:pPr eaLnBrk="1" hangingPunct="1"/>
            <a:r>
              <a:rPr lang="en-US" sz="3000" dirty="0">
                <a:latin typeface="+mn-lt"/>
              </a:rPr>
              <a:t>Our objective is to capture the coordinates of the moving object and highlight that object in the video.</a:t>
            </a:r>
            <a:r>
              <a:rPr lang="en-US" sz="3000" dirty="0">
                <a:latin typeface="Calibri" pitchFamily="34" charset="0"/>
              </a:rPr>
              <a:t> Overall, we were able to use, understand and modify the above piece of code and implement it on raw video feed and easily create our own vehicle detection pipeline.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81515" y="6240826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Abstract</a:t>
            </a:r>
          </a:p>
        </p:txBody>
      </p:sp>
      <p:sp>
        <p:nvSpPr>
          <p:cNvPr id="15" name="Text Box 194"/>
          <p:cNvSpPr txBox="1">
            <a:spLocks noChangeArrowheads="1"/>
          </p:cNvSpPr>
          <p:nvPr/>
        </p:nvSpPr>
        <p:spPr bwMode="auto">
          <a:xfrm>
            <a:off x="10790237" y="9933621"/>
            <a:ext cx="8407576" cy="127460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dirty="0">
                <a:latin typeface="Calibri" pitchFamily="34" charset="0"/>
              </a:rPr>
              <a:t>The image below is a still frame from the output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video feed after the program was run: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81515" y="14920119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Introduction</a:t>
            </a:r>
          </a:p>
        </p:txBody>
      </p:sp>
      <p:sp>
        <p:nvSpPr>
          <p:cNvPr id="13" name="Text Box 192"/>
          <p:cNvSpPr txBox="1">
            <a:spLocks noChangeArrowheads="1"/>
          </p:cNvSpPr>
          <p:nvPr/>
        </p:nvSpPr>
        <p:spPr bwMode="auto">
          <a:xfrm>
            <a:off x="10929850" y="7132373"/>
            <a:ext cx="8407576" cy="173627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14350" indent="-514350" eaLnBrk="1" hangingPunct="1">
              <a:buAutoNum type="arabicPeriod"/>
            </a:pPr>
            <a:r>
              <a:rPr lang="en-US" sz="3000" dirty="0">
                <a:latin typeface="Calibri" pitchFamily="34" charset="0"/>
              </a:rPr>
              <a:t>Computer Vision</a:t>
            </a:r>
          </a:p>
          <a:p>
            <a:pPr marL="514350" indent="-514350" eaLnBrk="1" hangingPunct="1">
              <a:buAutoNum type="arabicPeriod"/>
            </a:pPr>
            <a:r>
              <a:rPr lang="en-US" sz="3000" dirty="0">
                <a:latin typeface="Calibri" pitchFamily="34" charset="0"/>
              </a:rPr>
              <a:t>Thresholding</a:t>
            </a:r>
          </a:p>
          <a:p>
            <a:pPr marL="514350" indent="-514350" eaLnBrk="1" hangingPunct="1">
              <a:buAutoNum type="arabicPeriod"/>
            </a:pPr>
            <a:r>
              <a:rPr lang="en-US" sz="3000" dirty="0">
                <a:latin typeface="Calibri" pitchFamily="34" charset="0"/>
              </a:rPr>
              <a:t>Cascade Classifier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29850" y="6240826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Methodology</a:t>
            </a:r>
          </a:p>
        </p:txBody>
      </p:sp>
      <p:sp>
        <p:nvSpPr>
          <p:cNvPr id="14" name="Text Box 193"/>
          <p:cNvSpPr txBox="1">
            <a:spLocks noChangeArrowheads="1"/>
          </p:cNvSpPr>
          <p:nvPr/>
        </p:nvSpPr>
        <p:spPr bwMode="auto">
          <a:xfrm>
            <a:off x="19631028" y="7496678"/>
            <a:ext cx="8407576" cy="727625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en-US" sz="3000" dirty="0">
                <a:latin typeface="Calibri" pitchFamily="34" charset="0"/>
              </a:rPr>
              <a:t>1. Using OpenCV to isolate pixels and perform various image and graphics related operations.</a:t>
            </a:r>
          </a:p>
          <a:p>
            <a:pPr algn="just" eaLnBrk="1" hangingPunct="1"/>
            <a:r>
              <a:rPr lang="en-US" sz="3000" dirty="0">
                <a:latin typeface="Calibri" pitchFamily="34" charset="0"/>
              </a:rPr>
              <a:t>2. Using Computer Vision ML techniques and learning the use various classification techniques utilized in Computer Vision.</a:t>
            </a:r>
          </a:p>
          <a:p>
            <a:pPr algn="just" eaLnBrk="1" hangingPunct="1"/>
            <a:r>
              <a:rPr lang="en-US" sz="3000" dirty="0">
                <a:latin typeface="Calibri" pitchFamily="34" charset="0"/>
              </a:rPr>
              <a:t>3. Working with Cascade Classifier for object detection.</a:t>
            </a:r>
          </a:p>
          <a:p>
            <a:pPr algn="just" eaLnBrk="1" hangingPunct="1"/>
            <a:r>
              <a:rPr lang="en-US" sz="3000" dirty="0">
                <a:latin typeface="Calibri" pitchFamily="34" charset="0"/>
              </a:rPr>
              <a:t>4. Learning about reducing time and improving accuracy by using pre-trained models in supervised learning.</a:t>
            </a: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algn="just" eaLnBrk="1" hangingPunct="1"/>
            <a:r>
              <a:rPr lang="en-US" sz="3000" dirty="0">
                <a:latin typeface="Calibri" pitchFamily="34" charset="0"/>
              </a:rPr>
              <a:t>Overall, we were able to use, understand and modify the above piece of code and implement it on raw video feed and easily create our own vehicle detection pipeline.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631028" y="6364939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Conclusions</a:t>
            </a:r>
          </a:p>
        </p:txBody>
      </p:sp>
      <p:sp>
        <p:nvSpPr>
          <p:cNvPr id="11" name="Text Box 190"/>
          <p:cNvSpPr txBox="1">
            <a:spLocks noChangeArrowheads="1"/>
          </p:cNvSpPr>
          <p:nvPr/>
        </p:nvSpPr>
        <p:spPr bwMode="auto">
          <a:xfrm>
            <a:off x="1681515" y="15811666"/>
            <a:ext cx="8407576" cy="1143123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en-US" sz="3000" dirty="0">
                <a:latin typeface="+mn-lt"/>
              </a:rPr>
              <a:t>Real-time vehicle detection is one of the many application of object detection, whereby focuses on detecting cars within an image together with the location coordinates.</a:t>
            </a:r>
          </a:p>
          <a:p>
            <a:pPr algn="just" eaLnBrk="1" hangingPunct="1"/>
            <a:r>
              <a:rPr lang="en-US" sz="3000" dirty="0">
                <a:latin typeface="+mn-lt"/>
              </a:rPr>
              <a:t>Vehicle detection together with road detection is heavily applied on self-driving cars, for a car to navigate safely along the road, it has to know where other cars are positioned so as it can avoid a collision.</a:t>
            </a:r>
          </a:p>
          <a:p>
            <a:pPr algn="just" eaLnBrk="1" hangingPunct="1"/>
            <a:r>
              <a:rPr lang="en-US" sz="3000" dirty="0">
                <a:latin typeface="+mn-lt"/>
              </a:rPr>
              <a:t>In addition, vehicle detection is being used in traffic surveillance systems in such a way it can detect the traffic based on number vehicle and use that</a:t>
            </a:r>
          </a:p>
          <a:p>
            <a:pPr algn="just" eaLnBrk="1" hangingPunct="1"/>
            <a:r>
              <a:rPr lang="en-US" sz="3000" dirty="0">
                <a:latin typeface="+mn-lt"/>
              </a:rPr>
              <a:t>data to manage and control it. Computer vision is one of the hottest topics in Artificial Intelligence. It is being used extensively in Robotics, Autonomous Vehicles, Image Classification, Object Detection &amp; tracking, Semantic Segmentation as well as in various photo correction apps. In Autonomous vehicles, vision remains the main source of information to detect lanes, traffic lights, and other visual features.</a:t>
            </a:r>
          </a:p>
          <a:p>
            <a:pPr algn="just" eaLnBrk="1" hangingPunct="1"/>
            <a:r>
              <a:rPr lang="en-US" sz="3000" dirty="0">
                <a:latin typeface="+mn-lt"/>
              </a:rPr>
              <a:t>Our objective is to capture the coordinates of the moving object and highlight that object in the video.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925534" y="9042074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Results</a:t>
            </a:r>
          </a:p>
        </p:txBody>
      </p:sp>
      <p:sp>
        <p:nvSpPr>
          <p:cNvPr id="51" name="Text Box 180"/>
          <p:cNvSpPr txBox="1">
            <a:spLocks noChangeArrowheads="1"/>
          </p:cNvSpPr>
          <p:nvPr/>
        </p:nvSpPr>
        <p:spPr bwMode="auto">
          <a:xfrm>
            <a:off x="7593263" y="32238670"/>
            <a:ext cx="3663581" cy="457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6970" tIns="43485" rIns="86970" bIns="43485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 dirty="0">
                <a:latin typeface="Calibri" pitchFamily="34" charset="0"/>
              </a:rPr>
              <a:t>Figure 1.</a:t>
            </a:r>
            <a:r>
              <a:rPr lang="en-US" sz="2400" dirty="0">
                <a:latin typeface="Calibri" pitchFamily="34" charset="0"/>
              </a:rPr>
              <a:t> Vehicle Detection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409811-AD7B-963E-BE2A-DC5E56495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006" y="27581416"/>
            <a:ext cx="14758466" cy="4495800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28F58B21-9AA4-739D-123E-C489A6EB76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037" y="1515630"/>
            <a:ext cx="2688304" cy="2228867"/>
          </a:xfrm>
          <a:prstGeom prst="rect">
            <a:avLst/>
          </a:prstGeom>
        </p:spPr>
      </p:pic>
      <p:pic>
        <p:nvPicPr>
          <p:cNvPr id="9" name="Picture 8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0AAA9B86-80EA-821D-F969-7309D190A3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1437" y="1432720"/>
            <a:ext cx="3237062" cy="23117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34D98D1-572E-04C9-E20D-A8EBAC606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0237" y="11448420"/>
            <a:ext cx="8678171" cy="4843299"/>
          </a:xfrm>
          <a:prstGeom prst="rect">
            <a:avLst/>
          </a:prstGeom>
        </p:spPr>
      </p:pic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1DD5818D-2EC2-11E5-A50C-F2799EE06A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7123796"/>
              </p:ext>
            </p:extLst>
          </p:nvPr>
        </p:nvGraphicFramePr>
        <p:xfrm>
          <a:off x="10253784" y="15613445"/>
          <a:ext cx="19281653" cy="131433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0E80A050-D855-CEA0-62FB-9C559CB08B7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43888" y="33310620"/>
            <a:ext cx="4770534" cy="3393472"/>
          </a:xfrm>
          <a:prstGeom prst="rect">
            <a:avLst/>
          </a:prstGeom>
        </p:spPr>
      </p:pic>
      <p:sp>
        <p:nvSpPr>
          <p:cNvPr id="35" name="Text Box 180">
            <a:extLst>
              <a:ext uri="{FF2B5EF4-FFF2-40B4-BE49-F238E27FC236}">
                <a16:creationId xmlns:a16="http://schemas.microsoft.com/office/drawing/2014/main" id="{88F14CA5-F723-4424-2326-9DDCD3A48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9055" y="36801524"/>
            <a:ext cx="3030138" cy="457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6970" tIns="43485" rIns="86970" bIns="43485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 dirty="0">
                <a:latin typeface="Calibri" pitchFamily="34" charset="0"/>
              </a:rPr>
              <a:t>Figure 1.</a:t>
            </a:r>
            <a:r>
              <a:rPr lang="en-US" sz="2400" dirty="0">
                <a:latin typeface="Calibri" pitchFamily="34" charset="0"/>
              </a:rPr>
              <a:t> HAAR feature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AD40BF5-66E5-5F04-E38E-002C0D7B613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402429" y="25588119"/>
            <a:ext cx="9904408" cy="11870900"/>
          </a:xfrm>
          <a:prstGeom prst="rect">
            <a:avLst/>
          </a:prstGeom>
        </p:spPr>
      </p:pic>
      <p:sp>
        <p:nvSpPr>
          <p:cNvPr id="38" name="Text Box 180">
            <a:extLst>
              <a:ext uri="{FF2B5EF4-FFF2-40B4-BE49-F238E27FC236}">
                <a16:creationId xmlns:a16="http://schemas.microsoft.com/office/drawing/2014/main" id="{6F4205E1-2260-19EB-F154-F4F9CE8F8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17856" y="16825168"/>
            <a:ext cx="4761381" cy="457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6970" tIns="43485" rIns="86970" bIns="43485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 dirty="0">
                <a:latin typeface="Calibri" pitchFamily="34" charset="0"/>
              </a:rPr>
              <a:t>Figure 1.</a:t>
            </a:r>
            <a:r>
              <a:rPr lang="en-US" sz="2400" dirty="0">
                <a:latin typeface="Calibri" pitchFamily="34" charset="0"/>
              </a:rPr>
              <a:t> Vehicle Detection rear view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A736E8D-3640-9006-E7B2-CF82191FE74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20923" y="31974435"/>
            <a:ext cx="4811470" cy="476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2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2654</TotalTime>
  <Words>566</Words>
  <Application>Microsoft Office PowerPoint</Application>
  <PresentationFormat>Custom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A0/A1</dc:title>
  <dc:creator>Jay Larson</dc:creator>
  <dc:description>Quality poster printing
www.genigraphics.com
1-800-790-4001</dc:description>
  <cp:lastModifiedBy>thanesh bisen</cp:lastModifiedBy>
  <cp:revision>67</cp:revision>
  <cp:lastPrinted>2013-02-12T02:21:55Z</cp:lastPrinted>
  <dcterms:created xsi:type="dcterms:W3CDTF">2013-02-10T21:14:48Z</dcterms:created>
  <dcterms:modified xsi:type="dcterms:W3CDTF">2022-06-10T17:04:35Z</dcterms:modified>
</cp:coreProperties>
</file>