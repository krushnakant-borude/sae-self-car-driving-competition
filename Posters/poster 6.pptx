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30267275" cy="42794238"/>
  <p:notesSz cx="7004050" cy="9290050"/>
  <p:defaultTextStyle>
    <a:defPPr>
      <a:defRPr lang="en-US"/>
    </a:defPPr>
    <a:lvl1pPr marL="0" algn="l" defTabSz="4174556" rtl="0" eaLnBrk="1" latinLnBrk="0" hangingPunct="1">
      <a:defRPr sz="8200" kern="1200">
        <a:solidFill>
          <a:schemeClr val="tx1"/>
        </a:solidFill>
        <a:latin typeface="+mn-lt"/>
        <a:ea typeface="+mn-ea"/>
        <a:cs typeface="+mn-cs"/>
      </a:defRPr>
    </a:lvl1pPr>
    <a:lvl2pPr marL="2087278" algn="l" defTabSz="4174556" rtl="0" eaLnBrk="1" latinLnBrk="0" hangingPunct="1">
      <a:defRPr sz="8200" kern="1200">
        <a:solidFill>
          <a:schemeClr val="tx1"/>
        </a:solidFill>
        <a:latin typeface="+mn-lt"/>
        <a:ea typeface="+mn-ea"/>
        <a:cs typeface="+mn-cs"/>
      </a:defRPr>
    </a:lvl2pPr>
    <a:lvl3pPr marL="4174556" algn="l" defTabSz="4174556" rtl="0" eaLnBrk="1" latinLnBrk="0" hangingPunct="1">
      <a:defRPr sz="8200" kern="1200">
        <a:solidFill>
          <a:schemeClr val="tx1"/>
        </a:solidFill>
        <a:latin typeface="+mn-lt"/>
        <a:ea typeface="+mn-ea"/>
        <a:cs typeface="+mn-cs"/>
      </a:defRPr>
    </a:lvl3pPr>
    <a:lvl4pPr marL="6261834" algn="l" defTabSz="4174556" rtl="0" eaLnBrk="1" latinLnBrk="0" hangingPunct="1">
      <a:defRPr sz="8200" kern="1200">
        <a:solidFill>
          <a:schemeClr val="tx1"/>
        </a:solidFill>
        <a:latin typeface="+mn-lt"/>
        <a:ea typeface="+mn-ea"/>
        <a:cs typeface="+mn-cs"/>
      </a:defRPr>
    </a:lvl4pPr>
    <a:lvl5pPr marL="8349113" algn="l" defTabSz="4174556" rtl="0" eaLnBrk="1" latinLnBrk="0" hangingPunct="1">
      <a:defRPr sz="8200" kern="1200">
        <a:solidFill>
          <a:schemeClr val="tx1"/>
        </a:solidFill>
        <a:latin typeface="+mn-lt"/>
        <a:ea typeface="+mn-ea"/>
        <a:cs typeface="+mn-cs"/>
      </a:defRPr>
    </a:lvl5pPr>
    <a:lvl6pPr marL="10436390" algn="l" defTabSz="4174556" rtl="0" eaLnBrk="1" latinLnBrk="0" hangingPunct="1">
      <a:defRPr sz="8200" kern="1200">
        <a:solidFill>
          <a:schemeClr val="tx1"/>
        </a:solidFill>
        <a:latin typeface="+mn-lt"/>
        <a:ea typeface="+mn-ea"/>
        <a:cs typeface="+mn-cs"/>
      </a:defRPr>
    </a:lvl6pPr>
    <a:lvl7pPr marL="12523668" algn="l" defTabSz="4174556" rtl="0" eaLnBrk="1" latinLnBrk="0" hangingPunct="1">
      <a:defRPr sz="8200" kern="1200">
        <a:solidFill>
          <a:schemeClr val="tx1"/>
        </a:solidFill>
        <a:latin typeface="+mn-lt"/>
        <a:ea typeface="+mn-ea"/>
        <a:cs typeface="+mn-cs"/>
      </a:defRPr>
    </a:lvl7pPr>
    <a:lvl8pPr marL="14610946" algn="l" defTabSz="4174556" rtl="0" eaLnBrk="1" latinLnBrk="0" hangingPunct="1">
      <a:defRPr sz="8200" kern="1200">
        <a:solidFill>
          <a:schemeClr val="tx1"/>
        </a:solidFill>
        <a:latin typeface="+mn-lt"/>
        <a:ea typeface="+mn-ea"/>
        <a:cs typeface="+mn-cs"/>
      </a:defRPr>
    </a:lvl8pPr>
    <a:lvl9pPr marL="16698224" algn="l" defTabSz="4174556" rtl="0" eaLnBrk="1" latinLnBrk="0" hangingPunct="1">
      <a:defRPr sz="82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79">
          <p15:clr>
            <a:srgbClr val="A4A3A4"/>
          </p15:clr>
        </p15:guide>
        <p15:guide id="2" pos="953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60" autoAdjust="0"/>
    <p:restoredTop sz="94676" autoAdjust="0"/>
  </p:normalViewPr>
  <p:slideViewPr>
    <p:cSldViewPr>
      <p:cViewPr varScale="1">
        <p:scale>
          <a:sx n="18" d="100"/>
          <a:sy n="18" d="100"/>
        </p:scale>
        <p:origin x="828" y="126"/>
      </p:cViewPr>
      <p:guideLst>
        <p:guide orient="horz" pos="13479"/>
        <p:guide pos="9533"/>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kshit Gupta" userId="0804c3bad9979ff3" providerId="LiveId" clId="{4358D217-8B80-4F95-8A76-0D2E0F1D351A}"/>
    <pc:docChg chg="custSel modSld">
      <pc:chgData name="Rakshit Gupta" userId="0804c3bad9979ff3" providerId="LiveId" clId="{4358D217-8B80-4F95-8A76-0D2E0F1D351A}" dt="2022-06-10T06:59:39.581" v="172" actId="20577"/>
      <pc:docMkLst>
        <pc:docMk/>
      </pc:docMkLst>
      <pc:sldChg chg="modSp mod">
        <pc:chgData name="Rakshit Gupta" userId="0804c3bad9979ff3" providerId="LiveId" clId="{4358D217-8B80-4F95-8A76-0D2E0F1D351A}" dt="2022-06-10T06:59:39.581" v="172" actId="20577"/>
        <pc:sldMkLst>
          <pc:docMk/>
          <pc:sldMk cId="2251251862" sldId="256"/>
        </pc:sldMkLst>
        <pc:spChg chg="mod">
          <ac:chgData name="Rakshit Gupta" userId="0804c3bad9979ff3" providerId="LiveId" clId="{4358D217-8B80-4F95-8A76-0D2E0F1D351A}" dt="2022-06-10T06:59:39.581" v="172" actId="20577"/>
          <ac:spMkLst>
            <pc:docMk/>
            <pc:sldMk cId="2251251862" sldId="256"/>
            <ac:spMk id="10"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B8CDBF1-6B37-4B87-B8D7-283D5F591EB8}" type="doc">
      <dgm:prSet loTypeId="urn:microsoft.com/office/officeart/2005/8/layout/cycle1" loCatId="cycle" qsTypeId="urn:microsoft.com/office/officeart/2005/8/quickstyle/simple1" qsCatId="simple" csTypeId="urn:microsoft.com/office/officeart/2005/8/colors/accent1_2" csCatId="accent1" phldr="1"/>
      <dgm:spPr/>
      <dgm:t>
        <a:bodyPr/>
        <a:lstStyle/>
        <a:p>
          <a:endParaRPr lang="en-IN"/>
        </a:p>
      </dgm:t>
    </dgm:pt>
    <dgm:pt modelId="{2D1C15C9-C0EC-48A1-B0E9-1EB7C11981AC}">
      <dgm:prSet phldrT="[Text]"/>
      <dgm:spPr/>
      <dgm:t>
        <a:bodyPr/>
        <a:lstStyle/>
        <a:p>
          <a:r>
            <a:rPr lang="en-US" dirty="0"/>
            <a:t>Predict</a:t>
          </a:r>
          <a:endParaRPr lang="en-IN" dirty="0"/>
        </a:p>
      </dgm:t>
    </dgm:pt>
    <dgm:pt modelId="{ACC5BAEE-7F27-4032-9581-9EBFE097DB1F}" type="parTrans" cxnId="{13179A38-5BAA-4668-9CC8-91D047479994}">
      <dgm:prSet/>
      <dgm:spPr/>
      <dgm:t>
        <a:bodyPr/>
        <a:lstStyle/>
        <a:p>
          <a:endParaRPr lang="en-IN"/>
        </a:p>
      </dgm:t>
    </dgm:pt>
    <dgm:pt modelId="{848B257C-0A5B-4C26-98EC-FE34D6771156}" type="sibTrans" cxnId="{13179A38-5BAA-4668-9CC8-91D047479994}">
      <dgm:prSet/>
      <dgm:spPr/>
      <dgm:t>
        <a:bodyPr/>
        <a:lstStyle/>
        <a:p>
          <a:endParaRPr lang="en-IN"/>
        </a:p>
      </dgm:t>
    </dgm:pt>
    <dgm:pt modelId="{B0B5DC04-7119-43F6-ABF0-D523C020C62E}">
      <dgm:prSet phldrT="[Text]"/>
      <dgm:spPr/>
      <dgm:t>
        <a:bodyPr/>
        <a:lstStyle/>
        <a:p>
          <a:r>
            <a:rPr lang="en-US" dirty="0"/>
            <a:t>Update</a:t>
          </a:r>
          <a:endParaRPr lang="en-IN" dirty="0"/>
        </a:p>
      </dgm:t>
    </dgm:pt>
    <dgm:pt modelId="{5E102294-E7D3-4A1F-8980-C6C39B1A1548}" type="parTrans" cxnId="{52BF8BF6-C0A1-4482-BDEC-4FD6ECEEBD99}">
      <dgm:prSet/>
      <dgm:spPr/>
      <dgm:t>
        <a:bodyPr/>
        <a:lstStyle/>
        <a:p>
          <a:endParaRPr lang="en-IN"/>
        </a:p>
      </dgm:t>
    </dgm:pt>
    <dgm:pt modelId="{8F619B04-4D85-434C-91D6-E0D53D9DB637}" type="sibTrans" cxnId="{52BF8BF6-C0A1-4482-BDEC-4FD6ECEEBD99}">
      <dgm:prSet/>
      <dgm:spPr/>
      <dgm:t>
        <a:bodyPr/>
        <a:lstStyle/>
        <a:p>
          <a:endParaRPr lang="en-IN"/>
        </a:p>
      </dgm:t>
    </dgm:pt>
    <dgm:pt modelId="{31100E57-7EE7-473E-81F3-A761D6133DD6}">
      <dgm:prSet phldrT="[Text]"/>
      <dgm:spPr/>
      <dgm:t>
        <a:bodyPr/>
        <a:lstStyle/>
        <a:p>
          <a:r>
            <a:rPr lang="en-US" dirty="0"/>
            <a:t>1. Predict the state ahead</a:t>
          </a:r>
          <a:endParaRPr lang="en-IN" dirty="0"/>
        </a:p>
      </dgm:t>
    </dgm:pt>
    <dgm:pt modelId="{40BD34DC-D9AA-4025-B3FB-7FBFECB1777A}" type="parTrans" cxnId="{AED27E32-76A7-4C00-8F83-B6A11B286D7F}">
      <dgm:prSet/>
      <dgm:spPr/>
      <dgm:t>
        <a:bodyPr/>
        <a:lstStyle/>
        <a:p>
          <a:endParaRPr lang="en-IN"/>
        </a:p>
      </dgm:t>
    </dgm:pt>
    <dgm:pt modelId="{DBF6A135-2F2A-417A-A953-01CD97CA3785}" type="sibTrans" cxnId="{AED27E32-76A7-4C00-8F83-B6A11B286D7F}">
      <dgm:prSet/>
      <dgm:spPr/>
      <dgm:t>
        <a:bodyPr/>
        <a:lstStyle/>
        <a:p>
          <a:endParaRPr lang="en-IN"/>
        </a:p>
      </dgm:t>
    </dgm:pt>
    <dgm:pt modelId="{65BA3181-D357-453D-9B0D-9835289E5750}">
      <dgm:prSet/>
      <dgm:spPr/>
      <dgm:t>
        <a:bodyPr/>
        <a:lstStyle/>
        <a:p>
          <a:r>
            <a:rPr lang="en-US" dirty="0"/>
            <a:t>2. Predict the error covariance ahead</a:t>
          </a:r>
          <a:endParaRPr lang="en-IN" dirty="0"/>
        </a:p>
      </dgm:t>
    </dgm:pt>
    <dgm:pt modelId="{9F7648D6-1B70-411F-A59F-692F1318099D}" type="parTrans" cxnId="{66A1BA8F-E346-4FC4-BF56-6F4232580015}">
      <dgm:prSet/>
      <dgm:spPr/>
      <dgm:t>
        <a:bodyPr/>
        <a:lstStyle/>
        <a:p>
          <a:endParaRPr lang="en-IN"/>
        </a:p>
      </dgm:t>
    </dgm:pt>
    <dgm:pt modelId="{77BEAC7D-8B6F-4F32-B69A-B2B806F49D39}" type="sibTrans" cxnId="{66A1BA8F-E346-4FC4-BF56-6F4232580015}">
      <dgm:prSet/>
      <dgm:spPr/>
      <dgm:t>
        <a:bodyPr/>
        <a:lstStyle/>
        <a:p>
          <a:endParaRPr lang="en-IN"/>
        </a:p>
      </dgm:t>
    </dgm:pt>
    <dgm:pt modelId="{CBC0F52B-D702-49D2-9577-3B38C17AB7F2}">
      <dgm:prSet phldrT="[Text]"/>
      <dgm:spPr/>
      <dgm:t>
        <a:bodyPr/>
        <a:lstStyle/>
        <a:p>
          <a:r>
            <a:rPr lang="en-IN" dirty="0"/>
            <a:t>Compute the Kalman Gain</a:t>
          </a:r>
        </a:p>
      </dgm:t>
    </dgm:pt>
    <dgm:pt modelId="{B136069B-4893-44FF-855A-6FBB444F0423}" type="parTrans" cxnId="{ED9419E3-1DE0-476A-8F04-9E8621AA1513}">
      <dgm:prSet/>
      <dgm:spPr/>
      <dgm:t>
        <a:bodyPr/>
        <a:lstStyle/>
        <a:p>
          <a:endParaRPr lang="en-IN"/>
        </a:p>
      </dgm:t>
    </dgm:pt>
    <dgm:pt modelId="{E3D52135-BA80-4FA2-9F4C-2D34D2FE9855}" type="sibTrans" cxnId="{ED9419E3-1DE0-476A-8F04-9E8621AA1513}">
      <dgm:prSet/>
      <dgm:spPr/>
      <dgm:t>
        <a:bodyPr/>
        <a:lstStyle/>
        <a:p>
          <a:endParaRPr lang="en-IN"/>
        </a:p>
      </dgm:t>
    </dgm:pt>
    <dgm:pt modelId="{548D604E-CD7C-462A-AB82-59EE2224749F}">
      <dgm:prSet/>
      <dgm:spPr/>
      <dgm:t>
        <a:bodyPr/>
        <a:lstStyle/>
        <a:p>
          <a:r>
            <a:rPr lang="en-US" dirty="0"/>
            <a:t>2. Update the estimate with the </a:t>
          </a:r>
          <a:r>
            <a:rPr lang="en-IN" dirty="0"/>
            <a:t>measurement</a:t>
          </a:r>
        </a:p>
      </dgm:t>
    </dgm:pt>
    <dgm:pt modelId="{DF99C68B-EAD9-4F0B-9252-377FFB795A01}" type="parTrans" cxnId="{F4884476-ED2A-47AD-9D84-7B3A13F02DAA}">
      <dgm:prSet/>
      <dgm:spPr/>
      <dgm:t>
        <a:bodyPr/>
        <a:lstStyle/>
        <a:p>
          <a:endParaRPr lang="en-IN"/>
        </a:p>
      </dgm:t>
    </dgm:pt>
    <dgm:pt modelId="{E4F8A93D-B222-417C-9794-BD1DF9A319B6}" type="sibTrans" cxnId="{F4884476-ED2A-47AD-9D84-7B3A13F02DAA}">
      <dgm:prSet/>
      <dgm:spPr/>
      <dgm:t>
        <a:bodyPr/>
        <a:lstStyle/>
        <a:p>
          <a:endParaRPr lang="en-IN"/>
        </a:p>
      </dgm:t>
    </dgm:pt>
    <dgm:pt modelId="{4DCE5EE4-F0F6-4D75-A14B-B57E31C1BD0C}">
      <dgm:prSet/>
      <dgm:spPr/>
      <dgm:t>
        <a:bodyPr/>
        <a:lstStyle/>
        <a:p>
          <a:r>
            <a:rPr lang="en-US"/>
            <a:t> Update the Error Covariance</a:t>
          </a:r>
          <a:endParaRPr lang="en-IN" dirty="0"/>
        </a:p>
      </dgm:t>
    </dgm:pt>
    <dgm:pt modelId="{833FC7D2-B4DF-4A30-BA85-643580213763}" type="parTrans" cxnId="{F8C57BCF-66C3-4AF4-805A-93E05B17E85B}">
      <dgm:prSet/>
      <dgm:spPr/>
      <dgm:t>
        <a:bodyPr/>
        <a:lstStyle/>
        <a:p>
          <a:endParaRPr lang="en-IN"/>
        </a:p>
      </dgm:t>
    </dgm:pt>
    <dgm:pt modelId="{194FE93D-7210-45FD-B895-DE4764E6188C}" type="sibTrans" cxnId="{F8C57BCF-66C3-4AF4-805A-93E05B17E85B}">
      <dgm:prSet/>
      <dgm:spPr/>
      <dgm:t>
        <a:bodyPr/>
        <a:lstStyle/>
        <a:p>
          <a:endParaRPr lang="en-IN"/>
        </a:p>
      </dgm:t>
    </dgm:pt>
    <dgm:pt modelId="{C769AA25-379E-45AA-9E2F-DB242A576F77}" type="pres">
      <dgm:prSet presAssocID="{2B8CDBF1-6B37-4B87-B8D7-283D5F591EB8}" presName="cycle" presStyleCnt="0">
        <dgm:presLayoutVars>
          <dgm:dir/>
          <dgm:resizeHandles val="exact"/>
        </dgm:presLayoutVars>
      </dgm:prSet>
      <dgm:spPr/>
    </dgm:pt>
    <dgm:pt modelId="{8C2D87FB-9CE3-4254-AEB5-7B86908B456B}" type="pres">
      <dgm:prSet presAssocID="{2D1C15C9-C0EC-48A1-B0E9-1EB7C11981AC}" presName="dummy" presStyleCnt="0"/>
      <dgm:spPr/>
    </dgm:pt>
    <dgm:pt modelId="{FA4F7532-2FCC-42CA-BFAE-73A7EBCF4078}" type="pres">
      <dgm:prSet presAssocID="{2D1C15C9-C0EC-48A1-B0E9-1EB7C11981AC}" presName="node" presStyleLbl="revTx" presStyleIdx="0" presStyleCnt="2">
        <dgm:presLayoutVars>
          <dgm:bulletEnabled val="1"/>
        </dgm:presLayoutVars>
      </dgm:prSet>
      <dgm:spPr/>
    </dgm:pt>
    <dgm:pt modelId="{AC85E754-533C-4198-9A77-0E2770CF3F97}" type="pres">
      <dgm:prSet presAssocID="{848B257C-0A5B-4C26-98EC-FE34D6771156}" presName="sibTrans" presStyleLbl="node1" presStyleIdx="0" presStyleCnt="2"/>
      <dgm:spPr/>
    </dgm:pt>
    <dgm:pt modelId="{DE596DB5-61F4-4DD7-8FF7-82DA75373B07}" type="pres">
      <dgm:prSet presAssocID="{B0B5DC04-7119-43F6-ABF0-D523C020C62E}" presName="dummy" presStyleCnt="0"/>
      <dgm:spPr/>
    </dgm:pt>
    <dgm:pt modelId="{1EBE4AF4-BE64-44FC-992B-4EA27EC92253}" type="pres">
      <dgm:prSet presAssocID="{B0B5DC04-7119-43F6-ABF0-D523C020C62E}" presName="node" presStyleLbl="revTx" presStyleIdx="1" presStyleCnt="2">
        <dgm:presLayoutVars>
          <dgm:bulletEnabled val="1"/>
        </dgm:presLayoutVars>
      </dgm:prSet>
      <dgm:spPr/>
    </dgm:pt>
    <dgm:pt modelId="{7EAD46D3-33FC-4A8C-9DC7-F8BAFA4AFB38}" type="pres">
      <dgm:prSet presAssocID="{8F619B04-4D85-434C-91D6-E0D53D9DB637}" presName="sibTrans" presStyleLbl="node1" presStyleIdx="1" presStyleCnt="2"/>
      <dgm:spPr/>
    </dgm:pt>
  </dgm:ptLst>
  <dgm:cxnLst>
    <dgm:cxn modelId="{EBC5C21B-608F-4098-A366-DE1872A02A1A}" type="presOf" srcId="{2B8CDBF1-6B37-4B87-B8D7-283D5F591EB8}" destId="{C769AA25-379E-45AA-9E2F-DB242A576F77}" srcOrd="0" destOrd="0" presId="urn:microsoft.com/office/officeart/2005/8/layout/cycle1"/>
    <dgm:cxn modelId="{EB102328-E3D0-4BFE-9117-9224799C3A2D}" type="presOf" srcId="{CBC0F52B-D702-49D2-9577-3B38C17AB7F2}" destId="{1EBE4AF4-BE64-44FC-992B-4EA27EC92253}" srcOrd="0" destOrd="1" presId="urn:microsoft.com/office/officeart/2005/8/layout/cycle1"/>
    <dgm:cxn modelId="{AED27E32-76A7-4C00-8F83-B6A11B286D7F}" srcId="{2D1C15C9-C0EC-48A1-B0E9-1EB7C11981AC}" destId="{31100E57-7EE7-473E-81F3-A761D6133DD6}" srcOrd="0" destOrd="0" parTransId="{40BD34DC-D9AA-4025-B3FB-7FBFECB1777A}" sibTransId="{DBF6A135-2F2A-417A-A953-01CD97CA3785}"/>
    <dgm:cxn modelId="{13179A38-5BAA-4668-9CC8-91D047479994}" srcId="{2B8CDBF1-6B37-4B87-B8D7-283D5F591EB8}" destId="{2D1C15C9-C0EC-48A1-B0E9-1EB7C11981AC}" srcOrd="0" destOrd="0" parTransId="{ACC5BAEE-7F27-4032-9581-9EBFE097DB1F}" sibTransId="{848B257C-0A5B-4C26-98EC-FE34D6771156}"/>
    <dgm:cxn modelId="{9E72C038-8BD9-425B-BCDF-761D58DB2BE0}" type="presOf" srcId="{848B257C-0A5B-4C26-98EC-FE34D6771156}" destId="{AC85E754-533C-4198-9A77-0E2770CF3F97}" srcOrd="0" destOrd="0" presId="urn:microsoft.com/office/officeart/2005/8/layout/cycle1"/>
    <dgm:cxn modelId="{FA84005E-7C6D-4899-A934-3E00A643AC51}" type="presOf" srcId="{B0B5DC04-7119-43F6-ABF0-D523C020C62E}" destId="{1EBE4AF4-BE64-44FC-992B-4EA27EC92253}" srcOrd="0" destOrd="0" presId="urn:microsoft.com/office/officeart/2005/8/layout/cycle1"/>
    <dgm:cxn modelId="{EB2B5767-5E82-4E51-99B2-B919B8EE7F07}" type="presOf" srcId="{4DCE5EE4-F0F6-4D75-A14B-B57E31C1BD0C}" destId="{1EBE4AF4-BE64-44FC-992B-4EA27EC92253}" srcOrd="0" destOrd="3" presId="urn:microsoft.com/office/officeart/2005/8/layout/cycle1"/>
    <dgm:cxn modelId="{6FA0DA49-A719-44C4-ADAE-B720D84B4A2D}" type="presOf" srcId="{548D604E-CD7C-462A-AB82-59EE2224749F}" destId="{1EBE4AF4-BE64-44FC-992B-4EA27EC92253}" srcOrd="0" destOrd="2" presId="urn:microsoft.com/office/officeart/2005/8/layout/cycle1"/>
    <dgm:cxn modelId="{378DFC6A-2725-4181-B206-6DC584F4C518}" type="presOf" srcId="{31100E57-7EE7-473E-81F3-A761D6133DD6}" destId="{FA4F7532-2FCC-42CA-BFAE-73A7EBCF4078}" srcOrd="0" destOrd="1" presId="urn:microsoft.com/office/officeart/2005/8/layout/cycle1"/>
    <dgm:cxn modelId="{783AAB6F-7E03-420D-807B-D63D0E27433C}" type="presOf" srcId="{8F619B04-4D85-434C-91D6-E0D53D9DB637}" destId="{7EAD46D3-33FC-4A8C-9DC7-F8BAFA4AFB38}" srcOrd="0" destOrd="0" presId="urn:microsoft.com/office/officeart/2005/8/layout/cycle1"/>
    <dgm:cxn modelId="{116BB275-9A47-4D6B-95E4-113040951D6A}" type="presOf" srcId="{2D1C15C9-C0EC-48A1-B0E9-1EB7C11981AC}" destId="{FA4F7532-2FCC-42CA-BFAE-73A7EBCF4078}" srcOrd="0" destOrd="0" presId="urn:microsoft.com/office/officeart/2005/8/layout/cycle1"/>
    <dgm:cxn modelId="{F4884476-ED2A-47AD-9D84-7B3A13F02DAA}" srcId="{B0B5DC04-7119-43F6-ABF0-D523C020C62E}" destId="{548D604E-CD7C-462A-AB82-59EE2224749F}" srcOrd="1" destOrd="0" parTransId="{DF99C68B-EAD9-4F0B-9252-377FFB795A01}" sibTransId="{E4F8A93D-B222-417C-9794-BD1DF9A319B6}"/>
    <dgm:cxn modelId="{66A1BA8F-E346-4FC4-BF56-6F4232580015}" srcId="{2D1C15C9-C0EC-48A1-B0E9-1EB7C11981AC}" destId="{65BA3181-D357-453D-9B0D-9835289E5750}" srcOrd="1" destOrd="0" parTransId="{9F7648D6-1B70-411F-A59F-692F1318099D}" sibTransId="{77BEAC7D-8B6F-4F32-B69A-B2B806F49D39}"/>
    <dgm:cxn modelId="{F8C57BCF-66C3-4AF4-805A-93E05B17E85B}" srcId="{B0B5DC04-7119-43F6-ABF0-D523C020C62E}" destId="{4DCE5EE4-F0F6-4D75-A14B-B57E31C1BD0C}" srcOrd="2" destOrd="0" parTransId="{833FC7D2-B4DF-4A30-BA85-643580213763}" sibTransId="{194FE93D-7210-45FD-B895-DE4764E6188C}"/>
    <dgm:cxn modelId="{ED9419E3-1DE0-476A-8F04-9E8621AA1513}" srcId="{B0B5DC04-7119-43F6-ABF0-D523C020C62E}" destId="{CBC0F52B-D702-49D2-9577-3B38C17AB7F2}" srcOrd="0" destOrd="0" parTransId="{B136069B-4893-44FF-855A-6FBB444F0423}" sibTransId="{E3D52135-BA80-4FA2-9F4C-2D34D2FE9855}"/>
    <dgm:cxn modelId="{52BF8BF6-C0A1-4482-BDEC-4FD6ECEEBD99}" srcId="{2B8CDBF1-6B37-4B87-B8D7-283D5F591EB8}" destId="{B0B5DC04-7119-43F6-ABF0-D523C020C62E}" srcOrd="1" destOrd="0" parTransId="{5E102294-E7D3-4A1F-8980-C6C39B1A1548}" sibTransId="{8F619B04-4D85-434C-91D6-E0D53D9DB637}"/>
    <dgm:cxn modelId="{5AEB5BFB-10E8-4F15-B3EC-239E257D1143}" type="presOf" srcId="{65BA3181-D357-453D-9B0D-9835289E5750}" destId="{FA4F7532-2FCC-42CA-BFAE-73A7EBCF4078}" srcOrd="0" destOrd="2" presId="urn:microsoft.com/office/officeart/2005/8/layout/cycle1"/>
    <dgm:cxn modelId="{CF3956CA-33FE-4718-B03C-11BBE7B3E025}" type="presParOf" srcId="{C769AA25-379E-45AA-9E2F-DB242A576F77}" destId="{8C2D87FB-9CE3-4254-AEB5-7B86908B456B}" srcOrd="0" destOrd="0" presId="urn:microsoft.com/office/officeart/2005/8/layout/cycle1"/>
    <dgm:cxn modelId="{92A5BC95-23C8-46B1-AE9B-D310026EF9CA}" type="presParOf" srcId="{C769AA25-379E-45AA-9E2F-DB242A576F77}" destId="{FA4F7532-2FCC-42CA-BFAE-73A7EBCF4078}" srcOrd="1" destOrd="0" presId="urn:microsoft.com/office/officeart/2005/8/layout/cycle1"/>
    <dgm:cxn modelId="{CD65B0B0-A616-4518-A9D3-010403865C02}" type="presParOf" srcId="{C769AA25-379E-45AA-9E2F-DB242A576F77}" destId="{AC85E754-533C-4198-9A77-0E2770CF3F97}" srcOrd="2" destOrd="0" presId="urn:microsoft.com/office/officeart/2005/8/layout/cycle1"/>
    <dgm:cxn modelId="{B20C898C-19FD-444E-ADCD-7D1FF19246CC}" type="presParOf" srcId="{C769AA25-379E-45AA-9E2F-DB242A576F77}" destId="{DE596DB5-61F4-4DD7-8FF7-82DA75373B07}" srcOrd="3" destOrd="0" presId="urn:microsoft.com/office/officeart/2005/8/layout/cycle1"/>
    <dgm:cxn modelId="{78D3AC1C-18D1-42BE-8955-FB1AE2DA62D6}" type="presParOf" srcId="{C769AA25-379E-45AA-9E2F-DB242A576F77}" destId="{1EBE4AF4-BE64-44FC-992B-4EA27EC92253}" srcOrd="4" destOrd="0" presId="urn:microsoft.com/office/officeart/2005/8/layout/cycle1"/>
    <dgm:cxn modelId="{2A40E88C-2CE9-4802-AA5A-53F2179F39AD}" type="presParOf" srcId="{C769AA25-379E-45AA-9E2F-DB242A576F77}" destId="{7EAD46D3-33FC-4A8C-9DC7-F8BAFA4AFB38}" srcOrd="5" destOrd="0" presId="urn:microsoft.com/office/officeart/2005/8/layout/cycle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4F7532-2FCC-42CA-BFAE-73A7EBCF4078}">
      <dsp:nvSpPr>
        <dsp:cNvPr id="0" name=""/>
        <dsp:cNvSpPr/>
      </dsp:nvSpPr>
      <dsp:spPr>
        <a:xfrm>
          <a:off x="10256013" y="2461017"/>
          <a:ext cx="4672068" cy="46720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420" tIns="58420" rIns="58420" bIns="58420" numCol="1" spcCol="1270" anchor="ctr" anchorCtr="0">
          <a:noAutofit/>
        </a:bodyPr>
        <a:lstStyle/>
        <a:p>
          <a:pPr marL="0" lvl="0" indent="0" algn="l" defTabSz="2044700">
            <a:lnSpc>
              <a:spcPct val="90000"/>
            </a:lnSpc>
            <a:spcBef>
              <a:spcPct val="0"/>
            </a:spcBef>
            <a:spcAft>
              <a:spcPct val="35000"/>
            </a:spcAft>
            <a:buNone/>
          </a:pPr>
          <a:r>
            <a:rPr lang="en-US" sz="4600" kern="1200" dirty="0"/>
            <a:t>Predict</a:t>
          </a:r>
          <a:endParaRPr lang="en-IN" sz="4600" kern="1200" dirty="0"/>
        </a:p>
        <a:p>
          <a:pPr marL="285750" lvl="1" indent="-285750" algn="l" defTabSz="1600200">
            <a:lnSpc>
              <a:spcPct val="90000"/>
            </a:lnSpc>
            <a:spcBef>
              <a:spcPct val="0"/>
            </a:spcBef>
            <a:spcAft>
              <a:spcPct val="15000"/>
            </a:spcAft>
            <a:buChar char="•"/>
          </a:pPr>
          <a:r>
            <a:rPr lang="en-US" sz="3600" kern="1200" dirty="0"/>
            <a:t>1. Predict the state ahead</a:t>
          </a:r>
          <a:endParaRPr lang="en-IN" sz="3600" kern="1200" dirty="0"/>
        </a:p>
        <a:p>
          <a:pPr marL="285750" lvl="1" indent="-285750" algn="l" defTabSz="1600200">
            <a:lnSpc>
              <a:spcPct val="90000"/>
            </a:lnSpc>
            <a:spcBef>
              <a:spcPct val="0"/>
            </a:spcBef>
            <a:spcAft>
              <a:spcPct val="15000"/>
            </a:spcAft>
            <a:buChar char="•"/>
          </a:pPr>
          <a:r>
            <a:rPr lang="en-US" sz="3600" kern="1200" dirty="0"/>
            <a:t>2. Predict the error covariance ahead</a:t>
          </a:r>
          <a:endParaRPr lang="en-IN" sz="3600" kern="1200" dirty="0"/>
        </a:p>
      </dsp:txBody>
      <dsp:txXfrm>
        <a:off x="10256013" y="2461017"/>
        <a:ext cx="4672068" cy="4672068"/>
      </dsp:txXfrm>
    </dsp:sp>
    <dsp:sp modelId="{AC85E754-533C-4198-9A77-0E2770CF3F97}">
      <dsp:nvSpPr>
        <dsp:cNvPr id="0" name=""/>
        <dsp:cNvSpPr/>
      </dsp:nvSpPr>
      <dsp:spPr>
        <a:xfrm>
          <a:off x="3977668" y="-3625"/>
          <a:ext cx="9601354" cy="9601354"/>
        </a:xfrm>
        <a:prstGeom prst="circularArrow">
          <a:avLst>
            <a:gd name="adj1" fmla="val 9489"/>
            <a:gd name="adj2" fmla="val 685503"/>
            <a:gd name="adj3" fmla="val 7848106"/>
            <a:gd name="adj4" fmla="val 2266391"/>
            <a:gd name="adj5" fmla="val 110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EBE4AF4-BE64-44FC-992B-4EA27EC92253}">
      <dsp:nvSpPr>
        <dsp:cNvPr id="0" name=""/>
        <dsp:cNvSpPr/>
      </dsp:nvSpPr>
      <dsp:spPr>
        <a:xfrm>
          <a:off x="2628608" y="2461017"/>
          <a:ext cx="4672068" cy="46720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420" tIns="58420" rIns="58420" bIns="58420" numCol="1" spcCol="1270" anchor="ctr" anchorCtr="0">
          <a:noAutofit/>
        </a:bodyPr>
        <a:lstStyle/>
        <a:p>
          <a:pPr marL="0" lvl="0" indent="0" algn="l" defTabSz="2044700">
            <a:lnSpc>
              <a:spcPct val="90000"/>
            </a:lnSpc>
            <a:spcBef>
              <a:spcPct val="0"/>
            </a:spcBef>
            <a:spcAft>
              <a:spcPct val="35000"/>
            </a:spcAft>
            <a:buNone/>
          </a:pPr>
          <a:r>
            <a:rPr lang="en-US" sz="4600" kern="1200" dirty="0"/>
            <a:t>Update</a:t>
          </a:r>
          <a:endParaRPr lang="en-IN" sz="4600" kern="1200" dirty="0"/>
        </a:p>
        <a:p>
          <a:pPr marL="285750" lvl="1" indent="-285750" algn="l" defTabSz="1600200">
            <a:lnSpc>
              <a:spcPct val="90000"/>
            </a:lnSpc>
            <a:spcBef>
              <a:spcPct val="0"/>
            </a:spcBef>
            <a:spcAft>
              <a:spcPct val="15000"/>
            </a:spcAft>
            <a:buChar char="•"/>
          </a:pPr>
          <a:r>
            <a:rPr lang="en-IN" sz="3600" kern="1200" dirty="0"/>
            <a:t>Compute the Kalman Gain</a:t>
          </a:r>
        </a:p>
        <a:p>
          <a:pPr marL="285750" lvl="1" indent="-285750" algn="l" defTabSz="1600200">
            <a:lnSpc>
              <a:spcPct val="90000"/>
            </a:lnSpc>
            <a:spcBef>
              <a:spcPct val="0"/>
            </a:spcBef>
            <a:spcAft>
              <a:spcPct val="15000"/>
            </a:spcAft>
            <a:buChar char="•"/>
          </a:pPr>
          <a:r>
            <a:rPr lang="en-US" sz="3600" kern="1200" dirty="0"/>
            <a:t>2. Update the estimate with the </a:t>
          </a:r>
          <a:r>
            <a:rPr lang="en-IN" sz="3600" kern="1200" dirty="0"/>
            <a:t>measurement</a:t>
          </a:r>
        </a:p>
        <a:p>
          <a:pPr marL="285750" lvl="1" indent="-285750" algn="l" defTabSz="1600200">
            <a:lnSpc>
              <a:spcPct val="90000"/>
            </a:lnSpc>
            <a:spcBef>
              <a:spcPct val="0"/>
            </a:spcBef>
            <a:spcAft>
              <a:spcPct val="15000"/>
            </a:spcAft>
            <a:buChar char="•"/>
          </a:pPr>
          <a:r>
            <a:rPr lang="en-US" sz="3600" kern="1200"/>
            <a:t> Update the Error Covariance</a:t>
          </a:r>
          <a:endParaRPr lang="en-IN" sz="3600" kern="1200" dirty="0"/>
        </a:p>
      </dsp:txBody>
      <dsp:txXfrm>
        <a:off x="2628608" y="2461017"/>
        <a:ext cx="4672068" cy="4672068"/>
      </dsp:txXfrm>
    </dsp:sp>
    <dsp:sp modelId="{7EAD46D3-33FC-4A8C-9DC7-F8BAFA4AFB38}">
      <dsp:nvSpPr>
        <dsp:cNvPr id="0" name=""/>
        <dsp:cNvSpPr/>
      </dsp:nvSpPr>
      <dsp:spPr>
        <a:xfrm>
          <a:off x="3977668" y="-3625"/>
          <a:ext cx="9601354" cy="9601354"/>
        </a:xfrm>
        <a:prstGeom prst="circularArrow">
          <a:avLst>
            <a:gd name="adj1" fmla="val 9489"/>
            <a:gd name="adj2" fmla="val 685503"/>
            <a:gd name="adj3" fmla="val 18648106"/>
            <a:gd name="adj4" fmla="val 13066391"/>
            <a:gd name="adj5" fmla="val 110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1" name="Rectangle 10"/>
          <p:cNvSpPr/>
          <p:nvPr userDrawn="1"/>
        </p:nvSpPr>
        <p:spPr>
          <a:xfrm>
            <a:off x="29426517" y="0"/>
            <a:ext cx="840758" cy="42794238"/>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endParaRPr lang="en-US" dirty="0"/>
          </a:p>
        </p:txBody>
      </p:sp>
      <p:sp>
        <p:nvSpPr>
          <p:cNvPr id="10" name="Rectangle 9"/>
          <p:cNvSpPr/>
          <p:nvPr userDrawn="1"/>
        </p:nvSpPr>
        <p:spPr>
          <a:xfrm>
            <a:off x="0" y="0"/>
            <a:ext cx="840758" cy="42794238"/>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endParaRPr lang="en-US" dirty="0"/>
          </a:p>
        </p:txBody>
      </p:sp>
      <p:sp>
        <p:nvSpPr>
          <p:cNvPr id="7" name="Rectangle 6"/>
          <p:cNvSpPr/>
          <p:nvPr userDrawn="1"/>
        </p:nvSpPr>
        <p:spPr>
          <a:xfrm>
            <a:off x="0" y="0"/>
            <a:ext cx="30267275" cy="534927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endParaRPr lang="en-US" dirty="0"/>
          </a:p>
        </p:txBody>
      </p:sp>
      <p:sp>
        <p:nvSpPr>
          <p:cNvPr id="8" name="Rectangle 7"/>
          <p:cNvSpPr/>
          <p:nvPr userDrawn="1"/>
        </p:nvSpPr>
        <p:spPr>
          <a:xfrm>
            <a:off x="0" y="37444959"/>
            <a:ext cx="30267275" cy="534927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endParaRPr lang="en-US" dirty="0"/>
          </a:p>
        </p:txBody>
      </p:sp>
      <p:sp>
        <p:nvSpPr>
          <p:cNvPr id="9" name="Instructions"/>
          <p:cNvSpPr/>
          <p:nvPr userDrawn="1"/>
        </p:nvSpPr>
        <p:spPr>
          <a:xfrm>
            <a:off x="-12611365" y="0"/>
            <a:ext cx="11770607" cy="427942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17425" tIns="217425" rIns="217425" bIns="217425"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2282"/>
              </a:spcAft>
            </a:pPr>
            <a:r>
              <a:rPr lang="en-US" sz="8800" dirty="0">
                <a:solidFill>
                  <a:srgbClr val="7F7F7F"/>
                </a:solidFill>
                <a:latin typeface="Calibri" pitchFamily="34" charset="0"/>
                <a:cs typeface="Calibri" panose="020F0502020204030204" pitchFamily="34" charset="0"/>
              </a:rPr>
              <a:t>Poster Print Size:</a:t>
            </a:r>
            <a:endParaRPr sz="8800" dirty="0">
              <a:solidFill>
                <a:srgbClr val="7F7F7F"/>
              </a:solidFill>
              <a:latin typeface="Calibri" pitchFamily="34" charset="0"/>
              <a:cs typeface="Calibri" panose="020F0502020204030204" pitchFamily="34" charset="0"/>
            </a:endParaRPr>
          </a:p>
          <a:p>
            <a:pPr lvl="0">
              <a:spcBef>
                <a:spcPts val="0"/>
              </a:spcBef>
              <a:spcAft>
                <a:spcPts val="2282"/>
              </a:spcAft>
            </a:pPr>
            <a:r>
              <a:rPr lang="en-US" sz="6000" dirty="0">
                <a:solidFill>
                  <a:srgbClr val="7F7F7F"/>
                </a:solidFill>
                <a:latin typeface="Calibri" pitchFamily="34" charset="0"/>
                <a:cs typeface="Calibri" panose="020F0502020204030204" pitchFamily="34" charset="0"/>
              </a:rPr>
              <a:t>This poster template is set up for A0</a:t>
            </a:r>
            <a:r>
              <a:rPr lang="en-US" sz="6000" baseline="0" dirty="0">
                <a:solidFill>
                  <a:srgbClr val="7F7F7F"/>
                </a:solidFill>
                <a:latin typeface="Calibri" pitchFamily="34" charset="0"/>
                <a:cs typeface="Calibri" panose="020F0502020204030204" pitchFamily="34" charset="0"/>
              </a:rPr>
              <a:t> international paper size of 1189 mm x 841 mm</a:t>
            </a:r>
            <a:r>
              <a:rPr lang="en-US" sz="6000" dirty="0">
                <a:solidFill>
                  <a:srgbClr val="7F7F7F"/>
                </a:solidFill>
                <a:latin typeface="Calibri" pitchFamily="34" charset="0"/>
                <a:cs typeface="Calibri" panose="020F0502020204030204" pitchFamily="34" charset="0"/>
              </a:rPr>
              <a:t> (46.8” high by 33.1” wide). It can be printed at</a:t>
            </a:r>
            <a:r>
              <a:rPr lang="en-US" sz="6000" baseline="0" dirty="0">
                <a:solidFill>
                  <a:srgbClr val="7F7F7F"/>
                </a:solidFill>
                <a:latin typeface="Calibri" pitchFamily="34" charset="0"/>
                <a:cs typeface="Calibri" panose="020F0502020204030204" pitchFamily="34" charset="0"/>
              </a:rPr>
              <a:t> 70.6% for an A1 poster of 841 mm x 594 mm.</a:t>
            </a:r>
            <a:endParaRPr lang="en-US" sz="6000" dirty="0">
              <a:solidFill>
                <a:srgbClr val="7F7F7F"/>
              </a:solidFill>
              <a:latin typeface="Calibri" pitchFamily="34" charset="0"/>
              <a:cs typeface="Calibri" panose="020F0502020204030204" pitchFamily="34" charset="0"/>
            </a:endParaRPr>
          </a:p>
          <a:p>
            <a:pPr lvl="0">
              <a:spcBef>
                <a:spcPts val="0"/>
              </a:spcBef>
              <a:spcAft>
                <a:spcPts val="2282"/>
              </a:spcAft>
            </a:pPr>
            <a:r>
              <a:rPr lang="en-US" sz="8800" dirty="0">
                <a:solidFill>
                  <a:srgbClr val="7F7F7F"/>
                </a:solidFill>
                <a:latin typeface="Calibri" pitchFamily="34" charset="0"/>
                <a:cs typeface="Calibri" panose="020F0502020204030204" pitchFamily="34" charset="0"/>
              </a:rPr>
              <a:t>Placeholders</a:t>
            </a:r>
            <a:r>
              <a:rPr sz="8800" dirty="0">
                <a:solidFill>
                  <a:srgbClr val="7F7F7F"/>
                </a:solidFill>
                <a:latin typeface="Calibri" pitchFamily="34" charset="0"/>
                <a:cs typeface="Calibri" panose="020F0502020204030204" pitchFamily="34" charset="0"/>
              </a:rPr>
              <a:t>:</a:t>
            </a:r>
          </a:p>
          <a:p>
            <a:pPr lvl="0">
              <a:spcBef>
                <a:spcPts val="0"/>
              </a:spcBef>
              <a:spcAft>
                <a:spcPts val="2282"/>
              </a:spcAft>
            </a:pPr>
            <a:r>
              <a:rPr sz="6000" dirty="0">
                <a:solidFill>
                  <a:srgbClr val="7F7F7F"/>
                </a:solidFill>
                <a:latin typeface="Calibri" pitchFamily="34" charset="0"/>
                <a:cs typeface="Calibri" panose="020F0502020204030204" pitchFamily="34" charset="0"/>
              </a:rPr>
              <a:t>The </a:t>
            </a:r>
            <a:r>
              <a:rPr lang="en-US" sz="6000" dirty="0">
                <a:solidFill>
                  <a:srgbClr val="7F7F7F"/>
                </a:solidFill>
                <a:latin typeface="Calibri" pitchFamily="34" charset="0"/>
                <a:cs typeface="Calibri" panose="020F0502020204030204" pitchFamily="34" charset="0"/>
              </a:rPr>
              <a:t>various elements included</a:t>
            </a:r>
            <a:r>
              <a:rPr sz="6000" dirty="0">
                <a:solidFill>
                  <a:srgbClr val="7F7F7F"/>
                </a:solidFill>
                <a:latin typeface="Calibri" pitchFamily="34" charset="0"/>
                <a:cs typeface="Calibri" panose="020F0502020204030204" pitchFamily="34" charset="0"/>
              </a:rPr>
              <a:t> in this </a:t>
            </a:r>
            <a:r>
              <a:rPr lang="en-US" sz="6000" dirty="0">
                <a:solidFill>
                  <a:srgbClr val="7F7F7F"/>
                </a:solidFill>
                <a:latin typeface="Calibri" pitchFamily="34" charset="0"/>
                <a:cs typeface="Calibri" panose="020F0502020204030204" pitchFamily="34" charset="0"/>
              </a:rPr>
              <a:t>poster are ones</a:t>
            </a:r>
            <a:r>
              <a:rPr lang="en-US" sz="6000" baseline="0" dirty="0">
                <a:solidFill>
                  <a:srgbClr val="7F7F7F"/>
                </a:solidFill>
                <a:latin typeface="Calibri" pitchFamily="34" charset="0"/>
                <a:cs typeface="Calibri" panose="020F0502020204030204" pitchFamily="34" charset="0"/>
              </a:rPr>
              <a:t> we often see in medical, research, and scientific posters.</a:t>
            </a:r>
            <a:r>
              <a:rPr sz="6000" dirty="0">
                <a:solidFill>
                  <a:srgbClr val="7F7F7F"/>
                </a:solidFill>
                <a:latin typeface="Calibri" pitchFamily="34" charset="0"/>
                <a:cs typeface="Calibri" panose="020F0502020204030204" pitchFamily="34" charset="0"/>
              </a:rPr>
              <a:t> </a:t>
            </a:r>
            <a:r>
              <a:rPr lang="en-US" sz="6000" dirty="0">
                <a:solidFill>
                  <a:srgbClr val="7F7F7F"/>
                </a:solidFill>
                <a:latin typeface="Calibri" pitchFamily="34" charset="0"/>
                <a:cs typeface="Calibri" panose="020F0502020204030204" pitchFamily="34" charset="0"/>
              </a:rPr>
              <a:t>Feel</a:t>
            </a:r>
            <a:r>
              <a:rPr lang="en-US" sz="6000" baseline="0" dirty="0">
                <a:solidFill>
                  <a:srgbClr val="7F7F7F"/>
                </a:solidFill>
                <a:latin typeface="Calibri" pitchFamily="34" charset="0"/>
                <a:cs typeface="Calibri" panose="020F0502020204030204" pitchFamily="34" charset="0"/>
              </a:rPr>
              <a:t> free to edit, move,  add, and delete items, or change the layout to suit your needs. Always check with your conference organizer for specific requirements.</a:t>
            </a:r>
          </a:p>
          <a:p>
            <a:pPr lvl="0">
              <a:spcBef>
                <a:spcPts val="0"/>
              </a:spcBef>
              <a:spcAft>
                <a:spcPts val="2282"/>
              </a:spcAft>
            </a:pPr>
            <a:r>
              <a:rPr lang="en-US" sz="8800" dirty="0">
                <a:solidFill>
                  <a:srgbClr val="7F7F7F"/>
                </a:solidFill>
                <a:latin typeface="Calibri" pitchFamily="34" charset="0"/>
                <a:cs typeface="Calibri" panose="020F0502020204030204" pitchFamily="34" charset="0"/>
              </a:rPr>
              <a:t>Image</a:t>
            </a:r>
            <a:r>
              <a:rPr lang="en-US" sz="8800" baseline="0" dirty="0">
                <a:solidFill>
                  <a:srgbClr val="7F7F7F"/>
                </a:solidFill>
                <a:latin typeface="Calibri" pitchFamily="34" charset="0"/>
                <a:cs typeface="Calibri" panose="020F0502020204030204" pitchFamily="34" charset="0"/>
              </a:rPr>
              <a:t> Quality</a:t>
            </a:r>
            <a:r>
              <a:rPr lang="en-US" sz="8800" dirty="0">
                <a:solidFill>
                  <a:srgbClr val="7F7F7F"/>
                </a:solidFill>
                <a:latin typeface="Calibri" pitchFamily="34" charset="0"/>
                <a:cs typeface="Calibri" panose="020F0502020204030204" pitchFamily="34" charset="0"/>
              </a:rPr>
              <a:t>:</a:t>
            </a:r>
          </a:p>
          <a:p>
            <a:pPr lvl="0">
              <a:spcBef>
                <a:spcPts val="0"/>
              </a:spcBef>
              <a:spcAft>
                <a:spcPts val="2282"/>
              </a:spcAft>
            </a:pPr>
            <a:r>
              <a:rPr lang="en-US" sz="6000" dirty="0">
                <a:solidFill>
                  <a:srgbClr val="7F7F7F"/>
                </a:solidFill>
                <a:latin typeface="Calibri" pitchFamily="34" charset="0"/>
                <a:cs typeface="Calibri" panose="020F0502020204030204" pitchFamily="34" charset="0"/>
              </a:rPr>
              <a:t>You can place digital photos or logo art in your poster file by selecting the </a:t>
            </a:r>
            <a:r>
              <a:rPr lang="en-US" sz="6000" b="1" dirty="0">
                <a:solidFill>
                  <a:srgbClr val="7F7F7F"/>
                </a:solidFill>
                <a:latin typeface="Calibri" pitchFamily="34" charset="0"/>
                <a:cs typeface="Calibri" panose="020F0502020204030204" pitchFamily="34" charset="0"/>
              </a:rPr>
              <a:t>Insert, Picture</a:t>
            </a:r>
            <a:r>
              <a:rPr lang="en-US" sz="6000" dirty="0">
                <a:solidFill>
                  <a:srgbClr val="7F7F7F"/>
                </a:solidFill>
                <a:latin typeface="Calibri" pitchFamily="34" charset="0"/>
                <a:cs typeface="Calibri" panose="020F0502020204030204" pitchFamily="34" charset="0"/>
              </a:rPr>
              <a:t> command, or by using standard copy &amp; paste. For best results, all graphic elements should be at least </a:t>
            </a:r>
            <a:r>
              <a:rPr lang="en-US" sz="6000" b="1" dirty="0">
                <a:solidFill>
                  <a:srgbClr val="7F7F7F"/>
                </a:solidFill>
                <a:latin typeface="Calibri" pitchFamily="34" charset="0"/>
                <a:cs typeface="Calibri" panose="020F0502020204030204" pitchFamily="34" charset="0"/>
              </a:rPr>
              <a:t>150-200 pixels per inch in their final printed size</a:t>
            </a:r>
            <a:r>
              <a:rPr lang="en-US" sz="6000" dirty="0">
                <a:solidFill>
                  <a:srgbClr val="7F7F7F"/>
                </a:solidFill>
                <a:latin typeface="Calibri" pitchFamily="34" charset="0"/>
                <a:cs typeface="Calibri" panose="020F0502020204030204" pitchFamily="34" charset="0"/>
              </a:rPr>
              <a:t>. For instance, a 1600 x 1200 pixel</a:t>
            </a:r>
            <a:r>
              <a:rPr lang="en-US" sz="6000" baseline="0" dirty="0">
                <a:solidFill>
                  <a:srgbClr val="7F7F7F"/>
                </a:solidFill>
                <a:latin typeface="Calibri" pitchFamily="34" charset="0"/>
                <a:cs typeface="Calibri" panose="020F0502020204030204" pitchFamily="34" charset="0"/>
              </a:rPr>
              <a:t> photo will usually look fine up to </a:t>
            </a:r>
            <a:r>
              <a:rPr lang="en-US" sz="6000" dirty="0">
                <a:solidFill>
                  <a:srgbClr val="7F7F7F"/>
                </a:solidFill>
                <a:latin typeface="Calibri" pitchFamily="34" charset="0"/>
                <a:cs typeface="Calibri" panose="020F0502020204030204" pitchFamily="34" charset="0"/>
              </a:rPr>
              <a:t>8“-10” wide on your printed poster.</a:t>
            </a:r>
          </a:p>
          <a:p>
            <a:pPr lvl="0">
              <a:spcBef>
                <a:spcPts val="0"/>
              </a:spcBef>
              <a:spcAft>
                <a:spcPts val="2282"/>
              </a:spcAft>
            </a:pPr>
            <a:r>
              <a:rPr lang="en-US" sz="6000" dirty="0">
                <a:solidFill>
                  <a:srgbClr val="7F7F7F"/>
                </a:solidFill>
                <a:latin typeface="Calibri" pitchFamily="34" charset="0"/>
                <a:cs typeface="Calibri" panose="020F0502020204030204" pitchFamily="34" charset="0"/>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p>
          <a:p>
            <a:pPr lvl="0">
              <a:spcBef>
                <a:spcPts val="0"/>
              </a:spcBef>
              <a:spcAft>
                <a:spcPts val="2282"/>
              </a:spcAft>
            </a:pPr>
            <a:r>
              <a:rPr lang="en-US" sz="6000" dirty="0">
                <a:solidFill>
                  <a:srgbClr val="7F7F7F"/>
                </a:solidFill>
                <a:latin typeface="Calibri" pitchFamily="34" charset="0"/>
                <a:cs typeface="Calibri" panose="020F0502020204030204" pitchFamily="34" charset="0"/>
              </a:rPr>
              <a:t>Please note that graphics from websites (such as the logo on your hospital's or university's home page) will only be 72dpi and not suitable for printing.</a:t>
            </a:r>
          </a:p>
          <a:p>
            <a:pPr lvl="0" algn="ctr">
              <a:spcBef>
                <a:spcPts val="0"/>
              </a:spcBef>
              <a:spcAft>
                <a:spcPts val="2282"/>
              </a:spcAft>
            </a:pPr>
            <a:br>
              <a:rPr lang="en-US" sz="4400" dirty="0">
                <a:solidFill>
                  <a:srgbClr val="7F7F7F"/>
                </a:solidFill>
                <a:latin typeface="Calibri" pitchFamily="34" charset="0"/>
                <a:cs typeface="Calibri" panose="020F0502020204030204" pitchFamily="34" charset="0"/>
              </a:rPr>
            </a:br>
            <a:r>
              <a:rPr lang="en-US" sz="4400" dirty="0">
                <a:solidFill>
                  <a:srgbClr val="7F7F7F"/>
                </a:solidFill>
                <a:latin typeface="Calibri" pitchFamily="34" charset="0"/>
                <a:cs typeface="Calibri" panose="020F0502020204030204" pitchFamily="34" charset="0"/>
              </a:rPr>
              <a:t>[This sidebar area does not print.]</a:t>
            </a:r>
          </a:p>
        </p:txBody>
      </p:sp>
      <p:grpSp>
        <p:nvGrpSpPr>
          <p:cNvPr id="2" name="Group 1"/>
          <p:cNvGrpSpPr/>
          <p:nvPr userDrawn="1"/>
        </p:nvGrpSpPr>
        <p:grpSpPr>
          <a:xfrm>
            <a:off x="31108033" y="0"/>
            <a:ext cx="11770607" cy="42794238"/>
            <a:chOff x="33832800" y="0"/>
            <a:chExt cx="12801600" cy="43891200"/>
          </a:xfrm>
        </p:grpSpPr>
        <p:sp>
          <p:nvSpPr>
            <p:cNvPr id="13" name="Instructions"/>
            <p:cNvSpPr/>
            <p:nvPr userDrawn="1"/>
          </p:nvSpPr>
          <p:spPr>
            <a:xfrm>
              <a:off x="33832800" y="0"/>
              <a:ext cx="12801600" cy="438912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28600" tIns="228600" rIns="228600" bIns="228600"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2282"/>
                </a:spcAft>
              </a:pPr>
              <a:r>
                <a:rPr lang="en-US" sz="8800" dirty="0">
                  <a:solidFill>
                    <a:schemeClr val="bg1">
                      <a:lumMod val="50000"/>
                    </a:schemeClr>
                  </a:solidFill>
                  <a:latin typeface="Calibri" pitchFamily="34" charset="0"/>
                  <a:cs typeface="Calibri" panose="020F0502020204030204" pitchFamily="34" charset="0"/>
                </a:rPr>
                <a:t>Change</a:t>
              </a:r>
              <a:r>
                <a:rPr lang="en-US" sz="8800" baseline="0" dirty="0">
                  <a:solidFill>
                    <a:schemeClr val="bg1">
                      <a:lumMod val="50000"/>
                    </a:schemeClr>
                  </a:solidFill>
                  <a:latin typeface="Calibri" pitchFamily="34" charset="0"/>
                  <a:cs typeface="Calibri" panose="020F0502020204030204" pitchFamily="34" charset="0"/>
                </a:rPr>
                <a:t> Color Theme</a:t>
              </a:r>
              <a:r>
                <a:rPr lang="en-US" sz="8800" dirty="0">
                  <a:solidFill>
                    <a:schemeClr val="bg1">
                      <a:lumMod val="50000"/>
                    </a:schemeClr>
                  </a:solidFill>
                  <a:latin typeface="Calibri" pitchFamily="34" charset="0"/>
                  <a:cs typeface="Calibri" panose="020F0502020204030204" pitchFamily="34" charset="0"/>
                </a:rPr>
                <a:t>:</a:t>
              </a:r>
              <a:endParaRPr sz="8800" dirty="0">
                <a:solidFill>
                  <a:schemeClr val="bg1">
                    <a:lumMod val="50000"/>
                  </a:schemeClr>
                </a:solidFill>
                <a:latin typeface="Calibri" pitchFamily="34" charset="0"/>
                <a:cs typeface="Calibri" panose="020F0502020204030204" pitchFamily="34" charset="0"/>
              </a:endParaRPr>
            </a:p>
            <a:p>
              <a:pPr lvl="0">
                <a:spcBef>
                  <a:spcPts val="0"/>
                </a:spcBef>
                <a:spcAft>
                  <a:spcPts val="2282"/>
                </a:spcAft>
              </a:pPr>
              <a:r>
                <a:rPr lang="en-US" sz="6000" dirty="0">
                  <a:solidFill>
                    <a:schemeClr val="bg1">
                      <a:lumMod val="50000"/>
                    </a:schemeClr>
                  </a:solidFill>
                  <a:latin typeface="Calibri" pitchFamily="34" charset="0"/>
                  <a:cs typeface="Calibri" panose="020F0502020204030204" pitchFamily="34" charset="0"/>
                </a:rPr>
                <a:t>This template is designed to use the built-in color themes in</a:t>
              </a:r>
              <a:r>
                <a:rPr lang="en-US" sz="6000" baseline="0" dirty="0">
                  <a:solidFill>
                    <a:schemeClr val="bg1">
                      <a:lumMod val="50000"/>
                    </a:schemeClr>
                  </a:solidFill>
                  <a:latin typeface="Calibri" pitchFamily="34" charset="0"/>
                  <a:cs typeface="Calibri" panose="020F0502020204030204" pitchFamily="34" charset="0"/>
                </a:rPr>
                <a:t> the newer versions of PowerPoint.</a:t>
              </a:r>
            </a:p>
            <a:p>
              <a:pPr lvl="0">
                <a:spcBef>
                  <a:spcPts val="0"/>
                </a:spcBef>
                <a:spcAft>
                  <a:spcPts val="2282"/>
                </a:spcAft>
              </a:pPr>
              <a:r>
                <a:rPr lang="en-US" sz="6000" baseline="0" dirty="0">
                  <a:solidFill>
                    <a:schemeClr val="bg1">
                      <a:lumMod val="50000"/>
                    </a:schemeClr>
                  </a:solidFill>
                  <a:latin typeface="Calibri" pitchFamily="34" charset="0"/>
                  <a:cs typeface="Calibri" panose="020F0502020204030204" pitchFamily="34" charset="0"/>
                </a:rPr>
                <a:t>To change the color theme, select the </a:t>
              </a:r>
              <a:r>
                <a:rPr lang="en-US" sz="6000" b="1" baseline="0" dirty="0">
                  <a:solidFill>
                    <a:schemeClr val="bg1">
                      <a:lumMod val="50000"/>
                    </a:schemeClr>
                  </a:solidFill>
                  <a:latin typeface="Calibri" pitchFamily="34" charset="0"/>
                  <a:cs typeface="Calibri" panose="020F0502020204030204" pitchFamily="34" charset="0"/>
                </a:rPr>
                <a:t>Design</a:t>
              </a:r>
              <a:r>
                <a:rPr lang="en-US" sz="6000" baseline="0" dirty="0">
                  <a:solidFill>
                    <a:schemeClr val="bg1">
                      <a:lumMod val="50000"/>
                    </a:schemeClr>
                  </a:solidFill>
                  <a:latin typeface="Calibri" pitchFamily="34" charset="0"/>
                  <a:cs typeface="Calibri" panose="020F0502020204030204" pitchFamily="34" charset="0"/>
                </a:rPr>
                <a:t> tab, then select the </a:t>
              </a:r>
              <a:r>
                <a:rPr lang="en-US" sz="6000" b="1" baseline="0" dirty="0">
                  <a:solidFill>
                    <a:schemeClr val="bg1">
                      <a:lumMod val="50000"/>
                    </a:schemeClr>
                  </a:solidFill>
                  <a:latin typeface="Calibri" pitchFamily="34" charset="0"/>
                  <a:cs typeface="Calibri" panose="020F0502020204030204" pitchFamily="34" charset="0"/>
                </a:rPr>
                <a:t>Colors</a:t>
              </a:r>
              <a:r>
                <a:rPr lang="en-US" sz="6000" baseline="0" dirty="0">
                  <a:solidFill>
                    <a:schemeClr val="bg1">
                      <a:lumMod val="50000"/>
                    </a:schemeClr>
                  </a:solidFill>
                  <a:latin typeface="Calibri" pitchFamily="34" charset="0"/>
                  <a:cs typeface="Calibri" panose="020F0502020204030204" pitchFamily="34" charset="0"/>
                </a:rPr>
                <a:t> drop-down list.</a:t>
              </a:r>
            </a:p>
            <a:p>
              <a:pPr lvl="0">
                <a:spcBef>
                  <a:spcPts val="0"/>
                </a:spcBef>
                <a:spcAft>
                  <a:spcPts val="2282"/>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82"/>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82"/>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82"/>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82"/>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82"/>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82"/>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82"/>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82"/>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82"/>
                </a:spcAft>
              </a:pPr>
              <a:r>
                <a:rPr lang="en-US" sz="6000" baseline="0" dirty="0">
                  <a:solidFill>
                    <a:schemeClr val="bg1">
                      <a:lumMod val="50000"/>
                    </a:schemeClr>
                  </a:solidFill>
                  <a:latin typeface="Calibri" pitchFamily="34" charset="0"/>
                  <a:cs typeface="Calibri" panose="020F0502020204030204" pitchFamily="34" charset="0"/>
                </a:rPr>
                <a:t>The default color theme for this template is “Office”, so you can always return to that after trying some of the alternatives.</a:t>
              </a:r>
            </a:p>
            <a:p>
              <a:pPr lvl="0">
                <a:spcBef>
                  <a:spcPts val="0"/>
                </a:spcBef>
                <a:spcAft>
                  <a:spcPts val="2282"/>
                </a:spcAft>
              </a:pPr>
              <a:r>
                <a:rPr lang="en-US" sz="8800" dirty="0">
                  <a:solidFill>
                    <a:schemeClr val="bg1">
                      <a:lumMod val="50000"/>
                    </a:schemeClr>
                  </a:solidFill>
                  <a:latin typeface="Calibri" pitchFamily="34" charset="0"/>
                  <a:cs typeface="Calibri" panose="020F0502020204030204" pitchFamily="34" charset="0"/>
                </a:rPr>
                <a:t>Printing Your Poster:</a:t>
              </a:r>
            </a:p>
            <a:p>
              <a:pPr lvl="0">
                <a:spcBef>
                  <a:spcPts val="0"/>
                </a:spcBef>
                <a:spcAft>
                  <a:spcPts val="2282"/>
                </a:spcAft>
              </a:pPr>
              <a:r>
                <a:rPr lang="en-US" sz="6000" dirty="0">
                  <a:solidFill>
                    <a:schemeClr val="bg1">
                      <a:lumMod val="50000"/>
                    </a:schemeClr>
                  </a:solidFill>
                  <a:latin typeface="Calibri" pitchFamily="34" charset="0"/>
                  <a:cs typeface="Calibri" panose="020F0502020204030204" pitchFamily="34" charset="0"/>
                </a:rPr>
                <a:t>Once your poster file is ready, visit</a:t>
              </a:r>
              <a:r>
                <a:rPr lang="en-US" sz="6000" baseline="0" dirty="0">
                  <a:solidFill>
                    <a:schemeClr val="bg1">
                      <a:lumMod val="50000"/>
                    </a:schemeClr>
                  </a:solidFill>
                  <a:latin typeface="Calibri" pitchFamily="34" charset="0"/>
                  <a:cs typeface="Calibri" panose="020F0502020204030204" pitchFamily="34" charset="0"/>
                </a:rPr>
                <a:t> </a:t>
              </a:r>
              <a:r>
                <a:rPr lang="en-US" sz="6000" b="1" baseline="0" dirty="0">
                  <a:solidFill>
                    <a:schemeClr val="bg1">
                      <a:lumMod val="50000"/>
                    </a:schemeClr>
                  </a:solidFill>
                  <a:latin typeface="Calibri" pitchFamily="34" charset="0"/>
                  <a:cs typeface="Calibri" panose="020F0502020204030204" pitchFamily="34" charset="0"/>
                </a:rPr>
                <a:t>www.genigraphics.com</a:t>
              </a:r>
              <a:r>
                <a:rPr lang="en-US" sz="6000" baseline="0" dirty="0">
                  <a:solidFill>
                    <a:schemeClr val="bg1">
                      <a:lumMod val="50000"/>
                    </a:schemeClr>
                  </a:solidFill>
                  <a:latin typeface="Calibri" pitchFamily="34" charset="0"/>
                  <a:cs typeface="Calibri" panose="020F0502020204030204" pitchFamily="34" charset="0"/>
                </a:rPr>
                <a:t> to order a high-quality, affordable poster print. Every order receives a free design review and we can delivery as fast as next business day within the US and Canada. </a:t>
              </a:r>
            </a:p>
            <a:p>
              <a:pPr lvl="0">
                <a:spcBef>
                  <a:spcPts val="0"/>
                </a:spcBef>
                <a:spcAft>
                  <a:spcPts val="2282"/>
                </a:spcAft>
              </a:pPr>
              <a:r>
                <a:rPr lang="en-US" sz="6000" baseline="0" dirty="0">
                  <a:solidFill>
                    <a:schemeClr val="bg1">
                      <a:lumMod val="50000"/>
                    </a:schemeClr>
                  </a:solidFill>
                  <a:latin typeface="Calibri" pitchFamily="34" charset="0"/>
                  <a:cs typeface="Calibri" panose="020F0502020204030204" pitchFamily="34" charset="0"/>
                </a:rPr>
                <a:t>Genigraphics® has been producing output from PowerPoint® longer than anyone in the industry; dating back to when we helped Microsoft® design the PowerPoint software. </a:t>
              </a:r>
            </a:p>
            <a:p>
              <a:pPr lvl="0">
                <a:spcBef>
                  <a:spcPts val="0"/>
                </a:spcBef>
                <a:spcAft>
                  <a:spcPts val="0"/>
                </a:spcAft>
              </a:pPr>
              <a:endParaRPr lang="en-US" sz="6000" baseline="0" dirty="0">
                <a:solidFill>
                  <a:schemeClr val="bg1">
                    <a:lumMod val="50000"/>
                  </a:schemeClr>
                </a:solidFill>
                <a:latin typeface="Calibri" pitchFamily="34" charset="0"/>
                <a:cs typeface="Calibri" panose="020F0502020204030204" pitchFamily="34" charset="0"/>
              </a:endParaRPr>
            </a:p>
            <a:p>
              <a:pPr lvl="0" algn="ctr">
                <a:spcBef>
                  <a:spcPts val="0"/>
                </a:spcBef>
                <a:spcAft>
                  <a:spcPts val="0"/>
                </a:spcAft>
              </a:pPr>
              <a:r>
                <a:rPr lang="en-US" sz="6000" baseline="0" dirty="0">
                  <a:solidFill>
                    <a:schemeClr val="bg1">
                      <a:lumMod val="50000"/>
                    </a:schemeClr>
                  </a:solidFill>
                  <a:latin typeface="Calibri" pitchFamily="34" charset="0"/>
                  <a:cs typeface="Calibri" panose="020F0502020204030204" pitchFamily="34" charset="0"/>
                </a:rPr>
                <a:t>US and Canada:  1-800-790-4001</a:t>
              </a:r>
            </a:p>
            <a:p>
              <a:pPr lvl="0" algn="ctr">
                <a:spcBef>
                  <a:spcPts val="0"/>
                </a:spcBef>
                <a:spcAft>
                  <a:spcPts val="0"/>
                </a:spcAft>
              </a:pPr>
              <a:r>
                <a:rPr lang="en-US" sz="6000" baseline="0" dirty="0">
                  <a:solidFill>
                    <a:schemeClr val="bg1">
                      <a:lumMod val="50000"/>
                    </a:schemeClr>
                  </a:solidFill>
                  <a:latin typeface="Calibri" pitchFamily="34" charset="0"/>
                  <a:cs typeface="Calibri" panose="020F0502020204030204" pitchFamily="34" charset="0"/>
                </a:rPr>
                <a:t>International: +(1) 913-441-1410</a:t>
              </a:r>
              <a:br>
                <a:rPr lang="en-US" sz="6000" baseline="0" dirty="0">
                  <a:solidFill>
                    <a:schemeClr val="bg1">
                      <a:lumMod val="50000"/>
                    </a:schemeClr>
                  </a:solidFill>
                  <a:latin typeface="Calibri" pitchFamily="34" charset="0"/>
                  <a:cs typeface="Calibri" panose="020F0502020204030204" pitchFamily="34" charset="0"/>
                </a:rPr>
              </a:br>
              <a:r>
                <a:rPr lang="en-US" sz="6000" baseline="0" dirty="0">
                  <a:solidFill>
                    <a:schemeClr val="bg1">
                      <a:lumMod val="50000"/>
                    </a:schemeClr>
                  </a:solidFill>
                  <a:latin typeface="Calibri" pitchFamily="34" charset="0"/>
                  <a:cs typeface="Calibri" panose="020F0502020204030204" pitchFamily="34" charset="0"/>
                </a:rPr>
                <a:t>Email: info@genigraphics.com</a:t>
              </a:r>
            </a:p>
            <a:p>
              <a:pPr lvl="0" algn="ctr">
                <a:spcBef>
                  <a:spcPts val="0"/>
                </a:spcBef>
                <a:spcAft>
                  <a:spcPts val="0"/>
                </a:spcAft>
              </a:pPr>
              <a:br>
                <a:rPr lang="en-US" sz="4400" dirty="0">
                  <a:solidFill>
                    <a:schemeClr val="bg1">
                      <a:lumMod val="50000"/>
                    </a:schemeClr>
                  </a:solidFill>
                  <a:latin typeface="Calibri" pitchFamily="34" charset="0"/>
                  <a:cs typeface="Calibri" panose="020F0502020204030204" pitchFamily="34" charset="0"/>
                </a:rPr>
              </a:br>
              <a:r>
                <a:rPr lang="en-US" sz="4400" dirty="0">
                  <a:solidFill>
                    <a:schemeClr val="bg1">
                      <a:lumMod val="50000"/>
                    </a:schemeClr>
                  </a:solidFill>
                  <a:latin typeface="Calibri" pitchFamily="34" charset="0"/>
                  <a:cs typeface="Calibri" panose="020F0502020204030204" pitchFamily="34" charset="0"/>
                </a:rPr>
                <a:t>[This sidebar area does not print.]</a:t>
              </a:r>
            </a:p>
          </p:txBody>
        </p:sp>
        <p:pic>
          <p:nvPicPr>
            <p:cNvPr id="14" name="Picture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281342" y="8425085"/>
              <a:ext cx="11904515" cy="10246926"/>
            </a:xfrm>
            <a:prstGeom prst="rect">
              <a:avLst/>
            </a:prstGeom>
          </p:spPr>
        </p:pic>
      </p:grpSp>
      <p:pic>
        <p:nvPicPr>
          <p:cNvPr id="3" name="Picture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4811037" y="42504519"/>
            <a:ext cx="5297435" cy="185928"/>
          </a:xfrm>
          <a:prstGeom prst="rect">
            <a:avLst/>
          </a:prstGeom>
        </p:spPr>
      </p:pic>
    </p:spTree>
    <p:extLst>
      <p:ext uri="{BB962C8B-B14F-4D97-AF65-F5344CB8AC3E}">
        <p14:creationId xmlns:p14="http://schemas.microsoft.com/office/powerpoint/2010/main" val="3812944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85D6BDF-9D0E-4E2B-85B8-D8F4790360C9}" type="datetimeFigureOut">
              <a:rPr lang="en-US" smtClean="0"/>
              <a:t>6/10/2022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293166510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13364" y="1713754"/>
            <a:ext cx="27240548" cy="7132373"/>
          </a:xfrm>
          <a:prstGeom prst="rect">
            <a:avLst/>
          </a:prstGeom>
        </p:spPr>
        <p:txBody>
          <a:bodyPr vert="horz" lIns="417456" tIns="208727" rIns="417456" bIns="208727" rtlCol="0" anchor="ctr">
            <a:normAutofit/>
          </a:bodyPr>
          <a:lstStyle/>
          <a:p>
            <a:r>
              <a:rPr lang="en-US" dirty="0"/>
              <a:t>Click to edit Master title style</a:t>
            </a:r>
          </a:p>
        </p:txBody>
      </p:sp>
      <p:sp>
        <p:nvSpPr>
          <p:cNvPr id="3" name="Text Placeholder 2"/>
          <p:cNvSpPr>
            <a:spLocks noGrp="1"/>
          </p:cNvSpPr>
          <p:nvPr>
            <p:ph type="body" idx="1"/>
          </p:nvPr>
        </p:nvSpPr>
        <p:spPr>
          <a:xfrm>
            <a:off x="1513364" y="9985326"/>
            <a:ext cx="27240548" cy="28242219"/>
          </a:xfrm>
          <a:prstGeom prst="rect">
            <a:avLst/>
          </a:prstGeom>
        </p:spPr>
        <p:txBody>
          <a:bodyPr vert="horz" lIns="417456" tIns="208727" rIns="417456" bIns="208727"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13364" y="39663922"/>
            <a:ext cx="7062364" cy="2278397"/>
          </a:xfrm>
          <a:prstGeom prst="rect">
            <a:avLst/>
          </a:prstGeom>
        </p:spPr>
        <p:txBody>
          <a:bodyPr vert="horz" lIns="417456" tIns="208727" rIns="417456" bIns="208727" rtlCol="0" anchor="ctr"/>
          <a:lstStyle>
            <a:lvl1pPr algn="l">
              <a:defRPr sz="5500">
                <a:solidFill>
                  <a:schemeClr val="tx1">
                    <a:tint val="75000"/>
                  </a:schemeClr>
                </a:solidFill>
              </a:defRPr>
            </a:lvl1pPr>
          </a:lstStyle>
          <a:p>
            <a:fld id="{985D6BDF-9D0E-4E2B-85B8-D8F4790360C9}" type="datetimeFigureOut">
              <a:rPr lang="en-US" smtClean="0"/>
              <a:t>6/10/2022</a:t>
            </a:fld>
            <a:endParaRPr lang="en-US" dirty="0"/>
          </a:p>
        </p:txBody>
      </p:sp>
      <p:sp>
        <p:nvSpPr>
          <p:cNvPr id="5" name="Footer Placeholder 4"/>
          <p:cNvSpPr>
            <a:spLocks noGrp="1"/>
          </p:cNvSpPr>
          <p:nvPr>
            <p:ph type="ftr" sz="quarter" idx="3"/>
          </p:nvPr>
        </p:nvSpPr>
        <p:spPr>
          <a:xfrm>
            <a:off x="10341319" y="39663922"/>
            <a:ext cx="9584637" cy="2278397"/>
          </a:xfrm>
          <a:prstGeom prst="rect">
            <a:avLst/>
          </a:prstGeom>
        </p:spPr>
        <p:txBody>
          <a:bodyPr vert="horz" lIns="417456" tIns="208727" rIns="417456" bIns="208727" rtlCol="0" anchor="ctr"/>
          <a:lstStyle>
            <a:lvl1pPr algn="ctr">
              <a:defRPr sz="55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21691547" y="39663922"/>
            <a:ext cx="7062364" cy="2278397"/>
          </a:xfrm>
          <a:prstGeom prst="rect">
            <a:avLst/>
          </a:prstGeom>
        </p:spPr>
        <p:txBody>
          <a:bodyPr vert="horz" lIns="417456" tIns="208727" rIns="417456" bIns="208727" rtlCol="0" anchor="ctr"/>
          <a:lstStyle>
            <a:lvl1pPr algn="r">
              <a:defRPr sz="5500">
                <a:solidFill>
                  <a:schemeClr val="tx1">
                    <a:tint val="75000"/>
                  </a:schemeClr>
                </a:solidFill>
              </a:defRPr>
            </a:lvl1pPr>
          </a:lstStyle>
          <a:p>
            <a:fld id="{FBB075EA-769C-4ECD-B48E-D6FCDC24F876}" type="slidenum">
              <a:rPr lang="en-US" smtClean="0"/>
              <a:t>‹#›</a:t>
            </a:fld>
            <a:endParaRPr lang="en-US" dirty="0"/>
          </a:p>
        </p:txBody>
      </p:sp>
    </p:spTree>
    <p:extLst>
      <p:ext uri="{BB962C8B-B14F-4D97-AF65-F5344CB8AC3E}">
        <p14:creationId xmlns:p14="http://schemas.microsoft.com/office/powerpoint/2010/main" val="72322184"/>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ctr" defTabSz="4174556" rtl="0" eaLnBrk="1" latinLnBrk="0" hangingPunct="1">
        <a:spcBef>
          <a:spcPct val="0"/>
        </a:spcBef>
        <a:buNone/>
        <a:defRPr sz="7600" kern="1200">
          <a:solidFill>
            <a:schemeClr val="tx1"/>
          </a:solidFill>
          <a:latin typeface="+mj-lt"/>
          <a:ea typeface="+mj-ea"/>
          <a:cs typeface="+mj-cs"/>
        </a:defRPr>
      </a:lvl1pPr>
    </p:titleStyle>
    <p:bodyStyle>
      <a:lvl1pPr marL="434850" indent="-434850" algn="l" defTabSz="4174556" rtl="0" eaLnBrk="1" latinLnBrk="0" hangingPunct="1">
        <a:spcBef>
          <a:spcPct val="20000"/>
        </a:spcBef>
        <a:buFont typeface="Arial" pitchFamily="34" charset="0"/>
        <a:buChar char="•"/>
        <a:defRPr sz="3400" kern="1200">
          <a:solidFill>
            <a:schemeClr val="tx1"/>
          </a:solidFill>
          <a:latin typeface="+mn-lt"/>
          <a:ea typeface="+mn-ea"/>
          <a:cs typeface="+mn-cs"/>
        </a:defRPr>
      </a:lvl1pPr>
      <a:lvl2pPr marL="869699" indent="-434850" algn="l" defTabSz="4174556" rtl="0" eaLnBrk="1" latinLnBrk="0" hangingPunct="1">
        <a:spcBef>
          <a:spcPct val="20000"/>
        </a:spcBef>
        <a:buFont typeface="Arial" pitchFamily="34" charset="0"/>
        <a:buChar char="–"/>
        <a:defRPr sz="3400" kern="1200">
          <a:solidFill>
            <a:schemeClr val="tx1"/>
          </a:solidFill>
          <a:latin typeface="+mn-lt"/>
          <a:ea typeface="+mn-ea"/>
          <a:cs typeface="+mn-cs"/>
        </a:defRPr>
      </a:lvl2pPr>
      <a:lvl3pPr marL="1304549" indent="-434850" algn="l" defTabSz="4174556" rtl="0" eaLnBrk="1" latinLnBrk="0" hangingPunct="1">
        <a:spcBef>
          <a:spcPct val="20000"/>
        </a:spcBef>
        <a:buFont typeface="Arial" pitchFamily="34" charset="0"/>
        <a:buChar char="•"/>
        <a:defRPr sz="3400" kern="1200">
          <a:solidFill>
            <a:schemeClr val="tx1"/>
          </a:solidFill>
          <a:latin typeface="+mn-lt"/>
          <a:ea typeface="+mn-ea"/>
          <a:cs typeface="+mn-cs"/>
        </a:defRPr>
      </a:lvl3pPr>
      <a:lvl4pPr marL="1739398" indent="-434850" algn="l" defTabSz="4174556" rtl="0" eaLnBrk="1" latinLnBrk="0" hangingPunct="1">
        <a:spcBef>
          <a:spcPct val="20000"/>
        </a:spcBef>
        <a:buFont typeface="Arial" pitchFamily="34" charset="0"/>
        <a:buChar char="–"/>
        <a:defRPr sz="3400" kern="1200">
          <a:solidFill>
            <a:schemeClr val="tx1"/>
          </a:solidFill>
          <a:latin typeface="+mn-lt"/>
          <a:ea typeface="+mn-ea"/>
          <a:cs typeface="+mn-cs"/>
        </a:defRPr>
      </a:lvl4pPr>
      <a:lvl5pPr marL="2174248" indent="-434850" algn="l" defTabSz="4174556" rtl="0" eaLnBrk="1" latinLnBrk="0" hangingPunct="1">
        <a:spcBef>
          <a:spcPct val="20000"/>
        </a:spcBef>
        <a:buFont typeface="Arial" pitchFamily="34" charset="0"/>
        <a:buChar char="»"/>
        <a:defRPr sz="3400" kern="1200">
          <a:solidFill>
            <a:schemeClr val="tx1"/>
          </a:solidFill>
          <a:latin typeface="+mn-lt"/>
          <a:ea typeface="+mn-ea"/>
          <a:cs typeface="+mn-cs"/>
        </a:defRPr>
      </a:lvl5pPr>
      <a:lvl6pPr marL="11480029" indent="-1043639" algn="l" defTabSz="4174556"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67307" indent="-1043639" algn="l" defTabSz="4174556"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54585" indent="-1043639" algn="l" defTabSz="4174556"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1863" indent="-1043639" algn="l" defTabSz="4174556" rtl="0" eaLnBrk="1" latinLnBrk="0" hangingPunct="1">
        <a:spcBef>
          <a:spcPct val="20000"/>
        </a:spcBef>
        <a:buFont typeface="Arial" pitchFamily="34" charset="0"/>
        <a:buChar char="•"/>
        <a:defRPr sz="9100" kern="1200">
          <a:solidFill>
            <a:schemeClr val="tx1"/>
          </a:solidFill>
          <a:latin typeface="+mn-lt"/>
          <a:ea typeface="+mn-ea"/>
          <a:cs typeface="+mn-cs"/>
        </a:defRPr>
      </a:lvl9pPr>
    </p:bodyStyle>
    <p:otherStyle>
      <a:defPPr>
        <a:defRPr lang="en-US"/>
      </a:defPPr>
      <a:lvl1pPr marL="0" algn="l" defTabSz="4174556" rtl="0" eaLnBrk="1" latinLnBrk="0" hangingPunct="1">
        <a:defRPr sz="8200" kern="1200">
          <a:solidFill>
            <a:schemeClr val="tx1"/>
          </a:solidFill>
          <a:latin typeface="+mn-lt"/>
          <a:ea typeface="+mn-ea"/>
          <a:cs typeface="+mn-cs"/>
        </a:defRPr>
      </a:lvl1pPr>
      <a:lvl2pPr marL="2087278" algn="l" defTabSz="4174556" rtl="0" eaLnBrk="1" latinLnBrk="0" hangingPunct="1">
        <a:defRPr sz="8200" kern="1200">
          <a:solidFill>
            <a:schemeClr val="tx1"/>
          </a:solidFill>
          <a:latin typeface="+mn-lt"/>
          <a:ea typeface="+mn-ea"/>
          <a:cs typeface="+mn-cs"/>
        </a:defRPr>
      </a:lvl2pPr>
      <a:lvl3pPr marL="4174556" algn="l" defTabSz="4174556" rtl="0" eaLnBrk="1" latinLnBrk="0" hangingPunct="1">
        <a:defRPr sz="8200" kern="1200">
          <a:solidFill>
            <a:schemeClr val="tx1"/>
          </a:solidFill>
          <a:latin typeface="+mn-lt"/>
          <a:ea typeface="+mn-ea"/>
          <a:cs typeface="+mn-cs"/>
        </a:defRPr>
      </a:lvl3pPr>
      <a:lvl4pPr marL="6261834" algn="l" defTabSz="4174556" rtl="0" eaLnBrk="1" latinLnBrk="0" hangingPunct="1">
        <a:defRPr sz="8200" kern="1200">
          <a:solidFill>
            <a:schemeClr val="tx1"/>
          </a:solidFill>
          <a:latin typeface="+mn-lt"/>
          <a:ea typeface="+mn-ea"/>
          <a:cs typeface="+mn-cs"/>
        </a:defRPr>
      </a:lvl4pPr>
      <a:lvl5pPr marL="8349113" algn="l" defTabSz="4174556" rtl="0" eaLnBrk="1" latinLnBrk="0" hangingPunct="1">
        <a:defRPr sz="8200" kern="1200">
          <a:solidFill>
            <a:schemeClr val="tx1"/>
          </a:solidFill>
          <a:latin typeface="+mn-lt"/>
          <a:ea typeface="+mn-ea"/>
          <a:cs typeface="+mn-cs"/>
        </a:defRPr>
      </a:lvl5pPr>
      <a:lvl6pPr marL="10436390" algn="l" defTabSz="4174556" rtl="0" eaLnBrk="1" latinLnBrk="0" hangingPunct="1">
        <a:defRPr sz="8200" kern="1200">
          <a:solidFill>
            <a:schemeClr val="tx1"/>
          </a:solidFill>
          <a:latin typeface="+mn-lt"/>
          <a:ea typeface="+mn-ea"/>
          <a:cs typeface="+mn-cs"/>
        </a:defRPr>
      </a:lvl6pPr>
      <a:lvl7pPr marL="12523668" algn="l" defTabSz="4174556" rtl="0" eaLnBrk="1" latinLnBrk="0" hangingPunct="1">
        <a:defRPr sz="8200" kern="1200">
          <a:solidFill>
            <a:schemeClr val="tx1"/>
          </a:solidFill>
          <a:latin typeface="+mn-lt"/>
          <a:ea typeface="+mn-ea"/>
          <a:cs typeface="+mn-cs"/>
        </a:defRPr>
      </a:lvl7pPr>
      <a:lvl8pPr marL="14610946" algn="l" defTabSz="4174556" rtl="0" eaLnBrk="1" latinLnBrk="0" hangingPunct="1">
        <a:defRPr sz="8200" kern="1200">
          <a:solidFill>
            <a:schemeClr val="tx1"/>
          </a:solidFill>
          <a:latin typeface="+mn-lt"/>
          <a:ea typeface="+mn-ea"/>
          <a:cs typeface="+mn-cs"/>
        </a:defRPr>
      </a:lvl8pPr>
      <a:lvl9pPr marL="16698224" algn="l" defTabSz="4174556" rtl="0" eaLnBrk="1" latinLnBrk="0" hangingPunct="1">
        <a:defRPr sz="8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diagramDrawing" Target="../diagrams/drawing1.xml"/><Relationship Id="rId13" Type="http://schemas.openxmlformats.org/officeDocument/2006/relationships/image" Target="../media/image7.png"/><Relationship Id="rId3" Type="http://schemas.openxmlformats.org/officeDocument/2006/relationships/hyperlink" Target="https://thekalmanfilter.com/kalman-filter-explained-simply/" TargetMode="External"/><Relationship Id="rId7" Type="http://schemas.openxmlformats.org/officeDocument/2006/relationships/diagramColors" Target="../diagrams/colors1.xml"/><Relationship Id="rId12" Type="http://schemas.openxmlformats.org/officeDocument/2006/relationships/image" Target="../media/image6.png"/><Relationship Id="rId2" Type="http://schemas.openxmlformats.org/officeDocument/2006/relationships/hyperlink" Target="https://www.linkedin.com/company/avida-nita/" TargetMode="External"/><Relationship Id="rId16"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diagramQuickStyle" Target="../diagrams/quickStyle1.xml"/><Relationship Id="rId11" Type="http://schemas.openxmlformats.org/officeDocument/2006/relationships/image" Target="../media/image5.png"/><Relationship Id="rId5" Type="http://schemas.openxmlformats.org/officeDocument/2006/relationships/diagramLayout" Target="../diagrams/layout1.xml"/><Relationship Id="rId15" Type="http://schemas.openxmlformats.org/officeDocument/2006/relationships/image" Target="../media/image9.png"/><Relationship Id="rId10" Type="http://schemas.openxmlformats.org/officeDocument/2006/relationships/image" Target="../media/image4.png"/><Relationship Id="rId4" Type="http://schemas.openxmlformats.org/officeDocument/2006/relationships/diagramData" Target="../diagrams/data1.xml"/><Relationship Id="rId9" Type="http://schemas.openxmlformats.org/officeDocument/2006/relationships/image" Target="../media/image3.png"/><Relationship Id="rId14" Type="http://schemas.openxmlformats.org/officeDocument/2006/relationships/image" Target="../media/image8.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22"/>
          <p:cNvSpPr txBox="1">
            <a:spLocks noChangeArrowheads="1"/>
          </p:cNvSpPr>
          <p:nvPr/>
        </p:nvSpPr>
        <p:spPr bwMode="auto">
          <a:xfrm>
            <a:off x="4570801" y="84189"/>
            <a:ext cx="21117102" cy="3217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73940" tIns="434850" rIns="173940" bIns="434850" anchor="ctr" anchorCtr="0">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7600" b="1" dirty="0">
                <a:solidFill>
                  <a:schemeClr val="accent3">
                    <a:lumMod val="20000"/>
                    <a:lumOff val="80000"/>
                  </a:schemeClr>
                </a:solidFill>
                <a:latin typeface="+mn-lt"/>
              </a:rPr>
              <a:t>Team AVIDA</a:t>
            </a:r>
          </a:p>
          <a:p>
            <a:pPr algn="ctr" eaLnBrk="1" hangingPunct="1"/>
            <a:r>
              <a:rPr lang="en-US" sz="7600" b="1" dirty="0">
                <a:solidFill>
                  <a:schemeClr val="accent3">
                    <a:lumMod val="20000"/>
                    <a:lumOff val="80000"/>
                  </a:schemeClr>
                </a:solidFill>
                <a:latin typeface="+mn-lt"/>
              </a:rPr>
              <a:t>Extended Kalman Filter</a:t>
            </a:r>
          </a:p>
        </p:txBody>
      </p:sp>
      <p:sp>
        <p:nvSpPr>
          <p:cNvPr id="5" name="Text Box 123"/>
          <p:cNvSpPr txBox="1">
            <a:spLocks noChangeArrowheads="1"/>
          </p:cNvSpPr>
          <p:nvPr/>
        </p:nvSpPr>
        <p:spPr bwMode="auto">
          <a:xfrm>
            <a:off x="4608335" y="3120414"/>
            <a:ext cx="21117102" cy="2228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73940" tIns="173940" rIns="173940" bIns="173940" anchor="ctr" anchorCtr="0"/>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4600" dirty="0" err="1">
                <a:solidFill>
                  <a:schemeClr val="accent3">
                    <a:lumMod val="20000"/>
                    <a:lumOff val="80000"/>
                  </a:schemeClr>
                </a:solidFill>
                <a:latin typeface="+mn-lt"/>
              </a:rPr>
              <a:t>Sowjanya</a:t>
            </a:r>
            <a:r>
              <a:rPr lang="en-US" sz="4600" dirty="0">
                <a:solidFill>
                  <a:schemeClr val="accent3">
                    <a:lumMod val="20000"/>
                    <a:lumOff val="80000"/>
                  </a:schemeClr>
                </a:solidFill>
                <a:latin typeface="+mn-lt"/>
              </a:rPr>
              <a:t> </a:t>
            </a:r>
            <a:r>
              <a:rPr lang="en-US" sz="4600" dirty="0" err="1">
                <a:solidFill>
                  <a:schemeClr val="accent3">
                    <a:lumMod val="20000"/>
                    <a:lumOff val="80000"/>
                  </a:schemeClr>
                </a:solidFill>
                <a:latin typeface="+mn-lt"/>
              </a:rPr>
              <a:t>Matkala</a:t>
            </a:r>
            <a:endParaRPr lang="en-US" sz="4600" dirty="0">
              <a:solidFill>
                <a:schemeClr val="accent3">
                  <a:lumMod val="20000"/>
                  <a:lumOff val="80000"/>
                </a:schemeClr>
              </a:solidFill>
              <a:latin typeface="+mn-lt"/>
            </a:endParaRPr>
          </a:p>
        </p:txBody>
      </p:sp>
      <p:sp>
        <p:nvSpPr>
          <p:cNvPr id="24" name="TextBox 23"/>
          <p:cNvSpPr txBox="1"/>
          <p:nvPr/>
        </p:nvSpPr>
        <p:spPr>
          <a:xfrm>
            <a:off x="1261136" y="39049741"/>
            <a:ext cx="6696206" cy="2396144"/>
          </a:xfrm>
          <a:prstGeom prst="rect">
            <a:avLst/>
          </a:prstGeom>
          <a:solidFill>
            <a:schemeClr val="accent1">
              <a:lumMod val="40000"/>
              <a:lumOff val="60000"/>
            </a:schemeClr>
          </a:solidFill>
        </p:spPr>
        <p:txBody>
          <a:bodyPr wrap="none" lIns="86970" tIns="43485" rIns="86970" bIns="43485" rtlCol="0">
            <a:spAutoFit/>
          </a:bodyPr>
          <a:lstStyle/>
          <a:p>
            <a:r>
              <a:rPr lang="en-US" sz="3000" dirty="0"/>
              <a:t>Team AVIDA</a:t>
            </a:r>
          </a:p>
          <a:p>
            <a:r>
              <a:rPr lang="en-US" sz="3000" dirty="0"/>
              <a:t>Team Id –SDCC2021001</a:t>
            </a:r>
          </a:p>
          <a:p>
            <a:r>
              <a:rPr lang="en-US" sz="3000" dirty="0"/>
              <a:t>National Institute of Technology, Agartala.</a:t>
            </a:r>
          </a:p>
          <a:p>
            <a:r>
              <a:rPr lang="en-US" sz="3000" dirty="0"/>
              <a:t>LinkedIn: </a:t>
            </a:r>
            <a:r>
              <a:rPr lang="en-US" sz="3000" dirty="0">
                <a:hlinkClick r:id="rId2"/>
              </a:rPr>
              <a:t>Team Avida/LinkedIn</a:t>
            </a:r>
            <a:endParaRPr lang="en-US" sz="3000" dirty="0"/>
          </a:p>
          <a:p>
            <a:r>
              <a:rPr lang="en-US" sz="3000" dirty="0"/>
              <a:t>Phone:7905155527</a:t>
            </a:r>
          </a:p>
        </p:txBody>
      </p:sp>
      <p:sp>
        <p:nvSpPr>
          <p:cNvPr id="25" name="TextBox 24"/>
          <p:cNvSpPr txBox="1"/>
          <p:nvPr/>
        </p:nvSpPr>
        <p:spPr>
          <a:xfrm>
            <a:off x="1261136" y="37890733"/>
            <a:ext cx="2385859" cy="918816"/>
          </a:xfrm>
          <a:prstGeom prst="rect">
            <a:avLst/>
          </a:prstGeom>
          <a:noFill/>
        </p:spPr>
        <p:txBody>
          <a:bodyPr wrap="none" lIns="86970" tIns="43485" rIns="86970" bIns="43485" rtlCol="0">
            <a:spAutoFit/>
          </a:bodyPr>
          <a:lstStyle/>
          <a:p>
            <a:r>
              <a:rPr lang="en-US" sz="5400" b="1" dirty="0"/>
              <a:t>Contact</a:t>
            </a:r>
          </a:p>
        </p:txBody>
      </p:sp>
      <p:sp>
        <p:nvSpPr>
          <p:cNvPr id="26" name="TextBox 25"/>
          <p:cNvSpPr txBox="1"/>
          <p:nvPr/>
        </p:nvSpPr>
        <p:spPr>
          <a:xfrm>
            <a:off x="15133638" y="39049741"/>
            <a:ext cx="13452122" cy="2852949"/>
          </a:xfrm>
          <a:prstGeom prst="rect">
            <a:avLst/>
          </a:prstGeom>
          <a:noFill/>
        </p:spPr>
        <p:txBody>
          <a:bodyPr wrap="square" lIns="86970" tIns="86970" rIns="86970" bIns="86970" numCol="1" spcCol="434850" rtlCol="0">
            <a:noAutofit/>
          </a:bodyPr>
          <a:lstStyle/>
          <a:p>
            <a:pPr marL="434850" indent="-434850">
              <a:buFont typeface="+mj-lt"/>
              <a:buAutoNum type="arabicPeriod"/>
            </a:pPr>
            <a:r>
              <a:rPr lang="en-US" sz="1600" dirty="0"/>
              <a:t>https://medium.com/@akhilsuri194/building-an-autonomous-vehicle-part-4-1-sensor-fusion-and-object-tracking-using-kalman-filters-66589e522965</a:t>
            </a:r>
          </a:p>
          <a:p>
            <a:pPr marL="434850" indent="-434850">
              <a:buFont typeface="+mj-lt"/>
              <a:buAutoNum type="arabicPeriod"/>
            </a:pPr>
            <a:r>
              <a:rPr lang="en-US" sz="1600" dirty="0"/>
              <a:t>https://medium.com/@akhilsuri194/building-an-autonomous-vehicle-part-4-2-8049cda5a92</a:t>
            </a:r>
          </a:p>
          <a:p>
            <a:pPr marL="434850" indent="-434850">
              <a:buFont typeface="+mj-lt"/>
              <a:buAutoNum type="arabicPeriod"/>
            </a:pPr>
            <a:r>
              <a:rPr lang="en-US" sz="1600" dirty="0"/>
              <a:t>https://medium.com/@akhilsuri194/building-an-autonomous-vehicle-part-4-3-2a506e57d830</a:t>
            </a:r>
          </a:p>
          <a:p>
            <a:pPr marL="434850" indent="-434850">
              <a:buFont typeface="+mj-lt"/>
              <a:buAutoNum type="arabicPeriod"/>
            </a:pPr>
            <a:r>
              <a:rPr lang="en-US" sz="1600" dirty="0"/>
              <a:t>https://www.kalmanfilter.net/default.aspx</a:t>
            </a:r>
          </a:p>
          <a:p>
            <a:pPr marL="434850" indent="-434850">
              <a:buFont typeface="+mj-lt"/>
              <a:buAutoNum type="arabicPeriod"/>
            </a:pPr>
            <a:r>
              <a:rPr lang="en-US" sz="1600" dirty="0">
                <a:hlinkClick r:id="rId3"/>
              </a:rPr>
              <a:t>https://thekalmanfilter.com/kalman-filter-explained-simply/</a:t>
            </a:r>
            <a:endParaRPr lang="en-US" sz="1600" dirty="0"/>
          </a:p>
          <a:p>
            <a:pPr marL="434850" indent="-434850">
              <a:buFont typeface="+mj-lt"/>
              <a:buAutoNum type="arabicPeriod"/>
            </a:pPr>
            <a:r>
              <a:rPr lang="en-US" sz="1600" dirty="0"/>
              <a:t>https://www.bzarg.com/p/how-a-kalman-filter-works-in-pictures/</a:t>
            </a:r>
          </a:p>
          <a:p>
            <a:pPr marL="434850" indent="-434850">
              <a:buFont typeface="+mj-lt"/>
              <a:buAutoNum type="arabicPeriod"/>
            </a:pPr>
            <a:r>
              <a:rPr lang="en-US" sz="1600" dirty="0"/>
              <a:t>https://towardsdatascience.com/kalman-filter-an-algorithm-for-making-sense-from-the-insights-of-</a:t>
            </a:r>
          </a:p>
          <a:p>
            <a:pPr marL="434850" indent="-434850">
              <a:buFont typeface="+mj-lt"/>
              <a:buAutoNum type="arabicPeriod"/>
            </a:pPr>
            <a:r>
              <a:rPr lang="en-US" sz="1600" dirty="0"/>
              <a:t>various-sensors-fused-together-ddf67597f35e</a:t>
            </a:r>
          </a:p>
          <a:p>
            <a:pPr marL="434850" indent="-434850">
              <a:buFont typeface="+mj-lt"/>
              <a:buAutoNum type="arabicPeriod"/>
            </a:pPr>
            <a:r>
              <a:rPr lang="en-US" sz="1600" dirty="0"/>
              <a:t>https://blog.quantinsti.com/kalman-filter/</a:t>
            </a:r>
          </a:p>
          <a:p>
            <a:pPr marL="434850" indent="-434850">
              <a:buFont typeface="+mj-lt"/>
              <a:buAutoNum type="arabicPeriod"/>
            </a:pPr>
            <a:endParaRPr lang="en-US" sz="1600" dirty="0"/>
          </a:p>
        </p:txBody>
      </p:sp>
      <p:sp>
        <p:nvSpPr>
          <p:cNvPr id="27" name="TextBox 26"/>
          <p:cNvSpPr txBox="1"/>
          <p:nvPr/>
        </p:nvSpPr>
        <p:spPr>
          <a:xfrm>
            <a:off x="15133638" y="37890733"/>
            <a:ext cx="3325668" cy="918816"/>
          </a:xfrm>
          <a:prstGeom prst="rect">
            <a:avLst/>
          </a:prstGeom>
          <a:noFill/>
        </p:spPr>
        <p:txBody>
          <a:bodyPr wrap="none" lIns="86970" tIns="43485" rIns="86970" bIns="43485" rtlCol="0">
            <a:spAutoFit/>
          </a:bodyPr>
          <a:lstStyle/>
          <a:p>
            <a:r>
              <a:rPr lang="en-US" sz="5400" b="1" dirty="0"/>
              <a:t>References</a:t>
            </a:r>
          </a:p>
        </p:txBody>
      </p:sp>
      <p:sp>
        <p:nvSpPr>
          <p:cNvPr id="10" name="Text Box 189"/>
          <p:cNvSpPr txBox="1">
            <a:spLocks noChangeArrowheads="1"/>
          </p:cNvSpPr>
          <p:nvPr/>
        </p:nvSpPr>
        <p:spPr bwMode="auto">
          <a:xfrm>
            <a:off x="1681515" y="7132373"/>
            <a:ext cx="8407576" cy="5891255"/>
          </a:xfrm>
          <a:prstGeom prst="rect">
            <a:avLst/>
          </a:prstGeom>
          <a:solidFill>
            <a:schemeClr val="bg1"/>
          </a:solidFill>
          <a:ln w="12700">
            <a:solidFill>
              <a:schemeClr val="accent1">
                <a:lumMod val="75000"/>
              </a:schemeClr>
            </a:solidFill>
          </a:ln>
          <a:effectLst/>
        </p:spPr>
        <p:txBody>
          <a:bodyPr lIns="173940" tIns="173940" rIns="173940" bIns="173940">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US" sz="3000" dirty="0">
                <a:latin typeface="Calibri" pitchFamily="34" charset="0"/>
              </a:rPr>
              <a:t>In this project, we studied about the Kalman filter, its usage, differences with extended Kalman filter and its applications in machine learning. </a:t>
            </a:r>
            <a:r>
              <a:rPr lang="en-US" sz="3000" dirty="0">
                <a:latin typeface="+mn-lt"/>
              </a:rPr>
              <a:t>Kalman filter is extensively used in estimating the car position using Lidar and Radar sensors. We learnt that </a:t>
            </a:r>
            <a:r>
              <a:rPr lang="en-US" sz="3000" dirty="0">
                <a:latin typeface="Calibri" pitchFamily="34" charset="0"/>
              </a:rPr>
              <a:t>there is certain limitation to Kalman filter as it cannot be used for non-linear function and so, Extended Kalman</a:t>
            </a:r>
          </a:p>
          <a:p>
            <a:pPr eaLnBrk="1" hangingPunct="1"/>
            <a:r>
              <a:rPr lang="en-US" sz="3000" dirty="0">
                <a:latin typeface="Calibri" pitchFamily="34" charset="0"/>
              </a:rPr>
              <a:t>Filter is introduced to overcome this challenge by linearizing the nonlinear function of current estimate and then using the same Kalman filter</a:t>
            </a:r>
          </a:p>
          <a:p>
            <a:pPr eaLnBrk="1" hangingPunct="1"/>
            <a:r>
              <a:rPr lang="en-US" sz="3000">
                <a:latin typeface="Calibri" pitchFamily="34" charset="0"/>
              </a:rPr>
              <a:t>algorithm to process further.</a:t>
            </a:r>
          </a:p>
        </p:txBody>
      </p:sp>
      <p:sp>
        <p:nvSpPr>
          <p:cNvPr id="32" name="Rectangle 31"/>
          <p:cNvSpPr/>
          <p:nvPr/>
        </p:nvSpPr>
        <p:spPr>
          <a:xfrm>
            <a:off x="1681515" y="6240826"/>
            <a:ext cx="8407576" cy="89154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en-US" sz="5400" b="1" dirty="0">
                <a:solidFill>
                  <a:schemeClr val="accent3">
                    <a:lumMod val="20000"/>
                    <a:lumOff val="80000"/>
                  </a:schemeClr>
                </a:solidFill>
              </a:rPr>
              <a:t>Abstract</a:t>
            </a:r>
          </a:p>
        </p:txBody>
      </p:sp>
      <p:sp>
        <p:nvSpPr>
          <p:cNvPr id="33" name="Rectangle 32"/>
          <p:cNvSpPr/>
          <p:nvPr/>
        </p:nvSpPr>
        <p:spPr>
          <a:xfrm>
            <a:off x="1722437" y="13624719"/>
            <a:ext cx="8407576" cy="89154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en-US" sz="5400" b="1" dirty="0">
                <a:solidFill>
                  <a:schemeClr val="accent3">
                    <a:lumMod val="20000"/>
                    <a:lumOff val="80000"/>
                  </a:schemeClr>
                </a:solidFill>
              </a:rPr>
              <a:t>Introduction</a:t>
            </a:r>
          </a:p>
        </p:txBody>
      </p:sp>
      <p:sp>
        <p:nvSpPr>
          <p:cNvPr id="13" name="Text Box 192"/>
          <p:cNvSpPr txBox="1">
            <a:spLocks noChangeArrowheads="1"/>
          </p:cNvSpPr>
          <p:nvPr/>
        </p:nvSpPr>
        <p:spPr bwMode="auto">
          <a:xfrm>
            <a:off x="10929850" y="7132373"/>
            <a:ext cx="8407576" cy="3121266"/>
          </a:xfrm>
          <a:prstGeom prst="rect">
            <a:avLst/>
          </a:prstGeom>
          <a:solidFill>
            <a:schemeClr val="bg1"/>
          </a:solidFill>
          <a:ln w="12700">
            <a:solidFill>
              <a:schemeClr val="accent1">
                <a:lumMod val="75000"/>
              </a:schemeClr>
            </a:solidFill>
          </a:ln>
          <a:effectLst/>
        </p:spPr>
        <p:txBody>
          <a:bodyPr lIns="173940" tIns="173940" rIns="173940" bIns="173940">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US" sz="3000" dirty="0">
                <a:latin typeface="Calibri" pitchFamily="34" charset="0"/>
              </a:rPr>
              <a:t>1. Predict the state ahead</a:t>
            </a:r>
          </a:p>
          <a:p>
            <a:pPr eaLnBrk="1" hangingPunct="1"/>
            <a:r>
              <a:rPr lang="en-US" sz="3000" dirty="0">
                <a:latin typeface="Calibri" pitchFamily="34" charset="0"/>
              </a:rPr>
              <a:t>2. Predict the error covariance ahead</a:t>
            </a:r>
          </a:p>
          <a:p>
            <a:pPr eaLnBrk="1" hangingPunct="1"/>
            <a:r>
              <a:rPr lang="en-US" sz="3000" dirty="0">
                <a:latin typeface="Calibri" pitchFamily="34" charset="0"/>
              </a:rPr>
              <a:t>3. Compute the Kalman Gain</a:t>
            </a:r>
          </a:p>
          <a:p>
            <a:pPr eaLnBrk="1" hangingPunct="1"/>
            <a:r>
              <a:rPr lang="en-US" sz="3000" dirty="0">
                <a:latin typeface="Calibri" pitchFamily="34" charset="0"/>
              </a:rPr>
              <a:t>4. Update the estimate with the</a:t>
            </a:r>
          </a:p>
          <a:p>
            <a:pPr eaLnBrk="1" hangingPunct="1"/>
            <a:r>
              <a:rPr lang="en-US" sz="3000" dirty="0">
                <a:latin typeface="Calibri" pitchFamily="34" charset="0"/>
              </a:rPr>
              <a:t>     measurement</a:t>
            </a:r>
          </a:p>
          <a:p>
            <a:pPr eaLnBrk="1" hangingPunct="1"/>
            <a:r>
              <a:rPr lang="en-US" sz="3000" dirty="0">
                <a:latin typeface="Calibri" pitchFamily="34" charset="0"/>
              </a:rPr>
              <a:t>5. Update the Error Covariance</a:t>
            </a:r>
          </a:p>
        </p:txBody>
      </p:sp>
      <p:sp>
        <p:nvSpPr>
          <p:cNvPr id="34" name="Rectangle 33"/>
          <p:cNvSpPr/>
          <p:nvPr/>
        </p:nvSpPr>
        <p:spPr>
          <a:xfrm>
            <a:off x="10929850" y="6240826"/>
            <a:ext cx="8407576" cy="89154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en-US" sz="5400" b="1" dirty="0">
                <a:solidFill>
                  <a:schemeClr val="accent3">
                    <a:lumMod val="20000"/>
                    <a:lumOff val="80000"/>
                  </a:schemeClr>
                </a:solidFill>
              </a:rPr>
              <a:t>Methodology</a:t>
            </a:r>
          </a:p>
        </p:txBody>
      </p:sp>
      <p:sp>
        <p:nvSpPr>
          <p:cNvPr id="14" name="Text Box 193"/>
          <p:cNvSpPr txBox="1">
            <a:spLocks noChangeArrowheads="1"/>
          </p:cNvSpPr>
          <p:nvPr/>
        </p:nvSpPr>
        <p:spPr bwMode="auto">
          <a:xfrm>
            <a:off x="20754113" y="22053336"/>
            <a:ext cx="8407576" cy="4967926"/>
          </a:xfrm>
          <a:prstGeom prst="rect">
            <a:avLst/>
          </a:prstGeom>
          <a:solidFill>
            <a:schemeClr val="bg1"/>
          </a:solidFill>
          <a:ln w="12700">
            <a:solidFill>
              <a:schemeClr val="accent1">
                <a:lumMod val="75000"/>
              </a:schemeClr>
            </a:solidFill>
          </a:ln>
          <a:effectLst/>
        </p:spPr>
        <p:txBody>
          <a:bodyPr lIns="173940" tIns="173940" rIns="173940" bIns="173940">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US" sz="3000" dirty="0">
                <a:latin typeface="Calibri" pitchFamily="34" charset="0"/>
              </a:rPr>
              <a:t>The Kalman filter is relatively quick and easy to implement and provides an optimal estimate of the condition for normally distributed noisy sensor</a:t>
            </a:r>
          </a:p>
          <a:p>
            <a:pPr eaLnBrk="1" hangingPunct="1"/>
            <a:r>
              <a:rPr lang="en-US" sz="3000" dirty="0">
                <a:latin typeface="Calibri" pitchFamily="34" charset="0"/>
              </a:rPr>
              <a:t>values under certain conditions. But there is certain limitation to Kalman filter as it cannot be used for non-linear function and so, Extended Kalman</a:t>
            </a:r>
          </a:p>
          <a:p>
            <a:pPr eaLnBrk="1" hangingPunct="1"/>
            <a:r>
              <a:rPr lang="en-US" sz="3000" dirty="0">
                <a:latin typeface="Calibri" pitchFamily="34" charset="0"/>
              </a:rPr>
              <a:t>Filter is introduced to overcome this challenge by linearizing the nonlinear function of current estimate and then using the same Kalman filter</a:t>
            </a:r>
          </a:p>
          <a:p>
            <a:pPr eaLnBrk="1" hangingPunct="1"/>
            <a:r>
              <a:rPr lang="en-US" sz="3000" dirty="0">
                <a:latin typeface="Calibri" pitchFamily="34" charset="0"/>
              </a:rPr>
              <a:t>algorithm to process further.</a:t>
            </a:r>
          </a:p>
        </p:txBody>
      </p:sp>
      <p:sp>
        <p:nvSpPr>
          <p:cNvPr id="36" name="Rectangle 35"/>
          <p:cNvSpPr/>
          <p:nvPr/>
        </p:nvSpPr>
        <p:spPr>
          <a:xfrm>
            <a:off x="20696237" y="20862190"/>
            <a:ext cx="8407576" cy="89154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en-US" sz="5400" b="1" dirty="0">
                <a:solidFill>
                  <a:schemeClr val="accent3">
                    <a:lumMod val="20000"/>
                    <a:lumOff val="80000"/>
                  </a:schemeClr>
                </a:solidFill>
              </a:rPr>
              <a:t>Conclusions</a:t>
            </a:r>
          </a:p>
        </p:txBody>
      </p:sp>
      <p:sp>
        <p:nvSpPr>
          <p:cNvPr id="11" name="Text Box 190"/>
          <p:cNvSpPr txBox="1">
            <a:spLocks noChangeArrowheads="1"/>
          </p:cNvSpPr>
          <p:nvPr/>
        </p:nvSpPr>
        <p:spPr bwMode="auto">
          <a:xfrm>
            <a:off x="1722437" y="14516266"/>
            <a:ext cx="8407576" cy="18356206"/>
          </a:xfrm>
          <a:prstGeom prst="rect">
            <a:avLst/>
          </a:prstGeom>
          <a:solidFill>
            <a:schemeClr val="bg1"/>
          </a:solidFill>
          <a:ln w="12700">
            <a:solidFill>
              <a:schemeClr val="accent1">
                <a:lumMod val="75000"/>
              </a:schemeClr>
            </a:solidFill>
          </a:ln>
          <a:effectLst/>
        </p:spPr>
        <p:txBody>
          <a:bodyPr lIns="173940" tIns="173940" rIns="173940" bIns="173940">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US" sz="3000" dirty="0">
                <a:latin typeface="+mn-lt"/>
              </a:rPr>
              <a:t>A self-driving car needs a map of the world around it as it drives. It must be able to track vehicles, pedestrians and other moving objects on the road</a:t>
            </a:r>
          </a:p>
          <a:p>
            <a:pPr eaLnBrk="1" hangingPunct="1"/>
            <a:r>
              <a:rPr lang="en-US" sz="3000" dirty="0">
                <a:latin typeface="+mn-lt"/>
              </a:rPr>
              <a:t>continuously and to track these movements we take continuous and dynamic measurements from various sensors like Radars, Lidars etc. But there is usually a challenge that sensor measurements are uncertain due to reason which includes, but not are limited to, errors from a sensor, discrepant measurement from multiple sensors. So to get the accurate measurements by reducing the error we use an algorithm knows as Kalman Filters. A Kalman filter is an optimal estimation algorithm used</a:t>
            </a:r>
          </a:p>
          <a:p>
            <a:pPr eaLnBrk="1" hangingPunct="1"/>
            <a:r>
              <a:rPr lang="en-US" sz="3000" dirty="0">
                <a:latin typeface="+mn-lt"/>
              </a:rPr>
              <a:t>to estimate states of a system from indirect and uncertain measurements.</a:t>
            </a:r>
          </a:p>
          <a:p>
            <a:pPr eaLnBrk="1" hangingPunct="1"/>
            <a:r>
              <a:rPr lang="en-US" sz="3000" dirty="0">
                <a:latin typeface="+mn-lt"/>
              </a:rPr>
              <a:t>A Kalman filter is only defined for linear systems. If you have a nonlinear system and want to estimate system states, you need to use a nonlinear</a:t>
            </a:r>
          </a:p>
          <a:p>
            <a:pPr eaLnBrk="1" hangingPunct="1"/>
            <a:r>
              <a:rPr lang="en-US" sz="3000" dirty="0">
                <a:latin typeface="+mn-lt"/>
              </a:rPr>
              <a:t>state estimator.</a:t>
            </a:r>
          </a:p>
          <a:p>
            <a:pPr eaLnBrk="1" hangingPunct="1"/>
            <a:r>
              <a:rPr lang="en-US" sz="3000" dirty="0">
                <a:latin typeface="+mn-lt"/>
              </a:rPr>
              <a:t>Kalman filter is extensively used in estimating the car position using Lidar and Radar sensors. Measurement of these sensors are not accurate as they are subject to drift or noisy. Kalman filter can be used to fuse the measurement of these sensors to find the optimal estimation of the exact position.</a:t>
            </a:r>
          </a:p>
          <a:p>
            <a:pPr eaLnBrk="1" hangingPunct="1"/>
            <a:r>
              <a:rPr lang="en-US" sz="3000" dirty="0">
                <a:latin typeface="+mn-lt"/>
              </a:rPr>
              <a:t>Sensors which is used in this project are Radar and Lidar. The RADAR, is less accurate but is able to provide an estimate of both position and velocity of an object. The velocity is estimated using the Doppler Effect. Radar is able to detect objects up to 200 m from the vehicle. It is also less impervious to weather conditions. Whereas, LIDAR uses a laser for</a:t>
            </a:r>
          </a:p>
          <a:p>
            <a:pPr eaLnBrk="1" hangingPunct="1"/>
            <a:r>
              <a:rPr lang="en-US" sz="3000" dirty="0">
                <a:latin typeface="+mn-lt"/>
              </a:rPr>
              <a:t>measurement and generates a point cloud of the world around it providing the car with fairly accurate position x and position y values. It is</a:t>
            </a:r>
          </a:p>
          <a:p>
            <a:pPr eaLnBrk="1" hangingPunct="1"/>
            <a:r>
              <a:rPr lang="en-US" sz="3000" dirty="0">
                <a:latin typeface="+mn-lt"/>
              </a:rPr>
              <a:t>able to detect objects in the vicinity of the car (20–40 m) with very high accuracy. However, LIDAR is not very accurate in poor weather conditions or if the sensor gets dirty.</a:t>
            </a:r>
          </a:p>
        </p:txBody>
      </p:sp>
      <p:sp>
        <p:nvSpPr>
          <p:cNvPr id="45" name="Rectangle 44"/>
          <p:cNvSpPr/>
          <p:nvPr/>
        </p:nvSpPr>
        <p:spPr>
          <a:xfrm>
            <a:off x="11323637" y="20939919"/>
            <a:ext cx="8407576" cy="89154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en-US" sz="5400" b="1" dirty="0">
                <a:solidFill>
                  <a:schemeClr val="accent3">
                    <a:lumMod val="20000"/>
                    <a:lumOff val="80000"/>
                  </a:schemeClr>
                </a:solidFill>
              </a:rPr>
              <a:t>Results</a:t>
            </a:r>
          </a:p>
        </p:txBody>
      </p:sp>
      <p:sp>
        <p:nvSpPr>
          <p:cNvPr id="51" name="Text Box 180"/>
          <p:cNvSpPr txBox="1">
            <a:spLocks noChangeArrowheads="1"/>
          </p:cNvSpPr>
          <p:nvPr/>
        </p:nvSpPr>
        <p:spPr bwMode="auto">
          <a:xfrm>
            <a:off x="12114757" y="32598519"/>
            <a:ext cx="4471495" cy="457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6970" tIns="43485" rIns="86970" bIns="43485">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eaLnBrk="1" hangingPunct="1"/>
            <a:r>
              <a:rPr lang="en-US" sz="2400" b="1" dirty="0">
                <a:latin typeface="Calibri" pitchFamily="34" charset="0"/>
              </a:rPr>
              <a:t>Figure 1.</a:t>
            </a:r>
            <a:r>
              <a:rPr lang="en-US" sz="2400" dirty="0">
                <a:latin typeface="Calibri" pitchFamily="34" charset="0"/>
              </a:rPr>
              <a:t> Uncertainty of element p</a:t>
            </a:r>
          </a:p>
        </p:txBody>
      </p:sp>
      <p:graphicFrame>
        <p:nvGraphicFramePr>
          <p:cNvPr id="6" name="Diagram 5">
            <a:extLst>
              <a:ext uri="{FF2B5EF4-FFF2-40B4-BE49-F238E27FC236}">
                <a16:creationId xmlns:a16="http://schemas.microsoft.com/office/drawing/2014/main" id="{3438300B-85F6-5D8A-FADE-A315915946B4}"/>
              </a:ext>
            </a:extLst>
          </p:cNvPr>
          <p:cNvGraphicFramePr/>
          <p:nvPr>
            <p:extLst>
              <p:ext uri="{D42A27DB-BD31-4B8C-83A1-F6EECF244321}">
                <p14:modId xmlns:p14="http://schemas.microsoft.com/office/powerpoint/2010/main" val="4045394090"/>
              </p:ext>
            </p:extLst>
          </p:nvPr>
        </p:nvGraphicFramePr>
        <p:xfrm>
          <a:off x="11315886" y="10358331"/>
          <a:ext cx="17556691" cy="959410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8" name="Picture 7">
            <a:extLst>
              <a:ext uri="{FF2B5EF4-FFF2-40B4-BE49-F238E27FC236}">
                <a16:creationId xmlns:a16="http://schemas.microsoft.com/office/drawing/2014/main" id="{583A4625-F2C9-0DCA-2C43-9589F693DF98}"/>
              </a:ext>
            </a:extLst>
          </p:cNvPr>
          <p:cNvPicPr>
            <a:picLocks noChangeAspect="1"/>
          </p:cNvPicPr>
          <p:nvPr/>
        </p:nvPicPr>
        <p:blipFill>
          <a:blip r:embed="rId9"/>
          <a:stretch>
            <a:fillRect/>
          </a:stretch>
        </p:blipFill>
        <p:spPr>
          <a:xfrm>
            <a:off x="12306456" y="21942786"/>
            <a:ext cx="6463085" cy="6175836"/>
          </a:xfrm>
          <a:prstGeom prst="rect">
            <a:avLst/>
          </a:prstGeom>
        </p:spPr>
      </p:pic>
      <p:pic>
        <p:nvPicPr>
          <p:cNvPr id="12" name="Picture 11">
            <a:extLst>
              <a:ext uri="{FF2B5EF4-FFF2-40B4-BE49-F238E27FC236}">
                <a16:creationId xmlns:a16="http://schemas.microsoft.com/office/drawing/2014/main" id="{0DBDC6B9-0520-F442-DDF8-9AFB7AF931CE}"/>
              </a:ext>
            </a:extLst>
          </p:cNvPr>
          <p:cNvPicPr>
            <a:picLocks noChangeAspect="1"/>
          </p:cNvPicPr>
          <p:nvPr/>
        </p:nvPicPr>
        <p:blipFill>
          <a:blip r:embed="rId10"/>
          <a:stretch>
            <a:fillRect/>
          </a:stretch>
        </p:blipFill>
        <p:spPr>
          <a:xfrm>
            <a:off x="11250246" y="27874119"/>
            <a:ext cx="6626591" cy="4421477"/>
          </a:xfrm>
          <a:prstGeom prst="rect">
            <a:avLst/>
          </a:prstGeom>
        </p:spPr>
      </p:pic>
      <p:pic>
        <p:nvPicPr>
          <p:cNvPr id="17" name="Picture 16">
            <a:extLst>
              <a:ext uri="{FF2B5EF4-FFF2-40B4-BE49-F238E27FC236}">
                <a16:creationId xmlns:a16="http://schemas.microsoft.com/office/drawing/2014/main" id="{854809DE-5FCF-F3A3-49D8-8CF19D0E1A93}"/>
              </a:ext>
            </a:extLst>
          </p:cNvPr>
          <p:cNvPicPr>
            <a:picLocks noChangeAspect="1"/>
          </p:cNvPicPr>
          <p:nvPr/>
        </p:nvPicPr>
        <p:blipFill>
          <a:blip r:embed="rId11"/>
          <a:stretch>
            <a:fillRect/>
          </a:stretch>
        </p:blipFill>
        <p:spPr>
          <a:xfrm>
            <a:off x="16430740" y="27813155"/>
            <a:ext cx="5956690" cy="4602234"/>
          </a:xfrm>
          <a:prstGeom prst="rect">
            <a:avLst/>
          </a:prstGeom>
        </p:spPr>
      </p:pic>
      <p:pic>
        <p:nvPicPr>
          <p:cNvPr id="19" name="Picture 18">
            <a:extLst>
              <a:ext uri="{FF2B5EF4-FFF2-40B4-BE49-F238E27FC236}">
                <a16:creationId xmlns:a16="http://schemas.microsoft.com/office/drawing/2014/main" id="{74F517CA-9AC4-D6AE-E1F9-7430A3248B34}"/>
              </a:ext>
            </a:extLst>
          </p:cNvPr>
          <p:cNvPicPr>
            <a:picLocks noChangeAspect="1"/>
          </p:cNvPicPr>
          <p:nvPr/>
        </p:nvPicPr>
        <p:blipFill>
          <a:blip r:embed="rId12"/>
          <a:stretch>
            <a:fillRect/>
          </a:stretch>
        </p:blipFill>
        <p:spPr>
          <a:xfrm>
            <a:off x="22306102" y="27813155"/>
            <a:ext cx="6849431" cy="4482441"/>
          </a:xfrm>
          <a:prstGeom prst="rect">
            <a:avLst/>
          </a:prstGeom>
        </p:spPr>
      </p:pic>
      <p:sp>
        <p:nvSpPr>
          <p:cNvPr id="38" name="Text Box 180">
            <a:extLst>
              <a:ext uri="{FF2B5EF4-FFF2-40B4-BE49-F238E27FC236}">
                <a16:creationId xmlns:a16="http://schemas.microsoft.com/office/drawing/2014/main" id="{62D853DF-3549-B336-95A2-38C1A3196698}"/>
              </a:ext>
            </a:extLst>
          </p:cNvPr>
          <p:cNvSpPr txBox="1">
            <a:spLocks noChangeArrowheads="1"/>
          </p:cNvSpPr>
          <p:nvPr/>
        </p:nvSpPr>
        <p:spPr bwMode="auto">
          <a:xfrm>
            <a:off x="24150357" y="32858913"/>
            <a:ext cx="2917800" cy="457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6970" tIns="43485" rIns="86970" bIns="43485">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eaLnBrk="1" hangingPunct="1"/>
            <a:r>
              <a:rPr lang="en-US" sz="2400" b="1" dirty="0">
                <a:latin typeface="Calibri" pitchFamily="34" charset="0"/>
              </a:rPr>
              <a:t>Figure 4.</a:t>
            </a:r>
            <a:r>
              <a:rPr lang="en-US" sz="2400" dirty="0">
                <a:latin typeface="Calibri" pitchFamily="34" charset="0"/>
              </a:rPr>
              <a:t>Kalman Gain.</a:t>
            </a:r>
          </a:p>
        </p:txBody>
      </p:sp>
      <p:sp>
        <p:nvSpPr>
          <p:cNvPr id="39" name="Text Box 180">
            <a:extLst>
              <a:ext uri="{FF2B5EF4-FFF2-40B4-BE49-F238E27FC236}">
                <a16:creationId xmlns:a16="http://schemas.microsoft.com/office/drawing/2014/main" id="{32290840-C8BD-0CC8-A3AF-3982144E2941}"/>
              </a:ext>
            </a:extLst>
          </p:cNvPr>
          <p:cNvSpPr txBox="1">
            <a:spLocks noChangeArrowheads="1"/>
          </p:cNvSpPr>
          <p:nvPr/>
        </p:nvSpPr>
        <p:spPr bwMode="auto">
          <a:xfrm>
            <a:off x="17878050" y="32726553"/>
            <a:ext cx="3589074" cy="457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6970" tIns="43485" rIns="86970" bIns="43485">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eaLnBrk="1" hangingPunct="1"/>
            <a:r>
              <a:rPr lang="en-US" sz="2400" b="1" dirty="0">
                <a:latin typeface="Calibri" pitchFamily="34" charset="0"/>
              </a:rPr>
              <a:t>Figure 3.</a:t>
            </a:r>
            <a:r>
              <a:rPr lang="en-US" sz="2400" dirty="0">
                <a:latin typeface="Calibri" pitchFamily="34" charset="0"/>
              </a:rPr>
              <a:t> Covariance matrix</a:t>
            </a:r>
          </a:p>
        </p:txBody>
      </p:sp>
      <p:pic>
        <p:nvPicPr>
          <p:cNvPr id="21" name="Picture 20" descr="A picture containing graphical user interface&#10;&#10;Description automatically generated">
            <a:extLst>
              <a:ext uri="{FF2B5EF4-FFF2-40B4-BE49-F238E27FC236}">
                <a16:creationId xmlns:a16="http://schemas.microsoft.com/office/drawing/2014/main" id="{7804854D-E503-6D3E-A1EB-737B27A04C9C}"/>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3896637" y="779664"/>
            <a:ext cx="4880482" cy="3485442"/>
          </a:xfrm>
          <a:prstGeom prst="rect">
            <a:avLst/>
          </a:prstGeom>
        </p:spPr>
      </p:pic>
      <p:pic>
        <p:nvPicPr>
          <p:cNvPr id="23" name="Picture 22" descr="Logo&#10;&#10;Description automatically generated">
            <a:extLst>
              <a:ext uri="{FF2B5EF4-FFF2-40B4-BE49-F238E27FC236}">
                <a16:creationId xmlns:a16="http://schemas.microsoft.com/office/drawing/2014/main" id="{3AE9F85A-434F-5901-813A-27310FBDD87C}"/>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017838" y="1356519"/>
            <a:ext cx="2590800" cy="2590800"/>
          </a:xfrm>
          <a:prstGeom prst="rect">
            <a:avLst/>
          </a:prstGeom>
        </p:spPr>
      </p:pic>
      <p:pic>
        <p:nvPicPr>
          <p:cNvPr id="29" name="Picture 28">
            <a:extLst>
              <a:ext uri="{FF2B5EF4-FFF2-40B4-BE49-F238E27FC236}">
                <a16:creationId xmlns:a16="http://schemas.microsoft.com/office/drawing/2014/main" id="{57DDF6BC-DA48-8BCE-4FF4-E69F21B01B3C}"/>
              </a:ext>
            </a:extLst>
          </p:cNvPr>
          <p:cNvPicPr>
            <a:picLocks noChangeAspect="1"/>
          </p:cNvPicPr>
          <p:nvPr/>
        </p:nvPicPr>
        <p:blipFill>
          <a:blip r:embed="rId15"/>
          <a:stretch>
            <a:fillRect/>
          </a:stretch>
        </p:blipFill>
        <p:spPr>
          <a:xfrm>
            <a:off x="3017838" y="33982581"/>
            <a:ext cx="10584019" cy="2620099"/>
          </a:xfrm>
          <a:prstGeom prst="rect">
            <a:avLst/>
          </a:prstGeom>
        </p:spPr>
      </p:pic>
      <p:pic>
        <p:nvPicPr>
          <p:cNvPr id="41" name="Picture 40">
            <a:extLst>
              <a:ext uri="{FF2B5EF4-FFF2-40B4-BE49-F238E27FC236}">
                <a16:creationId xmlns:a16="http://schemas.microsoft.com/office/drawing/2014/main" id="{D9DB169C-AD75-BED1-1095-7DE4392C1FBA}"/>
              </a:ext>
            </a:extLst>
          </p:cNvPr>
          <p:cNvPicPr>
            <a:picLocks noChangeAspect="1"/>
          </p:cNvPicPr>
          <p:nvPr/>
        </p:nvPicPr>
        <p:blipFill>
          <a:blip r:embed="rId16"/>
          <a:stretch>
            <a:fillRect/>
          </a:stretch>
        </p:blipFill>
        <p:spPr>
          <a:xfrm>
            <a:off x="15537998" y="33946229"/>
            <a:ext cx="10584019" cy="2692805"/>
          </a:xfrm>
          <a:prstGeom prst="rect">
            <a:avLst/>
          </a:prstGeom>
        </p:spPr>
      </p:pic>
    </p:spTree>
    <p:extLst>
      <p:ext uri="{BB962C8B-B14F-4D97-AF65-F5344CB8AC3E}">
        <p14:creationId xmlns:p14="http://schemas.microsoft.com/office/powerpoint/2010/main" val="22512518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2580</TotalTime>
  <Words>712</Words>
  <Application>Microsoft Office PowerPoint</Application>
  <PresentationFormat>Custom</PresentationFormat>
  <Paragraphs>56</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Company>Genigraphics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Genigraphics Research Poster Template A0/A1</dc:title>
  <dc:creator>Jay Larson</dc:creator>
  <dc:description>Quality poster printing
www.genigraphics.com
1-800-790-4001</dc:description>
  <cp:lastModifiedBy>thanesh bisen</cp:lastModifiedBy>
  <cp:revision>68</cp:revision>
  <cp:lastPrinted>2013-02-12T02:21:55Z</cp:lastPrinted>
  <dcterms:created xsi:type="dcterms:W3CDTF">2013-02-10T21:14:48Z</dcterms:created>
  <dcterms:modified xsi:type="dcterms:W3CDTF">2022-06-10T17:40:08Z</dcterms:modified>
</cp:coreProperties>
</file>